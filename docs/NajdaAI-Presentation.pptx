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بالاسم ومعناه: "نجدة" يعني إغاثة. النظام مش شات بوت طبي عام — هو أداة فرز لتلات حالات الوقت فيها بيفرق بين نجاة وإعاقة، وبيتكلم لهجة المستخدم مش لهجة الكتب.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بالرقم العالمي وانزل لمصر — مش عشان التهويل، عشان تثبت إن المشكلة أكبر من "حالة فردية". الرقم اللي يستاهل التوقف عنده: ٨٥٪ من وفيات القلب سببها حدثين بالظبط — أزمة قلبية وجلطة — والاتنين دول اللي إحنا مركزين عليهم، وهما الاتنين اللي الوقت فيهم هو العلاج.
المصادر الكاملة:
• WHO — Cardiovascular diseases (CVDs) fact sheet, 31 July 2025: https://www.who.int/news-room/fact-sheets/detail/cardiovascular-diseases-(cvds)
• World Stroke Organization — Global Stroke Fact Sheet 2025, International Journal of Stroke: https://pmc.ncbi.nlm.nih.gov/articles/PMC11786524/
• World Heart Federation — World Heart Observatory: Egypt (IHME/GBD data, 2024): https://world-heart-federation.org/world-heart-observatory/countries/egypt/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السلايدة المحورية للمنتج كله. النافذة ٤٫٥ ساعة بتبدأ من لحظة العرَض، مش من لحظة دخول المستشفى — يعني نص النافذة بيتاكل قبل ما حد يوصل للطوارئ أصلًا. لو قدرنا نقصّر دقايق التردد في البيت، إحنا بنشتري وقت علاج حقيقي، مش بنقدم رفاهية.
المصادر الكاملة:
• Saver JL — Time Is Brain — Quantified, Stroke (AHA), Jan 2006: https://www.ahajournals.org/doi/10.1161/01.str.0000196957.55928.ab
• AHA/ASA — Guidelines for the Early Management of Patients With Acute Ischemic Stroke: 2019 Update, Stroke 2019: https://www.ahajournals.org/doi/10.1161/STR.0000000000000211
• Saver JL, Fonarow GC, Smith EE, et al. — Time to Treatment With Intravenous tPA and Outcome From Acute Ischemic Stroke, JAMA 2013 (n=58,353; per 15 min faster: in-hospital mortality OR 0.96, symptomatic ICH OR 0.96, independent ambulation OR 1.04): https://jamanetwork.com/journals/jama/fullarticle/1697967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أهم سلايدة في قسم المشكلة، والرسالة فيها سطر واحد: المشكلة مش في العلاج، المشكلة في الدقايق اللي قبله. أكبر سبب مفرد للتأخير مش الزحمة ولا المسافة — هو إن حد في البيت قرر إن اللي بيحصل "هيعدي". ده بالظبط المكان اللي نجدة بتشتغل فيه.
المصادر الكاملة:
• Abdelnasser A, et al. — Pre-hospital causes for delayed arrival in acute ischemic stroke before and during the COVID-19 pandemic, PLOS ONE 2021: https://journals.plos.org/plosone/article?id=10.1371%2Fjournal.pone.0254228
• Pre- and in-hospital delays in the use of thrombolytic therapy for patients with acute ischemic stroke in rural and urban Egypt, Frontiers in Neurology 2023 (n=618): https://pmc.ncbi.nlm.nih.gov/articles/PMC9895407/
• Aref H, et al. — Changing the Landscape of Stroke in Egypt, Cerebrovascular Diseases Extra (Karger), Dec 2021: https://pmc.ncbi.nlm.nih.gov/articles/PMC8787609/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الرسالة هنا: صورة "الراجل اللي بيمسك صدره ويقع" هي الاستثناء مش القاعدة. ست عندها ضيق نفس وإرهاق، أو مريض سكر حاسس بغثيان ومش قادر ياخد نفسه — دول حالات حقيقية بتتأخر لإن العرَض مش شبه اللي في الأفلام. أداة فرز بتسأل أسئلة متابعة بتمسك النمط ده أحسن من ذاكرة الناس.
المصادر الكاملة:
• Zhang ZM, Soliman EZ, et al. — Race and Sex Differences in the Incidence and Prognostic Significance of Silent Myocardial Infarction in the ARIC Study, Circulation, 16 May 2016 (n=9,498; 317 SMI vs 386 CMI, median 8.9y follow-up): https://www.ahajournals.org/doi/10.1161/CIRCULATIONAHA.116.021177
• AHA Scientific Statement — Acute Myocardial Infarction in Women, Circulation 2016: https://www.ahajournals.org/doi/10.1161/CIR.0000000000000351
• Typical and atypical presentations of myocardial infarction, Qatar Medical Journal 2025 (39.7% atypical; 66% of them diabetic): https://pmc.ncbi.nlm.nih.gov/articles/PMC12183662/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 السلايدة دي باللي قبلها: الأعراض مش صعبة الحفظ — الصعب إنك تفتكرها وانت خايف الساعة ٣ بالليل. ده مش نقص ذكاء، ده نقص أداة. الحل مش حملة توعية تانية — الحل إن حد يسألك ٣ أسئلة صح في اللحظة دي بالظبط.
المصادر الكاملة:
• AHA/ASA Scientific Statement — Diagnosis, Workup, Risk Reduction of Transient Ischemic Attack in the Emergency Department Setting, Stroke 2023: https://www.ahajournals.org/doi/10.1161/STR.0000000000000418
• Giles MF, Rothwell PM — Risk of stroke early after transient ischaemic attack: a systematic review and meta-analysis: https://jamanetwork.com/journals/jamainternalmedicine/fullarticle/770035
• Stroke awareness in Egypt: a survey-based study, The Egyptian Journal of Neurology, Psychiatry and Neurosurgery 2025 (n=2,109): https://ejnpn.springeropen.com/articles/10.1186/s41983-025-00956-7
• Transient Ischemic Attack, StatPearls / NCBI Bookshelf: https://www.ncbi.nlm.nih.gov/books/NBK459143/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ماتعرضش المميزات كقائمة — اعرضها كردود على مشاكل. كل سطر شماله مشكلة اتقاست في السلايدات اللي فاتت، ويمينه قدرة موجودة وشغالة في البيلد ده فعلًا. لو الحكام عايزين يشوفوا أي سطر حي، الديمو جاهز.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النقطة اللي تتقال بصوت عالي: الرد مش من ذاكرة الموديل — النظام بيسترجع الأول من مصادر معتمدة وبيرد منها. الفرق بين الطبقتين ببساطة: الأولى ملخصات سريعة عشان الرد يطلع في ثواني، والتانية نص الإرشاد الكامل بالصفحة والمصدر لأسئلة البروتوكول والجرعات.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النقطة الأهم في الفلو: جهة اتصال الطوارئ إجبارية من أول دقيقة — لإن التصعيد من غيرها بيبقى شكلي. ومع ذلك مسار الطوارئ نفسه مش محبوس: فيه كارت سريع وتخطي فوري لو الحالة عاجلة. شغّل الديمو الحقيقي هنا لو الوقت يسمح، وقول بصراحة إن الإبلاغ الفعلي محاكاة في النسخة 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بند هنا متبني ومتجرّب end-to-end في البيلد ده، مش خارطة طريق. الحاجة الوحيدة المحاكاة هي الإبلاغ الفعلي (SMS / مكالمة) — وده محتاج مزوّد اتصالات مرخّص وموافقة صريحة من المستخدم، وهي الخطوة الطبيعية الجاية مش عجز.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ده بنبرة محايدة: السوق مليان أدوات كويسة، وإحنا مش بنقول إنها وحشة. الفجوة مش في جودة المنافسين — الفجوة إن محدش منهم متبني حوالين لحظة الطوارئ نفسها بالعامية المصرية. الأداة العالمية بتفهم الإنجليزي، والأداة العربية بتفهم عربي فصيح وبتوصّلك لدكتور — بس محدش بيبقى معاك في الستين ثانية اللي بين العرَض وقرار الاتصال بالإسعاف.
المصادر الكاملة:
• Ada Health — official app page (7 languages: English, German, French, Spanish, Portuguese, Swahili, Romanian): https://ada.com/app/
• K Health — official membership page ($49/mo): https://khealth.com/upgrade-to-membership/ · independent coverage/pricing review: https://virtualcarefinder.com/providers/k-health
• Buoy Health — official site: https://www.buoyhealth.com/ · company profile (active, Series C): https://tracxn.com/d/companies/buoy-health
• WebMD Symptom Checker: https://symptoms.webmd.com/
• Altibbi — official site: https://www.altibbi.com/ · SINA announcement: https://www.linkedin.com/posts/altibbi_meet-sina-altibbis-ai-health-navigator-activity-7348703746563997698-ibyf · company background: https://en.wikipedia.org/wiki/Altibbi
• Vezeeta — official site: https://www.vezeeta.com/en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قراءة المصفوفة: العمود اللي محدش فيه ✓ غيرنا هو عمود التصعيد لجهة اتصال شخصية — ده مش تفصيلة، ده محور المنتج. وكن أمينًا: عندنا التصعيد محاكاة دلوقتي، وعند المنافسين مش موجود أصلًا كفكرة منتج. أي خانة معلّمة ⚠ معناها "حسب المتاح المعلن" — مقرّرناش حاجة من غير ما نشوفها على موقعهم.
تحفّظات لازم تتقال:
• كل الخانات مبنية على المعلن على مواقع الشركات وقت الكتابة (أغسطس ٢٠٢٦) — مش على اختبار داخلي للمنتجات.
• تسعير Altibbi وVezeeta بيختلف من سوق لسوق — مذكور كنموذج مش كرقم.
• K Health و Buoy أمريكيين، فالمقارنة معاهم معمارية مش سوقية.
المصادر: نفس مصادر سلايد ١١ (المواقع الرسمية للمنافسين) — كل خانة في المصفوفة مأخوذة من الصفحة الرسمية المذكورة هناك، وأي خانة ⚠ معناها "حسب المتاح المعلن" مش تقييم داخلي.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اقفل القسم ده بجملة الأمانة: "إحنا مش بنقول إن Ada أو Altibbi وحشين — دول منتجات محترمة بتحل مشكلة تانية. المشكلة اللي إحنا بنحلها هي الستين ثانية اللي بين العرَض وقرار الاتصال، وده مكان فاضي في السوق." وماتقولش أبدًا إن النظام بيغني عن دكتور — دي أسرع طريقة تخسر مصداقيتك قدام لجنة فيها أطباء.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منطق الترتيب: احنا مش بنبيع منتج، احنا بنغيّر رد فعل الناس في لحظة. فالقناة الصح مش إعلان — القناة الصح هي المكان اللي الناس بتسأل فيه عن صحتها أصلًا: الصيدلية، الجامعة، والمحتوى القصير. والرقم اللي يبرر التوقيت: أكتر من ٨ من كل ١٠ مصريين على الإنترنت — البنية موجودة، الناقص هو الأداة.
المصادر الكاملة:
• DataReportal — Digital 2026: Egypt (98.2M internet users, 82.7% penetration, October 2025): https://datareportal.com/reports/digital-2026-egypt
• (خلفية المشكلة) 92.1% من مرضى الجلطة جم بعربية خاصة مش إسعاف — PLOS ONE 2021: https://journals.plos.org/plosone/article?id=10.1371%2Fjournal.pone.0254228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السلايدة اللي بتفرق قدام لجنة فيها أطباء. الرسالة: إحنا مش بنطلب ثقة، إحنا بنبني آلية تتحقق بيها من كلامنا. الشفافية عندنا مش تسويق — هي جزء من المعمارية (المصادر والرفض مبنيين في المحرك نفسه، مش مضافين على الواجهة).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بالسطر الأحمر وقوله بوضوح: مميزات الطوارئ مجانية للأبد. لو حد سأل "طب تكسبوا منين؟" الإجابة إن اللي بيدفع مش المريض في لحظة الخطر — اللي بيدفع المستشفى اللي بتقلل زحمة طوارئها، وشركة التأمين اللي بتقلل تكلفة الوصول المتأخر، والابن اللي عايز يطمن على أهله. دي مش أخلاقيات على الورق — دي كمان أفضل نموذج تجاري، لإن التبني المجاني هو اللي بيبني القاعدة اللي الـ B2B بيتباع عليها.
المصادر الكاملة:
• Daily News Egypt — Egypt expands rollout of Universal Health Insurance, 26 Nov 2025 (5.2M beneficiaries, 81.7% registration in 6 governorates): https://www.dailynewsegypt.com/2025/11/26/egypt-expands-rollout-of-universal-health-insurance/
• EnterpriseAM Egypt — Egypt prepares to double Universal Health Ins. reach, 11 Aug 2026 (phases 1+2 = 11 governorates): https://enterpriseam.com/egypt/2026/08/11/egypt-prepares-to-double-universal-health-ins-reach-before-phase-1-results-are-in/
• CAPMAS (via Egypt Today) — seniors 9.3M = 8.8% of population, 2024: https://www.egypttoday.com/Article/1/122380/Senior-citizens-to-make-up-13-8-of-Egyptian-population
• Pre- and in-hospital delays … rural and urban Egypt, Frontiers in Neurology 2023 (12% rural vs 47.6% urban within the 4.5h window): https://pmc.ncbi.nlm.nih.gov/articles/PMC9895407/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منطق الترتيب مقصود: التصعيد الفعلي الأول، الفلوس آخر حاجة. ماينفعش ندوّر على عميد مستشفى أو شركة تأمين وإحنا لسه بنقول "الإبلاغ محاكاة". وماينفعش نوسّع حالات قبل ما نثبت إننا دقيقين في التلاتة اللي إحنا فيهم — التوسّع بدري هو أسرع طريقة نفقد الدقة والثقة.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اقفل بالجملة اللي تفضل في دماغ الحكام: "الناس مش بتموت لإن مفيش علاج — بتموت لإن حد ما عرفش يقرا العلامة بدري." اعرض اللينك واستقبل الأسئلة.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LERT-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Users\ezzat\AppData\Local\Temp\claude\D------------\3a00165a-1212-46b1-8248-3409274fadf9\scratchpad\assets\logo.png">    </p:cNvPr>
          <p:cNvPicPr>
            <a:picLocks noChangeAspect="1"/>
          </p:cNvPicPr>
          <p:nvPr/>
        </p:nvPicPr>
        <p:blipFill>
          <a:blip r:embed="rId1"/>
          <a:stretch>
            <a:fillRect/>
          </a:stretch>
        </p:blipFill>
        <p:spPr>
          <a:xfrm>
            <a:off x="566928" y="365760"/>
            <a:ext cx="420624" cy="42062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LE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Users\ezzat\AppData\Local\Temp\claude\D------------\3a00165a-1212-46b1-8248-3409274fadf9\scratchpad\assets\logo.png">    </p:cNvPr>
          <p:cNvPicPr>
            <a:picLocks noChangeAspect="1"/>
          </p:cNvPicPr>
          <p:nvPr/>
        </p:nvPicPr>
        <p:blipFill>
          <a:blip r:embed="rId1"/>
          <a:stretch>
            <a:fillRect/>
          </a:stretch>
        </p:blipFill>
        <p:spPr>
          <a:xfrm>
            <a:off x="566928" y="365760"/>
            <a:ext cx="420624" cy="4206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ezzat\AppData\Local\Temp\claude\D------------\3a00165a-1212-46b1-8248-3409274fadf9\scratchpad\assets\logo.png">    </p:cNvPr>
          <p:cNvPicPr>
            <a:picLocks noChangeAspect="1"/>
          </p:cNvPicPr>
          <p:nvPr/>
        </p:nvPicPr>
        <p:blipFill>
          <a:blip r:embed="rId1"/>
          <a:stretch>
            <a:fillRect/>
          </a:stretch>
        </p:blipFill>
        <p:spPr>
          <a:xfrm>
            <a:off x="1051560" y="1298448"/>
            <a:ext cx="2468880" cy="2468880"/>
          </a:xfrm>
          <a:prstGeom prst="rect">
            <a:avLst/>
          </a:prstGeom>
        </p:spPr>
      </p:pic>
      <p:sp>
        <p:nvSpPr>
          <p:cNvPr id="3" name="Text 0"/>
          <p:cNvSpPr txBox="1"/>
          <p:nvPr/>
        </p:nvSpPr>
        <p:spPr>
          <a:xfrm>
            <a:off x="4069080" y="1280160"/>
            <a:ext cx="7562088" cy="868680"/>
          </a:xfrm>
          <a:prstGeom prst="rect">
            <a:avLst/>
          </a:prstGeom>
          <a:noFill/>
          <a:ln/>
        </p:spPr>
        <p:txBody>
          <a:bodyPr wrap="square" lIns="0" tIns="0" rIns="0" bIns="0" rtlCol="0" anchor="t"/>
          <a:lstStyle/>
          <a:p>
            <a:pPr algn="r" indent="0" marL="0">
              <a:buNone/>
            </a:pPr>
            <a:r>
              <a:rPr lang="en-US" sz="5000" b="1" dirty="0">
                <a:solidFill>
                  <a:srgbClr val="FFFFFF"/>
                </a:solidFill>
                <a:latin typeface="Segoe UI" pitchFamily="34" charset="0"/>
                <a:ea typeface="Segoe UI" pitchFamily="34" charset="-122"/>
                <a:cs typeface="Segoe UI" pitchFamily="34" charset="-120"/>
              </a:rPr>
              <a:t>Najda</a:t>
            </a:r>
            <a:pPr algn="r" indent="0" marL="0">
              <a:buNone/>
            </a:pPr>
            <a:r>
              <a:rPr lang="en-US" sz="5000" b="1" dirty="0">
                <a:solidFill>
                  <a:srgbClr val="5EDCB0"/>
                </a:solidFill>
                <a:latin typeface="Segoe UI" pitchFamily="34" charset="0"/>
                <a:ea typeface="Segoe UI" pitchFamily="34" charset="-122"/>
                <a:cs typeface="Segoe UI" pitchFamily="34" charset="-120"/>
              </a:rPr>
              <a:t>AI</a:t>
            </a:r>
            <a:endParaRPr lang="en-US" sz="5000" dirty="0"/>
          </a:p>
        </p:txBody>
      </p:sp>
      <p:sp>
        <p:nvSpPr>
          <p:cNvPr id="4" name="Text 1"/>
          <p:cNvSpPr txBox="1"/>
          <p:nvPr/>
        </p:nvSpPr>
        <p:spPr>
          <a:xfrm>
            <a:off x="4069080" y="2212848"/>
            <a:ext cx="7562088" cy="566928"/>
          </a:xfrm>
          <a:prstGeom prst="rect">
            <a:avLst/>
          </a:prstGeom>
          <a:noFill/>
          <a:ln/>
        </p:spPr>
        <p:txBody>
          <a:bodyPr wrap="square" lIns="0" tIns="0" rIns="0" bIns="0" rtlCol="0" anchor="t"/>
          <a:lstStyle/>
          <a:p>
            <a:pPr rtl="1" algn="r" indent="0" marL="0">
              <a:lnSpc>
                <a:spcPct val="100000"/>
              </a:lnSpc>
              <a:buNone/>
            </a:pPr>
            <a:r>
              <a:rPr lang="ar-EG" sz="3000" b="1" dirty="0">
                <a:solidFill>
                  <a:srgbClr val="19A878"/>
                </a:solidFill>
                <a:latin typeface="Segoe UI" pitchFamily="34" charset="0"/>
                <a:ea typeface="Segoe UI" pitchFamily="34" charset="-122"/>
                <a:cs typeface="Segoe UI" pitchFamily="34" charset="-120"/>
              </a:rPr>
              <a:t>نجدة</a:t>
            </a:r>
            <a:endParaRPr lang="en-US" sz="3000" dirty="0"/>
          </a:p>
        </p:txBody>
      </p:sp>
      <p:sp>
        <p:nvSpPr>
          <p:cNvPr id="5" name="Text 2"/>
          <p:cNvSpPr txBox="1"/>
          <p:nvPr/>
        </p:nvSpPr>
        <p:spPr>
          <a:xfrm>
            <a:off x="4069080" y="2816352"/>
            <a:ext cx="7562088" cy="502920"/>
          </a:xfrm>
          <a:prstGeom prst="rect">
            <a:avLst/>
          </a:prstGeom>
          <a:noFill/>
          <a:ln/>
        </p:spPr>
        <p:txBody>
          <a:bodyPr wrap="square" lIns="0" tIns="0" rIns="0" bIns="0" rtlCol="0" anchor="t"/>
          <a:lstStyle/>
          <a:p>
            <a:pPr rtl="1" algn="r" indent="0" marL="0">
              <a:lnSpc>
                <a:spcPct val="100000"/>
              </a:lnSpc>
              <a:buNone/>
            </a:pPr>
            <a:r>
              <a:rPr lang="ar-EG" sz="1900" dirty="0">
                <a:solidFill>
                  <a:srgbClr val="B9CBC6"/>
                </a:solidFill>
                <a:latin typeface="Segoe UI" pitchFamily="34" charset="0"/>
                <a:ea typeface="Segoe UI" pitchFamily="34" charset="-122"/>
                <a:cs typeface="Segoe UI" pitchFamily="34" charset="-120"/>
              </a:rPr>
              <a:t>مساعد الفرز الطبي بالمصري</a:t>
            </a:r>
            <a:endParaRPr lang="en-US" sz="1900" dirty="0"/>
          </a:p>
        </p:txBody>
      </p:sp>
      <p:sp>
        <p:nvSpPr>
          <p:cNvPr id="6" name="Text 3"/>
          <p:cNvSpPr txBox="1"/>
          <p:nvPr/>
        </p:nvSpPr>
        <p:spPr>
          <a:xfrm>
            <a:off x="4069080" y="3346704"/>
            <a:ext cx="7562088" cy="411480"/>
          </a:xfrm>
          <a:prstGeom prst="rect">
            <a:avLst/>
          </a:prstGeom>
          <a:noFill/>
          <a:ln/>
        </p:spPr>
        <p:txBody>
          <a:bodyPr wrap="square" lIns="0" tIns="0" rIns="0" bIns="0" rtlCol="0" anchor="t"/>
          <a:lstStyle/>
          <a:p>
            <a:pPr rtl="1" algn="r" indent="0" marL="0">
              <a:lnSpc>
                <a:spcPct val="100000"/>
              </a:lnSpc>
              <a:buNone/>
            </a:pPr>
            <a:r>
              <a:rPr lang="ar-EG" sz="1300" dirty="0">
                <a:solidFill>
                  <a:srgbClr val="8AA29D"/>
                </a:solidFill>
                <a:latin typeface="Segoe UI" pitchFamily="34" charset="0"/>
                <a:ea typeface="Segoe UI" pitchFamily="34" charset="-122"/>
                <a:cs typeface="Segoe UI" pitchFamily="34" charset="-120"/>
              </a:rPr>
              <a:t>مش بديل عن الدكتور — بيوصّلك للدكتور بدري</a:t>
            </a:r>
            <a:endParaRPr lang="en-US" sz="1300" dirty="0"/>
          </a:p>
        </p:txBody>
      </p:sp>
      <p:sp>
        <p:nvSpPr>
          <p:cNvPr id="7" name="Shape 4"/>
          <p:cNvSpPr/>
          <p:nvPr/>
        </p:nvSpPr>
        <p:spPr>
          <a:xfrm>
            <a:off x="11505895" y="4507992"/>
            <a:ext cx="105156" cy="105156"/>
          </a:xfrm>
          <a:prstGeom prst="ellipse">
            <a:avLst/>
          </a:prstGeom>
          <a:solidFill>
            <a:srgbClr val="19A878"/>
          </a:solidFill>
          <a:ln w="12700">
            <a:solidFill>
              <a:srgbClr val="19A878"/>
            </a:solidFill>
            <a:prstDash val="solid"/>
          </a:ln>
        </p:spPr>
      </p:sp>
      <p:sp>
        <p:nvSpPr>
          <p:cNvPr id="8" name="Text 5"/>
          <p:cNvSpPr txBox="1"/>
          <p:nvPr/>
        </p:nvSpPr>
        <p:spPr>
          <a:xfrm>
            <a:off x="6347308" y="4343400"/>
            <a:ext cx="5003140" cy="530352"/>
          </a:xfrm>
          <a:prstGeom prst="rect">
            <a:avLst/>
          </a:prstGeom>
          <a:noFill/>
          <a:ln/>
        </p:spPr>
        <p:txBody>
          <a:bodyPr wrap="square" lIns="0" tIns="0" rIns="0" bIns="0" rtlCol="0" anchor="t"/>
          <a:lstStyle/>
          <a:p>
            <a:pPr rtl="1" algn="r" indent="0" marL="0">
              <a:lnSpc>
                <a:spcPct val="112000"/>
              </a:lnSpc>
              <a:buNone/>
            </a:pPr>
            <a:r>
              <a:rPr lang="en-US" sz="1200" dirty="0">
                <a:solidFill>
                  <a:srgbClr val="B9CBC6"/>
                </a:solidFill>
                <a:latin typeface="Segoe UI" pitchFamily="34" charset="0"/>
                <a:ea typeface="Segoe UI" pitchFamily="34" charset="-122"/>
                <a:cs typeface="Segoe UI" pitchFamily="34" charset="-120"/>
              </a:rPr>
              <a:t>NajdaAI</a:t>
            </a:r>
            <a:pPr rtl="1" algn="r" indent="0" marL="0">
              <a:lnSpc>
                <a:spcPct val="112000"/>
              </a:lnSpc>
              <a:buNone/>
            </a:pPr>
            <a:r>
              <a:rPr lang="ar-EG" sz="1200" dirty="0">
                <a:solidFill>
                  <a:srgbClr val="B9CBC6"/>
                </a:solidFill>
                <a:latin typeface="Segoe UI" pitchFamily="34" charset="0"/>
                <a:ea typeface="Segoe UI" pitchFamily="34" charset="-122"/>
                <a:cs typeface="Segoe UI" pitchFamily="34" charset="-120"/>
              </a:rPr>
              <a:t xml:space="preserve"> — مساعد فرز طبي أولي بالعربي المصري</a:t>
            </a:r>
            <a:endParaRPr lang="en-US" sz="1200" dirty="0"/>
          </a:p>
        </p:txBody>
      </p:sp>
      <p:sp>
        <p:nvSpPr>
          <p:cNvPr id="9" name="Shape 6"/>
          <p:cNvSpPr/>
          <p:nvPr/>
        </p:nvSpPr>
        <p:spPr>
          <a:xfrm>
            <a:off x="11505895" y="5111496"/>
            <a:ext cx="105156" cy="105156"/>
          </a:xfrm>
          <a:prstGeom prst="ellipse">
            <a:avLst/>
          </a:prstGeom>
          <a:solidFill>
            <a:srgbClr val="19A878"/>
          </a:solidFill>
          <a:ln w="12700">
            <a:solidFill>
              <a:srgbClr val="19A878"/>
            </a:solidFill>
            <a:prstDash val="solid"/>
          </a:ln>
        </p:spPr>
      </p:sp>
      <p:sp>
        <p:nvSpPr>
          <p:cNvPr id="10" name="Text 7"/>
          <p:cNvSpPr txBox="1"/>
          <p:nvPr/>
        </p:nvSpPr>
        <p:spPr>
          <a:xfrm>
            <a:off x="6347308" y="4946904"/>
            <a:ext cx="5003140" cy="530352"/>
          </a:xfrm>
          <a:prstGeom prst="rect">
            <a:avLst/>
          </a:prstGeom>
          <a:noFill/>
          <a:ln/>
        </p:spPr>
        <p:txBody>
          <a:bodyPr wrap="square" lIns="0" tIns="0" rIns="0" bIns="0" rtlCol="0" anchor="t"/>
          <a:lstStyle/>
          <a:p>
            <a:pPr rtl="1" algn="r" indent="0" marL="0">
              <a:lnSpc>
                <a:spcPct val="112000"/>
              </a:lnSpc>
              <a:buNone/>
            </a:pPr>
            <a:r>
              <a:rPr lang="ar-EG" sz="1200" dirty="0">
                <a:solidFill>
                  <a:srgbClr val="B9CBC6"/>
                </a:solidFill>
                <a:latin typeface="Segoe UI" pitchFamily="34" charset="0"/>
                <a:ea typeface="Segoe UI" pitchFamily="34" charset="-122"/>
                <a:cs typeface="Segoe UI" pitchFamily="34" charset="-120"/>
              </a:rPr>
              <a:t>تركيز مقصود: الجلطة الدماغية · أعراض القلب · صعوبة التنفس</a:t>
            </a:r>
            <a:endParaRPr lang="en-US" sz="1200" dirty="0"/>
          </a:p>
        </p:txBody>
      </p:sp>
      <p:sp>
        <p:nvSpPr>
          <p:cNvPr id="11" name="Shape 8"/>
          <p:cNvSpPr/>
          <p:nvPr/>
        </p:nvSpPr>
        <p:spPr>
          <a:xfrm>
            <a:off x="11505895" y="5715000"/>
            <a:ext cx="105156" cy="105156"/>
          </a:xfrm>
          <a:prstGeom prst="ellipse">
            <a:avLst/>
          </a:prstGeom>
          <a:solidFill>
            <a:srgbClr val="19A878"/>
          </a:solidFill>
          <a:ln w="12700">
            <a:solidFill>
              <a:srgbClr val="19A878"/>
            </a:solidFill>
            <a:prstDash val="solid"/>
          </a:ln>
        </p:spPr>
      </p:sp>
      <p:sp>
        <p:nvSpPr>
          <p:cNvPr id="12" name="Text 9"/>
          <p:cNvSpPr txBox="1"/>
          <p:nvPr/>
        </p:nvSpPr>
        <p:spPr>
          <a:xfrm>
            <a:off x="6347308" y="5550408"/>
            <a:ext cx="5003140" cy="530352"/>
          </a:xfrm>
          <a:prstGeom prst="rect">
            <a:avLst/>
          </a:prstGeom>
          <a:noFill/>
          <a:ln/>
        </p:spPr>
        <p:txBody>
          <a:bodyPr wrap="square" lIns="0" tIns="0" rIns="0" bIns="0" rtlCol="0" anchor="t"/>
          <a:lstStyle/>
          <a:p>
            <a:pPr rtl="1" algn="r" indent="0" marL="0">
              <a:lnSpc>
                <a:spcPct val="112000"/>
              </a:lnSpc>
              <a:buNone/>
            </a:pPr>
            <a:r>
              <a:rPr lang="ar-EG" sz="1200" dirty="0">
                <a:solidFill>
                  <a:srgbClr val="B9CBC6"/>
                </a:solidFill>
                <a:latin typeface="Segoe UI" pitchFamily="34" charset="0"/>
                <a:ea typeface="Segoe UI" pitchFamily="34" charset="-122"/>
                <a:cs typeface="Segoe UI" pitchFamily="34" charset="-120"/>
              </a:rPr>
              <a:t>إجابات مبنية على مصادر طبية موثقة ومُستشهَد بيها</a:t>
            </a:r>
            <a:endParaRPr lang="en-US" sz="1200" dirty="0"/>
          </a:p>
        </p:txBody>
      </p:sp>
      <p:sp>
        <p:nvSpPr>
          <p:cNvPr id="13" name="Shape 10"/>
          <p:cNvSpPr/>
          <p:nvPr/>
        </p:nvSpPr>
        <p:spPr>
          <a:xfrm>
            <a:off x="5725516" y="4507992"/>
            <a:ext cx="105156" cy="105156"/>
          </a:xfrm>
          <a:prstGeom prst="ellipse">
            <a:avLst/>
          </a:prstGeom>
          <a:solidFill>
            <a:srgbClr val="19A878"/>
          </a:solidFill>
          <a:ln w="12700">
            <a:solidFill>
              <a:srgbClr val="19A878"/>
            </a:solidFill>
            <a:prstDash val="solid"/>
          </a:ln>
        </p:spPr>
      </p:sp>
      <p:sp>
        <p:nvSpPr>
          <p:cNvPr id="14" name="Text 11"/>
          <p:cNvSpPr txBox="1"/>
          <p:nvPr/>
        </p:nvSpPr>
        <p:spPr>
          <a:xfrm>
            <a:off x="566928" y="4343400"/>
            <a:ext cx="5003140" cy="530352"/>
          </a:xfrm>
          <a:prstGeom prst="rect">
            <a:avLst/>
          </a:prstGeom>
          <a:noFill/>
          <a:ln/>
        </p:spPr>
        <p:txBody>
          <a:bodyPr wrap="square" lIns="0" tIns="0" rIns="0" bIns="0" rtlCol="0" anchor="t"/>
          <a:lstStyle/>
          <a:p>
            <a:pPr rtl="1" algn="r" indent="0" marL="0">
              <a:lnSpc>
                <a:spcPct val="112000"/>
              </a:lnSpc>
              <a:buNone/>
            </a:pPr>
            <a:r>
              <a:rPr lang="ar-EG" sz="1200" dirty="0">
                <a:solidFill>
                  <a:srgbClr val="B9CBC6"/>
                </a:solidFill>
                <a:latin typeface="Segoe UI" pitchFamily="34" charset="0"/>
                <a:ea typeface="Segoe UI" pitchFamily="34" charset="-122"/>
                <a:cs typeface="Segoe UI" pitchFamily="34" charset="-120"/>
              </a:rPr>
              <a:t>وضع طوارئ حقيقي: تقييم خطورة ← عداد ← تصعيد لجهة اتصالك</a:t>
            </a:r>
            <a:endParaRPr lang="en-US" sz="1200" dirty="0"/>
          </a:p>
        </p:txBody>
      </p:sp>
      <p:sp>
        <p:nvSpPr>
          <p:cNvPr id="15" name="Shape 12"/>
          <p:cNvSpPr/>
          <p:nvPr/>
        </p:nvSpPr>
        <p:spPr>
          <a:xfrm>
            <a:off x="5725516" y="5111496"/>
            <a:ext cx="105156" cy="105156"/>
          </a:xfrm>
          <a:prstGeom prst="ellipse">
            <a:avLst/>
          </a:prstGeom>
          <a:solidFill>
            <a:srgbClr val="19A878"/>
          </a:solidFill>
          <a:ln w="12700">
            <a:solidFill>
              <a:srgbClr val="19A878"/>
            </a:solidFill>
            <a:prstDash val="solid"/>
          </a:ln>
        </p:spPr>
      </p:sp>
      <p:sp>
        <p:nvSpPr>
          <p:cNvPr id="16" name="Text 13"/>
          <p:cNvSpPr txBox="1"/>
          <p:nvPr/>
        </p:nvSpPr>
        <p:spPr>
          <a:xfrm>
            <a:off x="566928" y="4946904"/>
            <a:ext cx="5003140" cy="530352"/>
          </a:xfrm>
          <a:prstGeom prst="rect">
            <a:avLst/>
          </a:prstGeom>
          <a:noFill/>
          <a:ln/>
        </p:spPr>
        <p:txBody>
          <a:bodyPr wrap="square" lIns="0" tIns="0" rIns="0" bIns="0" rtlCol="0" anchor="t"/>
          <a:lstStyle/>
          <a:p>
            <a:pPr rtl="1" algn="r" indent="0" marL="0">
              <a:lnSpc>
                <a:spcPct val="112000"/>
              </a:lnSpc>
              <a:buNone/>
            </a:pPr>
            <a:r>
              <a:rPr lang="ar-EG" sz="1200" dirty="0">
                <a:solidFill>
                  <a:srgbClr val="B9CBC6"/>
                </a:solidFill>
                <a:latin typeface="Segoe UI" pitchFamily="34" charset="0"/>
                <a:ea typeface="Segoe UI" pitchFamily="34" charset="-122"/>
                <a:cs typeface="Segoe UI" pitchFamily="34" charset="-120"/>
              </a:rPr>
              <a:t>كلام وصوت ومكالمة حية — من غير تطبيق، لينك ويب وبس</a:t>
            </a:r>
            <a:endParaRPr lang="en-US" sz="1200" dirty="0"/>
          </a:p>
        </p:txBody>
      </p:sp>
      <p:sp>
        <p:nvSpPr>
          <p:cNvPr id="17" name="Shape 14"/>
          <p:cNvSpPr/>
          <p:nvPr/>
        </p:nvSpPr>
        <p:spPr>
          <a:xfrm>
            <a:off x="5725516" y="5715000"/>
            <a:ext cx="105156" cy="105156"/>
          </a:xfrm>
          <a:prstGeom prst="ellipse">
            <a:avLst/>
          </a:prstGeom>
          <a:solidFill>
            <a:srgbClr val="19A878"/>
          </a:solidFill>
          <a:ln w="12700">
            <a:solidFill>
              <a:srgbClr val="19A878"/>
            </a:solidFill>
            <a:prstDash val="solid"/>
          </a:ln>
        </p:spPr>
      </p:sp>
      <p:sp>
        <p:nvSpPr>
          <p:cNvPr id="18" name="Text 15"/>
          <p:cNvSpPr txBox="1"/>
          <p:nvPr/>
        </p:nvSpPr>
        <p:spPr>
          <a:xfrm>
            <a:off x="566928" y="5550408"/>
            <a:ext cx="5003140" cy="530352"/>
          </a:xfrm>
          <a:prstGeom prst="rect">
            <a:avLst/>
          </a:prstGeom>
          <a:noFill/>
          <a:ln/>
        </p:spPr>
        <p:txBody>
          <a:bodyPr wrap="square" lIns="0" tIns="0" rIns="0" bIns="0" rtlCol="0" anchor="t"/>
          <a:lstStyle/>
          <a:p>
            <a:pPr rtl="1" algn="r" indent="0" marL="0">
              <a:lnSpc>
                <a:spcPct val="112000"/>
              </a:lnSpc>
              <a:buNone/>
            </a:pPr>
            <a:r>
              <a:rPr lang="ar-EG" sz="1200" dirty="0">
                <a:solidFill>
                  <a:srgbClr val="B9CBC6"/>
                </a:solidFill>
                <a:latin typeface="Segoe UI" pitchFamily="34" charset="0"/>
                <a:ea typeface="Segoe UI" pitchFamily="34" charset="-122"/>
                <a:cs typeface="Segoe UI" pitchFamily="34" charset="-120"/>
              </a:rPr>
              <a:t>مش بديل عن الدكتور — بيوصّلك للدكتور بدري</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المشكلة</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أكبر قاتل في مصر والعالم</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٠٢ / ١٨</a:t>
            </a:r>
            <a:endParaRPr lang="en-US" sz="950" dirty="0"/>
          </a:p>
        </p:txBody>
      </p:sp>
      <p:sp>
        <p:nvSpPr>
          <p:cNvPr id="5" name="Shape 3"/>
          <p:cNvSpPr/>
          <p:nvPr/>
        </p:nvSpPr>
        <p:spPr>
          <a:xfrm>
            <a:off x="8121701" y="1536192"/>
            <a:ext cx="3503066" cy="2103120"/>
          </a:xfrm>
          <a:prstGeom prst="roundRect">
            <a:avLst>
              <a:gd name="adj" fmla="val 3913"/>
            </a:avLst>
          </a:prstGeom>
          <a:solidFill>
            <a:srgbClr val="172B34">
              <a:alpha val="86000"/>
            </a:srgbClr>
          </a:solidFill>
          <a:ln w="9525">
            <a:solidFill>
              <a:srgbClr val="3A2B30"/>
            </a:solidFill>
            <a:prstDash val="solid"/>
          </a:ln>
          <a:effectLst>
            <a:outerShdw sx="100000" sy="100000" kx="0" ky="0" algn="bl" rotWithShape="0" blurRad="152400" dist="25400" dir="5400000">
              <a:srgbClr val="000000">
                <a:alpha val="30000"/>
              </a:srgbClr>
            </a:outerShdw>
          </a:effectLst>
        </p:spPr>
      </p:sp>
      <p:sp>
        <p:nvSpPr>
          <p:cNvPr id="6" name="Text 4"/>
          <p:cNvSpPr txBox="1"/>
          <p:nvPr/>
        </p:nvSpPr>
        <p:spPr>
          <a:xfrm>
            <a:off x="8377733" y="1810512"/>
            <a:ext cx="2991002" cy="694944"/>
          </a:xfrm>
          <a:prstGeom prst="rect">
            <a:avLst/>
          </a:prstGeom>
          <a:noFill/>
          <a:ln/>
        </p:spPr>
        <p:txBody>
          <a:bodyPr wrap="square" lIns="0" tIns="0" rIns="0" bIns="0" rtlCol="0" anchor="ctr"/>
          <a:lstStyle/>
          <a:p>
            <a:pPr rtl="1" algn="r" indent="0" marL="0">
              <a:lnSpc>
                <a:spcPct val="100000"/>
              </a:lnSpc>
              <a:buNone/>
            </a:pPr>
            <a:r>
              <a:rPr lang="ar-EG" sz="2500" b="1" dirty="0">
                <a:solidFill>
                  <a:srgbClr val="F79191"/>
                </a:solidFill>
                <a:latin typeface="Segoe UI" pitchFamily="34" charset="0"/>
                <a:ea typeface="Segoe UI" pitchFamily="34" charset="-122"/>
                <a:cs typeface="Segoe UI" pitchFamily="34" charset="-120"/>
              </a:rPr>
              <a:t>١٩٫٨ مليون</a:t>
            </a:r>
            <a:endParaRPr lang="en-US" sz="2500" dirty="0"/>
          </a:p>
        </p:txBody>
      </p:sp>
      <p:sp>
        <p:nvSpPr>
          <p:cNvPr id="7" name="Text 5"/>
          <p:cNvSpPr txBox="1"/>
          <p:nvPr/>
        </p:nvSpPr>
        <p:spPr>
          <a:xfrm>
            <a:off x="8377733" y="2596896"/>
            <a:ext cx="2991002" cy="822960"/>
          </a:xfrm>
          <a:prstGeom prst="rect">
            <a:avLst/>
          </a:prstGeom>
          <a:noFill/>
          <a:ln/>
        </p:spPr>
        <p:txBody>
          <a:bodyPr wrap="square" lIns="0" tIns="0" rIns="0" bIns="0" rtlCol="0" anchor="t"/>
          <a:lstStyle/>
          <a:p>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وفاة عالميًا من أمراض القلب والأوعية سنة ٢٠٢٢ — </a:t>
            </a:r>
            <a:pPr rtl="1" algn="r" indent="0" marL="0">
              <a:lnSpc>
                <a:spcPct val="118000"/>
              </a:lnSpc>
              <a:buNone/>
            </a:pPr>
            <a:r>
              <a:rPr lang="ar-EG" sz="1200" b="1" dirty="0">
                <a:solidFill>
                  <a:srgbClr val="FFFFFF"/>
                </a:solidFill>
                <a:latin typeface="Segoe UI" pitchFamily="34" charset="0"/>
                <a:ea typeface="Segoe UI" pitchFamily="34" charset="-122"/>
                <a:cs typeface="Segoe UI" pitchFamily="34" charset="-120"/>
              </a:rPr>
              <a:t>~٣٢٪</a:t>
            </a:r>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 من كل الوفيات</a:t>
            </a:r>
            <a:endParaRPr lang="en-US" sz="1200" dirty="0"/>
          </a:p>
        </p:txBody>
      </p:sp>
      <p:sp>
        <p:nvSpPr>
          <p:cNvPr id="8" name="Shape 6"/>
          <p:cNvSpPr/>
          <p:nvPr/>
        </p:nvSpPr>
        <p:spPr>
          <a:xfrm>
            <a:off x="4344314" y="1536192"/>
            <a:ext cx="3503066" cy="2103120"/>
          </a:xfrm>
          <a:prstGeom prst="roundRect">
            <a:avLst>
              <a:gd name="adj" fmla="val 3913"/>
            </a:avLst>
          </a:prstGeom>
          <a:solidFill>
            <a:srgbClr val="172B34">
              <a:alpha val="86000"/>
            </a:srgbClr>
          </a:solidFill>
          <a:ln w="9525">
            <a:solidFill>
              <a:srgbClr val="3A2B30"/>
            </a:solidFill>
            <a:prstDash val="solid"/>
          </a:ln>
          <a:effectLst>
            <a:outerShdw sx="100000" sy="100000" kx="0" ky="0" algn="bl" rotWithShape="0" blurRad="152400" dist="25400" dir="5400000">
              <a:srgbClr val="000000">
                <a:alpha val="30000"/>
              </a:srgbClr>
            </a:outerShdw>
          </a:effectLst>
        </p:spPr>
      </p:sp>
      <p:sp>
        <p:nvSpPr>
          <p:cNvPr id="9" name="Text 7"/>
          <p:cNvSpPr txBox="1"/>
          <p:nvPr/>
        </p:nvSpPr>
        <p:spPr>
          <a:xfrm>
            <a:off x="4600346" y="1810512"/>
            <a:ext cx="2991002" cy="694944"/>
          </a:xfrm>
          <a:prstGeom prst="rect">
            <a:avLst/>
          </a:prstGeom>
          <a:noFill/>
          <a:ln/>
        </p:spPr>
        <p:txBody>
          <a:bodyPr wrap="square" lIns="0" tIns="0" rIns="0" bIns="0" rtlCol="0" anchor="ctr"/>
          <a:lstStyle/>
          <a:p>
            <a:pPr rtl="1" algn="r" indent="0" marL="0">
              <a:lnSpc>
                <a:spcPct val="100000"/>
              </a:lnSpc>
              <a:buNone/>
            </a:pPr>
            <a:r>
              <a:rPr lang="ar-EG" sz="3600" b="1" dirty="0">
                <a:solidFill>
                  <a:srgbClr val="F79191"/>
                </a:solidFill>
                <a:latin typeface="Segoe UI" pitchFamily="34" charset="0"/>
                <a:ea typeface="Segoe UI" pitchFamily="34" charset="-122"/>
                <a:cs typeface="Segoe UI" pitchFamily="34" charset="-120"/>
              </a:rPr>
              <a:t>٨٥٪</a:t>
            </a:r>
            <a:endParaRPr lang="en-US" sz="3600" dirty="0"/>
          </a:p>
        </p:txBody>
      </p:sp>
      <p:sp>
        <p:nvSpPr>
          <p:cNvPr id="10" name="Text 8"/>
          <p:cNvSpPr txBox="1"/>
          <p:nvPr/>
        </p:nvSpPr>
        <p:spPr>
          <a:xfrm>
            <a:off x="4600346" y="2596896"/>
            <a:ext cx="2991002" cy="822960"/>
          </a:xfrm>
          <a:prstGeom prst="rect">
            <a:avLst/>
          </a:prstGeom>
          <a:noFill/>
          <a:ln/>
        </p:spPr>
        <p:txBody>
          <a:bodyPr wrap="square" lIns="0" tIns="0" rIns="0" bIns="0" rtlCol="0" anchor="t"/>
          <a:lstStyle/>
          <a:p>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من الوفيات دي بسبب </a:t>
            </a:r>
            <a:pPr rtl="1" algn="r" indent="0" marL="0">
              <a:lnSpc>
                <a:spcPct val="118000"/>
              </a:lnSpc>
              <a:buNone/>
            </a:pPr>
            <a:r>
              <a:rPr lang="ar-EG" sz="1200" b="1" dirty="0">
                <a:solidFill>
                  <a:srgbClr val="FFFFFF"/>
                </a:solidFill>
                <a:latin typeface="Segoe UI" pitchFamily="34" charset="0"/>
                <a:ea typeface="Segoe UI" pitchFamily="34" charset="-122"/>
                <a:cs typeface="Segoe UI" pitchFamily="34" charset="-120"/>
              </a:rPr>
              <a:t>أزمة قلبية أو جلطة دماغية</a:t>
            </a:r>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 تحديدًا</a:t>
            </a:r>
            <a:endParaRPr lang="en-US" sz="1200" dirty="0"/>
          </a:p>
        </p:txBody>
      </p:sp>
      <p:sp>
        <p:nvSpPr>
          <p:cNvPr id="11" name="Shape 9"/>
          <p:cNvSpPr/>
          <p:nvPr/>
        </p:nvSpPr>
        <p:spPr>
          <a:xfrm>
            <a:off x="566928" y="1536192"/>
            <a:ext cx="3503066" cy="2103120"/>
          </a:xfrm>
          <a:prstGeom prst="roundRect">
            <a:avLst>
              <a:gd name="adj" fmla="val 3913"/>
            </a:avLst>
          </a:prstGeom>
          <a:solidFill>
            <a:srgbClr val="172B34">
              <a:alpha val="86000"/>
            </a:srgbClr>
          </a:solidFill>
          <a:ln w="9525">
            <a:solidFill>
              <a:srgbClr val="3A2B30"/>
            </a:solidFill>
            <a:prstDash val="solid"/>
          </a:ln>
          <a:effectLst>
            <a:outerShdw sx="100000" sy="100000" kx="0" ky="0" algn="bl" rotWithShape="0" blurRad="152400" dist="25400" dir="5400000">
              <a:srgbClr val="000000">
                <a:alpha val="30000"/>
              </a:srgbClr>
            </a:outerShdw>
          </a:effectLst>
        </p:spPr>
      </p:sp>
      <p:sp>
        <p:nvSpPr>
          <p:cNvPr id="12" name="Text 10"/>
          <p:cNvSpPr txBox="1"/>
          <p:nvPr/>
        </p:nvSpPr>
        <p:spPr>
          <a:xfrm>
            <a:off x="822960" y="1810512"/>
            <a:ext cx="2991002" cy="694944"/>
          </a:xfrm>
          <a:prstGeom prst="rect">
            <a:avLst/>
          </a:prstGeom>
          <a:noFill/>
          <a:ln/>
        </p:spPr>
        <p:txBody>
          <a:bodyPr wrap="square" lIns="0" tIns="0" rIns="0" bIns="0" rtlCol="0" anchor="ctr"/>
          <a:lstStyle/>
          <a:p>
            <a:pPr rtl="1" algn="r" indent="0" marL="0">
              <a:lnSpc>
                <a:spcPct val="100000"/>
              </a:lnSpc>
              <a:buNone/>
            </a:pPr>
            <a:r>
              <a:rPr lang="ar-EG" sz="2500" b="1" dirty="0">
                <a:solidFill>
                  <a:srgbClr val="F79191"/>
                </a:solidFill>
                <a:latin typeface="Segoe UI" pitchFamily="34" charset="0"/>
                <a:ea typeface="Segoe UI" pitchFamily="34" charset="-122"/>
                <a:cs typeface="Segoe UI" pitchFamily="34" charset="-120"/>
              </a:rPr>
              <a:t>أكتر من ٣ أرباع</a:t>
            </a:r>
            <a:endParaRPr lang="en-US" sz="2500" dirty="0"/>
          </a:p>
        </p:txBody>
      </p:sp>
      <p:sp>
        <p:nvSpPr>
          <p:cNvPr id="13" name="Text 11"/>
          <p:cNvSpPr txBox="1"/>
          <p:nvPr/>
        </p:nvSpPr>
        <p:spPr>
          <a:xfrm>
            <a:off x="822960" y="2596896"/>
            <a:ext cx="2991002" cy="822960"/>
          </a:xfrm>
          <a:prstGeom prst="rect">
            <a:avLst/>
          </a:prstGeom>
          <a:noFill/>
          <a:ln/>
        </p:spPr>
        <p:txBody>
          <a:bodyPr wrap="square" lIns="0" tIns="0" rIns="0" bIns="0" rtlCol="0" anchor="t"/>
          <a:lstStyle/>
          <a:p>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وفيات القلب بتحصل في دول </a:t>
            </a:r>
            <a:pPr rtl="1" algn="r" indent="0" marL="0">
              <a:lnSpc>
                <a:spcPct val="118000"/>
              </a:lnSpc>
              <a:buNone/>
            </a:pPr>
            <a:r>
              <a:rPr lang="ar-EG" sz="1200" b="1" dirty="0">
                <a:solidFill>
                  <a:srgbClr val="FFFFFF"/>
                </a:solidFill>
                <a:latin typeface="Segoe UI" pitchFamily="34" charset="0"/>
                <a:ea typeface="Segoe UI" pitchFamily="34" charset="-122"/>
                <a:cs typeface="Segoe UI" pitchFamily="34" charset="-120"/>
              </a:rPr>
              <a:t>متوسطة ومنخفضة الدخل</a:t>
            </a:r>
            <a:endParaRPr lang="en-US" sz="1200" dirty="0"/>
          </a:p>
        </p:txBody>
      </p:sp>
      <p:sp>
        <p:nvSpPr>
          <p:cNvPr id="14" name="Shape 12"/>
          <p:cNvSpPr/>
          <p:nvPr/>
        </p:nvSpPr>
        <p:spPr>
          <a:xfrm>
            <a:off x="8121701" y="3913632"/>
            <a:ext cx="3503066" cy="2103120"/>
          </a:xfrm>
          <a:prstGeom prst="roundRect">
            <a:avLst>
              <a:gd name="adj" fmla="val 3913"/>
            </a:avLst>
          </a:prstGeom>
          <a:solidFill>
            <a:srgbClr val="172B34">
              <a:alpha val="86000"/>
            </a:srgbClr>
          </a:solidFill>
          <a:ln w="9525">
            <a:solidFill>
              <a:srgbClr val="3A2B30"/>
            </a:solidFill>
            <a:prstDash val="solid"/>
          </a:ln>
          <a:effectLst>
            <a:outerShdw sx="100000" sy="100000" kx="0" ky="0" algn="bl" rotWithShape="0" blurRad="152400" dist="25400" dir="5400000">
              <a:srgbClr val="000000">
                <a:alpha val="30000"/>
              </a:srgbClr>
            </a:outerShdw>
          </a:effectLst>
        </p:spPr>
      </p:sp>
      <p:sp>
        <p:nvSpPr>
          <p:cNvPr id="15" name="Text 13"/>
          <p:cNvSpPr txBox="1"/>
          <p:nvPr/>
        </p:nvSpPr>
        <p:spPr>
          <a:xfrm>
            <a:off x="8377733" y="4187952"/>
            <a:ext cx="2991002" cy="694944"/>
          </a:xfrm>
          <a:prstGeom prst="rect">
            <a:avLst/>
          </a:prstGeom>
          <a:noFill/>
          <a:ln/>
        </p:spPr>
        <p:txBody>
          <a:bodyPr wrap="square" lIns="0" tIns="0" rIns="0" bIns="0" rtlCol="0" anchor="ctr"/>
          <a:lstStyle/>
          <a:p>
            <a:pPr rtl="1" algn="r" indent="0" marL="0">
              <a:lnSpc>
                <a:spcPct val="100000"/>
              </a:lnSpc>
              <a:buNone/>
            </a:pPr>
            <a:r>
              <a:rPr lang="ar-EG" sz="3600" b="1" dirty="0">
                <a:solidFill>
                  <a:srgbClr val="F79191"/>
                </a:solidFill>
                <a:latin typeface="Segoe UI" pitchFamily="34" charset="0"/>
                <a:ea typeface="Segoe UI" pitchFamily="34" charset="-122"/>
                <a:cs typeface="Segoe UI" pitchFamily="34" charset="-120"/>
              </a:rPr>
              <a:t>~١٢ مليون</a:t>
            </a:r>
            <a:endParaRPr lang="en-US" sz="3600" dirty="0"/>
          </a:p>
        </p:txBody>
      </p:sp>
      <p:sp>
        <p:nvSpPr>
          <p:cNvPr id="16" name="Text 14"/>
          <p:cNvSpPr txBox="1"/>
          <p:nvPr/>
        </p:nvSpPr>
        <p:spPr>
          <a:xfrm>
            <a:off x="8377733" y="4974336"/>
            <a:ext cx="2991002" cy="822960"/>
          </a:xfrm>
          <a:prstGeom prst="rect">
            <a:avLst/>
          </a:prstGeom>
          <a:noFill/>
          <a:ln/>
        </p:spPr>
        <p:txBody>
          <a:bodyPr wrap="square" lIns="0" tIns="0" rIns="0" bIns="0" rtlCol="0" anchor="t"/>
          <a:lstStyle/>
          <a:p>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حالة جلطة دماغية جديدة و</a:t>
            </a:r>
            <a:pPr rtl="1" algn="r" indent="0" marL="0">
              <a:lnSpc>
                <a:spcPct val="118000"/>
              </a:lnSpc>
              <a:buNone/>
            </a:pPr>
            <a:r>
              <a:rPr lang="ar-EG" sz="1200" b="1" dirty="0">
                <a:solidFill>
                  <a:srgbClr val="FFFFFF"/>
                </a:solidFill>
                <a:latin typeface="Segoe UI" pitchFamily="34" charset="0"/>
                <a:ea typeface="Segoe UI" pitchFamily="34" charset="-122"/>
                <a:cs typeface="Segoe UI" pitchFamily="34" charset="-120"/>
              </a:rPr>
              <a:t>أكتر من ٧ مليون</a:t>
            </a:r>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 وفاة سنويًا</a:t>
            </a:r>
            <a:endParaRPr lang="en-US" sz="1200" dirty="0"/>
          </a:p>
        </p:txBody>
      </p:sp>
      <p:sp>
        <p:nvSpPr>
          <p:cNvPr id="17" name="Shape 15"/>
          <p:cNvSpPr/>
          <p:nvPr/>
        </p:nvSpPr>
        <p:spPr>
          <a:xfrm>
            <a:off x="4344314" y="3913632"/>
            <a:ext cx="3503066" cy="2103120"/>
          </a:xfrm>
          <a:prstGeom prst="roundRect">
            <a:avLst>
              <a:gd name="adj" fmla="val 3913"/>
            </a:avLst>
          </a:prstGeom>
          <a:solidFill>
            <a:srgbClr val="172B34">
              <a:alpha val="86000"/>
            </a:srgbClr>
          </a:solidFill>
          <a:ln w="9525">
            <a:solidFill>
              <a:srgbClr val="3A2B30"/>
            </a:solidFill>
            <a:prstDash val="solid"/>
          </a:ln>
          <a:effectLst>
            <a:outerShdw sx="100000" sy="100000" kx="0" ky="0" algn="bl" rotWithShape="0" blurRad="152400" dist="25400" dir="5400000">
              <a:srgbClr val="000000">
                <a:alpha val="30000"/>
              </a:srgbClr>
            </a:outerShdw>
          </a:effectLst>
        </p:spPr>
      </p:sp>
      <p:sp>
        <p:nvSpPr>
          <p:cNvPr id="18" name="Text 16"/>
          <p:cNvSpPr txBox="1"/>
          <p:nvPr/>
        </p:nvSpPr>
        <p:spPr>
          <a:xfrm>
            <a:off x="4600346" y="4187952"/>
            <a:ext cx="2991002" cy="694944"/>
          </a:xfrm>
          <a:prstGeom prst="rect">
            <a:avLst/>
          </a:prstGeom>
          <a:noFill/>
          <a:ln/>
        </p:spPr>
        <p:txBody>
          <a:bodyPr wrap="square" lIns="0" tIns="0" rIns="0" bIns="0" rtlCol="0" anchor="ctr"/>
          <a:lstStyle/>
          <a:p>
            <a:pPr rtl="1" algn="r" indent="0" marL="0">
              <a:lnSpc>
                <a:spcPct val="100000"/>
              </a:lnSpc>
              <a:buNone/>
            </a:pPr>
            <a:r>
              <a:rPr lang="ar-EG" sz="3600" b="1" dirty="0">
                <a:solidFill>
                  <a:srgbClr val="F79191"/>
                </a:solidFill>
                <a:latin typeface="Segoe UI" pitchFamily="34" charset="0"/>
                <a:ea typeface="Segoe UI" pitchFamily="34" charset="-122"/>
                <a:cs typeface="Segoe UI" pitchFamily="34" charset="-120"/>
              </a:rPr>
              <a:t>١ من كل ٤</a:t>
            </a:r>
            <a:endParaRPr lang="en-US" sz="3600" dirty="0"/>
          </a:p>
        </p:txBody>
      </p:sp>
      <p:sp>
        <p:nvSpPr>
          <p:cNvPr id="19" name="Text 17"/>
          <p:cNvSpPr txBox="1"/>
          <p:nvPr/>
        </p:nvSpPr>
        <p:spPr>
          <a:xfrm>
            <a:off x="4600346" y="4974336"/>
            <a:ext cx="2991002" cy="822960"/>
          </a:xfrm>
          <a:prstGeom prst="rect">
            <a:avLst/>
          </a:prstGeom>
          <a:noFill/>
          <a:ln/>
        </p:spPr>
        <p:txBody>
          <a:bodyPr wrap="square" lIns="0" tIns="0" rIns="0" bIns="0" rtlCol="0" anchor="t"/>
          <a:lstStyle/>
          <a:p>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فوق سن ٢٥ </a:t>
            </a:r>
            <a:pPr rtl="1" algn="r" indent="0" marL="0">
              <a:lnSpc>
                <a:spcPct val="118000"/>
              </a:lnSpc>
              <a:buNone/>
            </a:pPr>
            <a:r>
              <a:rPr lang="ar-EG" sz="1200" b="1" dirty="0">
                <a:solidFill>
                  <a:srgbClr val="FFFFFF"/>
                </a:solidFill>
                <a:latin typeface="Segoe UI" pitchFamily="34" charset="0"/>
                <a:ea typeface="Segoe UI" pitchFamily="34" charset="-122"/>
                <a:cs typeface="Segoe UI" pitchFamily="34" charset="-120"/>
              </a:rPr>
              <a:t>هيتعرض لجلطة دماغية</a:t>
            </a:r>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 في حياته</a:t>
            </a:r>
            <a:endParaRPr lang="en-US" sz="1200" dirty="0"/>
          </a:p>
        </p:txBody>
      </p:sp>
      <p:sp>
        <p:nvSpPr>
          <p:cNvPr id="20" name="Shape 18"/>
          <p:cNvSpPr/>
          <p:nvPr/>
        </p:nvSpPr>
        <p:spPr>
          <a:xfrm>
            <a:off x="566928" y="3913632"/>
            <a:ext cx="3503066" cy="2103120"/>
          </a:xfrm>
          <a:prstGeom prst="roundRect">
            <a:avLst>
              <a:gd name="adj" fmla="val 3913"/>
            </a:avLst>
          </a:prstGeom>
          <a:solidFill>
            <a:srgbClr val="172B34">
              <a:alpha val="86000"/>
            </a:srgbClr>
          </a:solidFill>
          <a:ln w="9525">
            <a:solidFill>
              <a:srgbClr val="3A2B30"/>
            </a:solidFill>
            <a:prstDash val="solid"/>
          </a:ln>
          <a:effectLst>
            <a:outerShdw sx="100000" sy="100000" kx="0" ky="0" algn="bl" rotWithShape="0" blurRad="152400" dist="25400" dir="5400000">
              <a:srgbClr val="000000">
                <a:alpha val="30000"/>
              </a:srgbClr>
            </a:outerShdw>
          </a:effectLst>
        </p:spPr>
      </p:sp>
      <p:sp>
        <p:nvSpPr>
          <p:cNvPr id="21" name="Text 19"/>
          <p:cNvSpPr txBox="1"/>
          <p:nvPr/>
        </p:nvSpPr>
        <p:spPr>
          <a:xfrm>
            <a:off x="822960" y="4187952"/>
            <a:ext cx="2991002" cy="694944"/>
          </a:xfrm>
          <a:prstGeom prst="rect">
            <a:avLst/>
          </a:prstGeom>
          <a:noFill/>
          <a:ln/>
        </p:spPr>
        <p:txBody>
          <a:bodyPr wrap="square" lIns="0" tIns="0" rIns="0" bIns="0" rtlCol="0" anchor="ctr"/>
          <a:lstStyle/>
          <a:p>
            <a:pPr rtl="1" algn="r" indent="0" marL="0">
              <a:lnSpc>
                <a:spcPct val="100000"/>
              </a:lnSpc>
              <a:buNone/>
            </a:pPr>
            <a:r>
              <a:rPr lang="ar-EG" sz="3600" b="1" dirty="0">
                <a:solidFill>
                  <a:srgbClr val="F79191"/>
                </a:solidFill>
                <a:latin typeface="Segoe UI" pitchFamily="34" charset="0"/>
                <a:ea typeface="Segoe UI" pitchFamily="34" charset="-122"/>
                <a:cs typeface="Segoe UI" pitchFamily="34" charset="-120"/>
              </a:rPr>
              <a:t>٣٣٤٬٤٥٩</a:t>
            </a:r>
            <a:endParaRPr lang="en-US" sz="3600" dirty="0"/>
          </a:p>
        </p:txBody>
      </p:sp>
      <p:sp>
        <p:nvSpPr>
          <p:cNvPr id="22" name="Text 20"/>
          <p:cNvSpPr txBox="1"/>
          <p:nvPr/>
        </p:nvSpPr>
        <p:spPr>
          <a:xfrm>
            <a:off x="822960" y="4974336"/>
            <a:ext cx="2991002" cy="822960"/>
          </a:xfrm>
          <a:prstGeom prst="rect">
            <a:avLst/>
          </a:prstGeom>
          <a:noFill/>
          <a:ln/>
        </p:spPr>
        <p:txBody>
          <a:bodyPr wrap="square" lIns="0" tIns="0" rIns="0" bIns="0" rtlCol="0" anchor="t"/>
          <a:lstStyle/>
          <a:p>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وفاة قلبية سنويًا في مصر — </a:t>
            </a:r>
            <a:pPr rtl="1" algn="r" indent="0" marL="0">
              <a:lnSpc>
                <a:spcPct val="118000"/>
              </a:lnSpc>
              <a:buNone/>
            </a:pPr>
            <a:r>
              <a:rPr lang="ar-EG" sz="1200" b="1" dirty="0">
                <a:solidFill>
                  <a:srgbClr val="FFFFFF"/>
                </a:solidFill>
                <a:latin typeface="Segoe UI" pitchFamily="34" charset="0"/>
                <a:ea typeface="Segoe UI" pitchFamily="34" charset="-122"/>
                <a:cs typeface="Segoe UI" pitchFamily="34" charset="-120"/>
              </a:rPr>
              <a:t>٣٨٫٧٪</a:t>
            </a:r>
            <a:pPr rtl="1" algn="r" indent="0" marL="0">
              <a:lnSpc>
                <a:spcPct val="118000"/>
              </a:lnSpc>
              <a:buNone/>
            </a:pPr>
            <a:r>
              <a:rPr lang="ar-EG" sz="1200" dirty="0">
                <a:solidFill>
                  <a:srgbClr val="B9CBC6"/>
                </a:solidFill>
                <a:latin typeface="Segoe UI" pitchFamily="34" charset="0"/>
                <a:ea typeface="Segoe UI" pitchFamily="34" charset="-122"/>
                <a:cs typeface="Segoe UI" pitchFamily="34" charset="-120"/>
              </a:rPr>
              <a:t xml:space="preserve"> من كل الوفيات</a:t>
            </a:r>
            <a:endParaRPr lang="en-US" sz="1200" dirty="0"/>
          </a:p>
        </p:txBody>
      </p:sp>
      <p:sp>
        <p:nvSpPr>
          <p:cNvPr id="23" name="Text 21"/>
          <p:cNvSpPr txBox="1"/>
          <p:nvPr/>
        </p:nvSpPr>
        <p:spPr>
          <a:xfrm>
            <a:off x="2304288" y="6309360"/>
            <a:ext cx="9320479" cy="347472"/>
          </a:xfrm>
          <a:prstGeom prst="rect">
            <a:avLst/>
          </a:prstGeom>
          <a:noFill/>
          <a:ln/>
        </p:spPr>
        <p:txBody>
          <a:bodyPr wrap="square" lIns="0" tIns="0" rIns="0" bIns="0" rtlCol="0" anchor="ctr"/>
          <a:lstStyle/>
          <a:p>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المصادر: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World Health Organization</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٢٠٢٥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World Stroke Organization</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٢٠٢٥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World Heart Federation / IHME-GBD</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٢٠٢٤</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المشكلة</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 xml:space="preserve">الوقت هو العلاج — </a:t>
            </a:r>
            <a:pPr rtl="1" algn="r" indent="0" marL="0">
              <a:lnSpc>
                <a:spcPct val="108000"/>
              </a:lnSpc>
              <a:buNone/>
            </a:pPr>
            <a:r>
              <a:rPr lang="en-US" sz="2600" b="1" dirty="0">
                <a:solidFill>
                  <a:srgbClr val="FFFFFF"/>
                </a:solidFill>
                <a:latin typeface="Segoe UI" pitchFamily="34" charset="0"/>
                <a:ea typeface="Segoe UI" pitchFamily="34" charset="-122"/>
                <a:cs typeface="Segoe UI" pitchFamily="34" charset="-120"/>
              </a:rPr>
              <a:t>"Time is Brain"</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٠٣ / ١٨</a:t>
            </a:r>
            <a:endParaRPr lang="en-US" sz="950" dirty="0"/>
          </a:p>
        </p:txBody>
      </p:sp>
      <p:sp>
        <p:nvSpPr>
          <p:cNvPr id="5" name="Shape 3"/>
          <p:cNvSpPr/>
          <p:nvPr/>
        </p:nvSpPr>
        <p:spPr>
          <a:xfrm>
            <a:off x="7647127" y="1536192"/>
            <a:ext cx="3977640" cy="4480560"/>
          </a:xfrm>
          <a:prstGeom prst="roundRect">
            <a:avLst>
              <a:gd name="adj" fmla="val 2069"/>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6" name="Text 4"/>
          <p:cNvSpPr txBox="1"/>
          <p:nvPr/>
        </p:nvSpPr>
        <p:spPr>
          <a:xfrm>
            <a:off x="7958023" y="1865376"/>
            <a:ext cx="3355848" cy="274320"/>
          </a:xfrm>
          <a:prstGeom prst="rect">
            <a:avLst/>
          </a:prstGeom>
          <a:noFill/>
          <a:ln/>
        </p:spPr>
        <p:txBody>
          <a:bodyPr wrap="square" lIns="0" tIns="0" rIns="0" bIns="0" rtlCol="0" anchor="t"/>
          <a:lstStyle/>
          <a:p>
            <a:pPr algn="r" indent="0" marL="0">
              <a:buNone/>
            </a:pPr>
            <a:r>
              <a:rPr lang="en-US" sz="1050" b="1" spc="200" kern="0" dirty="0">
                <a:solidFill>
                  <a:srgbClr val="5EDCB0"/>
                </a:solidFill>
                <a:latin typeface="Segoe UI" pitchFamily="34" charset="0"/>
                <a:ea typeface="Segoe UI" pitchFamily="34" charset="-122"/>
                <a:cs typeface="Segoe UI" pitchFamily="34" charset="-120"/>
              </a:rPr>
              <a:t>TIME IS BRAIN</a:t>
            </a:r>
            <a:endParaRPr lang="en-US" sz="1050" dirty="0"/>
          </a:p>
        </p:txBody>
      </p:sp>
      <p:sp>
        <p:nvSpPr>
          <p:cNvPr id="7" name="Text 5"/>
          <p:cNvSpPr txBox="1"/>
          <p:nvPr/>
        </p:nvSpPr>
        <p:spPr>
          <a:xfrm>
            <a:off x="7958023" y="2322576"/>
            <a:ext cx="3355848" cy="914400"/>
          </a:xfrm>
          <a:prstGeom prst="rect">
            <a:avLst/>
          </a:prstGeom>
          <a:noFill/>
          <a:ln/>
        </p:spPr>
        <p:txBody>
          <a:bodyPr wrap="square" lIns="0" tIns="0" rIns="0" bIns="0" rtlCol="0" anchor="t"/>
          <a:lstStyle/>
          <a:p>
            <a:pPr rtl="1" algn="r" indent="0" marL="0">
              <a:lnSpc>
                <a:spcPct val="100000"/>
              </a:lnSpc>
              <a:buNone/>
            </a:pPr>
            <a:r>
              <a:rPr lang="ar-EG" sz="4800" b="1" dirty="0">
                <a:solidFill>
                  <a:srgbClr val="FFFFFF"/>
                </a:solidFill>
                <a:latin typeface="Segoe UI" pitchFamily="34" charset="0"/>
                <a:ea typeface="Segoe UI" pitchFamily="34" charset="-122"/>
                <a:cs typeface="Segoe UI" pitchFamily="34" charset="-120"/>
              </a:rPr>
              <a:t>١٫٩ مليون</a:t>
            </a:r>
            <a:endParaRPr lang="en-US" sz="4800" dirty="0"/>
          </a:p>
        </p:txBody>
      </p:sp>
      <p:sp>
        <p:nvSpPr>
          <p:cNvPr id="8" name="Text 6"/>
          <p:cNvSpPr txBox="1"/>
          <p:nvPr/>
        </p:nvSpPr>
        <p:spPr>
          <a:xfrm>
            <a:off x="7958023" y="3273552"/>
            <a:ext cx="3355848" cy="438912"/>
          </a:xfrm>
          <a:prstGeom prst="rect">
            <a:avLst/>
          </a:prstGeom>
          <a:noFill/>
          <a:ln/>
        </p:spPr>
        <p:txBody>
          <a:bodyPr wrap="square" lIns="0" tIns="0" rIns="0" bIns="0" rtlCol="0" anchor="t"/>
          <a:lstStyle/>
          <a:p>
            <a:pPr rtl="1" algn="r" indent="0" marL="0">
              <a:lnSpc>
                <a:spcPct val="100000"/>
              </a:lnSpc>
              <a:buNone/>
            </a:pPr>
            <a:r>
              <a:rPr lang="ar-EG" sz="2100" b="1" dirty="0">
                <a:solidFill>
                  <a:srgbClr val="5EDCB0"/>
                </a:solidFill>
                <a:latin typeface="Segoe UI" pitchFamily="34" charset="0"/>
                <a:ea typeface="Segoe UI" pitchFamily="34" charset="-122"/>
                <a:cs typeface="Segoe UI" pitchFamily="34" charset="-120"/>
              </a:rPr>
              <a:t>خلية عصبية</a:t>
            </a:r>
            <a:endParaRPr lang="en-US" sz="2100" dirty="0"/>
          </a:p>
        </p:txBody>
      </p:sp>
      <p:sp>
        <p:nvSpPr>
          <p:cNvPr id="9" name="Text 7"/>
          <p:cNvSpPr txBox="1"/>
          <p:nvPr/>
        </p:nvSpPr>
        <p:spPr>
          <a:xfrm>
            <a:off x="7958023" y="3840480"/>
            <a:ext cx="3355848" cy="1188720"/>
          </a:xfrm>
          <a:prstGeom prst="rect">
            <a:avLst/>
          </a:prstGeom>
          <a:noFill/>
          <a:ln/>
        </p:spPr>
        <p:txBody>
          <a:bodyPr wrap="square" lIns="0" tIns="0" rIns="0" bIns="0" rtlCol="0" anchor="t"/>
          <a:lstStyle/>
          <a:p>
            <a:pPr rtl="1" algn="r" indent="0" marL="0">
              <a:lnSpc>
                <a:spcPct val="120000"/>
              </a:lnSpc>
              <a:buNone/>
            </a:pPr>
            <a:r>
              <a:rPr lang="ar-EG" sz="1300" dirty="0">
                <a:solidFill>
                  <a:srgbClr val="B9CBC6"/>
                </a:solidFill>
                <a:latin typeface="Segoe UI" pitchFamily="34" charset="0"/>
                <a:ea typeface="Segoe UI" pitchFamily="34" charset="-122"/>
                <a:cs typeface="Segoe UI" pitchFamily="34" charset="-120"/>
              </a:rPr>
              <a:t xml:space="preserve">بيفقدها المخ </a:t>
            </a:r>
            <a:pPr rtl="1" algn="r" indent="0" marL="0">
              <a:lnSpc>
                <a:spcPct val="120000"/>
              </a:lnSpc>
              <a:buNone/>
            </a:pPr>
            <a:r>
              <a:rPr lang="ar-EG" sz="1300" b="1" dirty="0">
                <a:solidFill>
                  <a:srgbClr val="FFFFFF"/>
                </a:solidFill>
                <a:latin typeface="Segoe UI" pitchFamily="34" charset="0"/>
                <a:ea typeface="Segoe UI" pitchFamily="34" charset="-122"/>
                <a:cs typeface="Segoe UI" pitchFamily="34" charset="-120"/>
              </a:rPr>
              <a:t>كل دقيقة</a:t>
            </a:r>
            <a:pPr rtl="1" algn="r" indent="0" marL="0">
              <a:lnSpc>
                <a:spcPct val="120000"/>
              </a:lnSpc>
              <a:buNone/>
            </a:pPr>
            <a:r>
              <a:rPr lang="ar-EG" sz="1300" dirty="0">
                <a:solidFill>
                  <a:srgbClr val="B9CBC6"/>
                </a:solidFill>
                <a:latin typeface="Segoe UI" pitchFamily="34" charset="0"/>
                <a:ea typeface="Segoe UI" pitchFamily="34" charset="-122"/>
                <a:cs typeface="Segoe UI" pitchFamily="34" charset="-120"/>
              </a:rPr>
              <a:t xml:space="preserve"> من غير علاج — والنافذة بتبدأ من لحظة العرَض مش من لحظة دخول المستشفى</a:t>
            </a:r>
            <a:endParaRPr lang="en-US" sz="1300" dirty="0"/>
          </a:p>
        </p:txBody>
      </p:sp>
      <p:sp>
        <p:nvSpPr>
          <p:cNvPr id="10" name="Text 8"/>
          <p:cNvSpPr/>
          <p:nvPr/>
        </p:nvSpPr>
        <p:spPr>
          <a:xfrm>
            <a:off x="7958023" y="5138928"/>
            <a:ext cx="3355848" cy="512064"/>
          </a:xfrm>
          <a:prstGeom prst="roundRect">
            <a:avLst>
              <a:gd name="adj" fmla="val 12500"/>
            </a:avLst>
          </a:prstGeom>
          <a:solidFill>
            <a:srgbClr val="19A878"/>
          </a:solidFill>
          <a:ln w="9525">
            <a:solidFill>
              <a:srgbClr val="19A878"/>
            </a:solidFill>
          </a:ln>
        </p:spPr>
        <p:txBody>
          <a:bodyPr wrap="square" lIns="0" tIns="0" rIns="0" bIns="0" rtlCol="0" anchor="ctr"/>
          <a:lstStyle/>
          <a:p>
            <a:pPr rtl="1" algn="ctr" indent="0" marL="0">
              <a:buNone/>
            </a:pPr>
            <a:r>
              <a:rPr lang="ar-EG" sz="1300" b="1" dirty="0">
                <a:solidFill>
                  <a:srgbClr val="06181A"/>
                </a:solidFill>
                <a:latin typeface="Segoe UI" pitchFamily="34" charset="0"/>
                <a:ea typeface="Segoe UI" pitchFamily="34" charset="-122"/>
                <a:cs typeface="Segoe UI" pitchFamily="34" charset="-120"/>
              </a:rPr>
              <a:t>القرار بيتاخد في البيت</a:t>
            </a:r>
            <a:endParaRPr lang="en-US" sz="1300" dirty="0"/>
          </a:p>
        </p:txBody>
      </p:sp>
      <p:sp>
        <p:nvSpPr>
          <p:cNvPr id="11" name="Shape 9"/>
          <p:cNvSpPr/>
          <p:nvPr/>
        </p:nvSpPr>
        <p:spPr>
          <a:xfrm>
            <a:off x="566928" y="1536192"/>
            <a:ext cx="6805879" cy="771754"/>
          </a:xfrm>
          <a:prstGeom prst="roundRect">
            <a:avLst>
              <a:gd name="adj" fmla="val 10664"/>
            </a:avLst>
          </a:prstGeom>
          <a:solidFill>
            <a:srgbClr val="172B34">
              <a:alpha val="78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2" name="Shape 10"/>
          <p:cNvSpPr/>
          <p:nvPr/>
        </p:nvSpPr>
        <p:spPr>
          <a:xfrm>
            <a:off x="6988759" y="1862633"/>
            <a:ext cx="118872" cy="118872"/>
          </a:xfrm>
          <a:prstGeom prst="ellipse">
            <a:avLst/>
          </a:prstGeom>
          <a:solidFill>
            <a:srgbClr val="19A878"/>
          </a:solidFill>
          <a:ln w="12700">
            <a:solidFill>
              <a:srgbClr val="19A878"/>
            </a:solidFill>
            <a:prstDash val="solid"/>
          </a:ln>
        </p:spPr>
      </p:sp>
      <p:sp>
        <p:nvSpPr>
          <p:cNvPr id="13" name="Text 11"/>
          <p:cNvSpPr txBox="1"/>
          <p:nvPr/>
        </p:nvSpPr>
        <p:spPr>
          <a:xfrm>
            <a:off x="896112" y="1591056"/>
            <a:ext cx="5982919" cy="662026"/>
          </a:xfrm>
          <a:prstGeom prst="rect">
            <a:avLst/>
          </a:prstGeom>
          <a:noFill/>
          <a:ln/>
        </p:spPr>
        <p:txBody>
          <a:bodyPr wrap="square" lIns="0" tIns="0" rIns="0" bIns="0" rtlCol="0" anchor="ctr"/>
          <a:lstStyle/>
          <a:p>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 xml:space="preserve">كل ساعة تأخير = المخ بيشيخ </a:t>
            </a:r>
            <a:pPr rtl="1" algn="r" indent="0" marL="0">
              <a:lnSpc>
                <a:spcPct val="112000"/>
              </a:lnSpc>
              <a:buNone/>
            </a:pPr>
            <a:r>
              <a:rPr lang="ar-EG" sz="1400" b="1" dirty="0">
                <a:solidFill>
                  <a:srgbClr val="5EDCB0"/>
                </a:solidFill>
                <a:latin typeface="Segoe UI" pitchFamily="34" charset="0"/>
                <a:ea typeface="Segoe UI" pitchFamily="34" charset="-122"/>
                <a:cs typeface="Segoe UI" pitchFamily="34" charset="-120"/>
              </a:rPr>
              <a:t>٣٫٦ سنة</a:t>
            </a:r>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 xml:space="preserve"> إضافية</a:t>
            </a:r>
            <a:endParaRPr lang="en-US" sz="1400" dirty="0"/>
          </a:p>
        </p:txBody>
      </p:sp>
      <p:sp>
        <p:nvSpPr>
          <p:cNvPr id="14" name="Shape 12"/>
          <p:cNvSpPr/>
          <p:nvPr/>
        </p:nvSpPr>
        <p:spPr>
          <a:xfrm>
            <a:off x="566928" y="2463394"/>
            <a:ext cx="6805879" cy="771754"/>
          </a:xfrm>
          <a:prstGeom prst="roundRect">
            <a:avLst>
              <a:gd name="adj" fmla="val 10664"/>
            </a:avLst>
          </a:prstGeom>
          <a:solidFill>
            <a:srgbClr val="172B34">
              <a:alpha val="78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5" name="Shape 13"/>
          <p:cNvSpPr/>
          <p:nvPr/>
        </p:nvSpPr>
        <p:spPr>
          <a:xfrm>
            <a:off x="6988759" y="2789834"/>
            <a:ext cx="118872" cy="118872"/>
          </a:xfrm>
          <a:prstGeom prst="ellipse">
            <a:avLst/>
          </a:prstGeom>
          <a:solidFill>
            <a:srgbClr val="19A878"/>
          </a:solidFill>
          <a:ln w="12700">
            <a:solidFill>
              <a:srgbClr val="19A878"/>
            </a:solidFill>
            <a:prstDash val="solid"/>
          </a:ln>
        </p:spPr>
      </p:sp>
      <p:sp>
        <p:nvSpPr>
          <p:cNvPr id="16" name="Text 14"/>
          <p:cNvSpPr txBox="1"/>
          <p:nvPr/>
        </p:nvSpPr>
        <p:spPr>
          <a:xfrm>
            <a:off x="896112" y="2518258"/>
            <a:ext cx="5982919" cy="662026"/>
          </a:xfrm>
          <a:prstGeom prst="rect">
            <a:avLst/>
          </a:prstGeom>
          <a:noFill/>
          <a:ln/>
        </p:spPr>
        <p:txBody>
          <a:bodyPr wrap="square" lIns="0" tIns="0" rIns="0" bIns="0" rtlCol="0" anchor="ctr"/>
          <a:lstStyle/>
          <a:p>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نافذة مذيب الجلطة (</a:t>
            </a:r>
            <a:pPr rtl="1" algn="r" indent="0" marL="0">
              <a:lnSpc>
                <a:spcPct val="112000"/>
              </a:lnSpc>
              <a:buNone/>
            </a:pPr>
            <a:r>
              <a:rPr lang="en-US" sz="1400" dirty="0">
                <a:solidFill>
                  <a:srgbClr val="E8F1EE"/>
                </a:solidFill>
                <a:latin typeface="Segoe UI" pitchFamily="34" charset="0"/>
                <a:ea typeface="Segoe UI" pitchFamily="34" charset="-122"/>
                <a:cs typeface="Segoe UI" pitchFamily="34" charset="-120"/>
              </a:rPr>
              <a:t>alteplase</a:t>
            </a:r>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 xml:space="preserve">): </a:t>
            </a:r>
            <a:pPr rtl="1" algn="r" indent="0" marL="0">
              <a:lnSpc>
                <a:spcPct val="112000"/>
              </a:lnSpc>
              <a:buNone/>
            </a:pPr>
            <a:r>
              <a:rPr lang="ar-EG" sz="1400" b="1" dirty="0">
                <a:solidFill>
                  <a:srgbClr val="5EDCB0"/>
                </a:solidFill>
                <a:latin typeface="Segoe UI" pitchFamily="34" charset="0"/>
                <a:ea typeface="Segoe UI" pitchFamily="34" charset="-122"/>
                <a:cs typeface="Segoe UI" pitchFamily="34" charset="-120"/>
              </a:rPr>
              <a:t>٤٫٥ ساعة</a:t>
            </a:r>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 xml:space="preserve"> من بداية الأعراض بس</a:t>
            </a:r>
            <a:endParaRPr lang="en-US" sz="1400" dirty="0"/>
          </a:p>
        </p:txBody>
      </p:sp>
      <p:sp>
        <p:nvSpPr>
          <p:cNvPr id="17" name="Shape 15"/>
          <p:cNvSpPr/>
          <p:nvPr/>
        </p:nvSpPr>
        <p:spPr>
          <a:xfrm>
            <a:off x="566928" y="3390595"/>
            <a:ext cx="6805879" cy="771754"/>
          </a:xfrm>
          <a:prstGeom prst="roundRect">
            <a:avLst>
              <a:gd name="adj" fmla="val 10664"/>
            </a:avLst>
          </a:prstGeom>
          <a:solidFill>
            <a:srgbClr val="172B34">
              <a:alpha val="78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8" name="Shape 16"/>
          <p:cNvSpPr/>
          <p:nvPr/>
        </p:nvSpPr>
        <p:spPr>
          <a:xfrm>
            <a:off x="6988759" y="3717036"/>
            <a:ext cx="118872" cy="118872"/>
          </a:xfrm>
          <a:prstGeom prst="ellipse">
            <a:avLst/>
          </a:prstGeom>
          <a:solidFill>
            <a:srgbClr val="19A878"/>
          </a:solidFill>
          <a:ln w="12700">
            <a:solidFill>
              <a:srgbClr val="19A878"/>
            </a:solidFill>
            <a:prstDash val="solid"/>
          </a:ln>
        </p:spPr>
      </p:sp>
      <p:sp>
        <p:nvSpPr>
          <p:cNvPr id="19" name="Text 17"/>
          <p:cNvSpPr txBox="1"/>
          <p:nvPr/>
        </p:nvSpPr>
        <p:spPr>
          <a:xfrm>
            <a:off x="896112" y="3445459"/>
            <a:ext cx="5982919" cy="662026"/>
          </a:xfrm>
          <a:prstGeom prst="rect">
            <a:avLst/>
          </a:prstGeom>
          <a:noFill/>
          <a:ln/>
        </p:spPr>
        <p:txBody>
          <a:bodyPr wrap="square" lIns="0" tIns="0" rIns="0" bIns="0" rtlCol="0" anchor="ctr"/>
          <a:lstStyle/>
          <a:p>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 xml:space="preserve">الهدف داخل المستشفى: </a:t>
            </a:r>
            <a:pPr rtl="1" algn="r" indent="0" marL="0">
              <a:lnSpc>
                <a:spcPct val="112000"/>
              </a:lnSpc>
              <a:buNone/>
            </a:pPr>
            <a:r>
              <a:rPr lang="ar-EG" sz="1400" b="1" dirty="0">
                <a:solidFill>
                  <a:srgbClr val="5EDCB0"/>
                </a:solidFill>
                <a:latin typeface="Segoe UI" pitchFamily="34" charset="0"/>
                <a:ea typeface="Segoe UI" pitchFamily="34" charset="-122"/>
                <a:cs typeface="Segoe UI" pitchFamily="34" charset="-120"/>
              </a:rPr>
              <a:t>إبرة خلال ٦٠ دقيقة</a:t>
            </a:r>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 xml:space="preserve"> من الوصول (</a:t>
            </a:r>
            <a:pPr rtl="1" algn="r" indent="0" marL="0">
              <a:lnSpc>
                <a:spcPct val="112000"/>
              </a:lnSpc>
              <a:buNone/>
            </a:pPr>
            <a:r>
              <a:rPr lang="en-US" sz="1400" dirty="0">
                <a:solidFill>
                  <a:srgbClr val="E8F1EE"/>
                </a:solidFill>
                <a:latin typeface="Segoe UI" pitchFamily="34" charset="0"/>
                <a:ea typeface="Segoe UI" pitchFamily="34" charset="-122"/>
                <a:cs typeface="Segoe UI" pitchFamily="34" charset="-120"/>
              </a:rPr>
              <a:t>door-to-needle</a:t>
            </a:r>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a:t>
            </a:r>
            <a:endParaRPr lang="en-US" sz="1400" dirty="0"/>
          </a:p>
        </p:txBody>
      </p:sp>
      <p:sp>
        <p:nvSpPr>
          <p:cNvPr id="20" name="Shape 18"/>
          <p:cNvSpPr/>
          <p:nvPr/>
        </p:nvSpPr>
        <p:spPr>
          <a:xfrm>
            <a:off x="566928" y="4317797"/>
            <a:ext cx="6805879" cy="771754"/>
          </a:xfrm>
          <a:prstGeom prst="roundRect">
            <a:avLst>
              <a:gd name="adj" fmla="val 10664"/>
            </a:avLst>
          </a:prstGeom>
          <a:solidFill>
            <a:srgbClr val="172B34">
              <a:alpha val="78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1" name="Shape 19"/>
          <p:cNvSpPr/>
          <p:nvPr/>
        </p:nvSpPr>
        <p:spPr>
          <a:xfrm>
            <a:off x="6988759" y="4644238"/>
            <a:ext cx="118872" cy="118872"/>
          </a:xfrm>
          <a:prstGeom prst="ellipse">
            <a:avLst/>
          </a:prstGeom>
          <a:solidFill>
            <a:srgbClr val="19A878"/>
          </a:solidFill>
          <a:ln w="12700">
            <a:solidFill>
              <a:srgbClr val="19A878"/>
            </a:solidFill>
            <a:prstDash val="solid"/>
          </a:ln>
        </p:spPr>
      </p:sp>
      <p:sp>
        <p:nvSpPr>
          <p:cNvPr id="22" name="Text 20"/>
          <p:cNvSpPr txBox="1"/>
          <p:nvPr/>
        </p:nvSpPr>
        <p:spPr>
          <a:xfrm>
            <a:off x="896112" y="4372661"/>
            <a:ext cx="5982919" cy="662026"/>
          </a:xfrm>
          <a:prstGeom prst="rect">
            <a:avLst/>
          </a:prstGeom>
          <a:noFill/>
          <a:ln/>
        </p:spPr>
        <p:txBody>
          <a:bodyPr wrap="square" lIns="0" tIns="0" rIns="0" bIns="0" rtlCol="0" anchor="ctr"/>
          <a:lstStyle/>
          <a:p>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 xml:space="preserve">كل </a:t>
            </a:r>
            <a:pPr rtl="1" algn="r" indent="0" marL="0">
              <a:lnSpc>
                <a:spcPct val="112000"/>
              </a:lnSpc>
              <a:buNone/>
            </a:pPr>
            <a:r>
              <a:rPr lang="ar-EG" sz="1400" b="1" dirty="0">
                <a:solidFill>
                  <a:srgbClr val="5EDCB0"/>
                </a:solidFill>
                <a:latin typeface="Segoe UI" pitchFamily="34" charset="0"/>
                <a:ea typeface="Segoe UI" pitchFamily="34" charset="-122"/>
                <a:cs typeface="Segoe UI" pitchFamily="34" charset="-120"/>
              </a:rPr>
              <a:t>١٥ دقيقة</a:t>
            </a:r>
            <a:pPr rtl="1" algn="r" indent="0" marL="0">
              <a:lnSpc>
                <a:spcPct val="112000"/>
              </a:lnSpc>
              <a:buNone/>
            </a:pPr>
            <a:r>
              <a:rPr lang="ar-EG" sz="1400" dirty="0">
                <a:solidFill>
                  <a:srgbClr val="E8F1EE"/>
                </a:solidFill>
                <a:latin typeface="Segoe UI" pitchFamily="34" charset="0"/>
                <a:ea typeface="Segoe UI" pitchFamily="34" charset="-122"/>
                <a:cs typeface="Segoe UI" pitchFamily="34" charset="-120"/>
              </a:rPr>
              <a:t xml:space="preserve"> أسرع = وفيات أقل ونزيف أقل ومشي مستقل أكتر (٥٨٬٣٥٣ مريض)</a:t>
            </a:r>
            <a:endParaRPr lang="en-US" sz="1400" dirty="0"/>
          </a:p>
        </p:txBody>
      </p:sp>
      <p:sp>
        <p:nvSpPr>
          <p:cNvPr id="23" name="Shape 21"/>
          <p:cNvSpPr/>
          <p:nvPr/>
        </p:nvSpPr>
        <p:spPr>
          <a:xfrm>
            <a:off x="566928" y="5244998"/>
            <a:ext cx="6805879" cy="771754"/>
          </a:xfrm>
          <a:prstGeom prst="roundRect">
            <a:avLst>
              <a:gd name="adj" fmla="val 10664"/>
            </a:avLst>
          </a:prstGeom>
          <a:solidFill>
            <a:srgbClr val="0F5F45">
              <a:alpha val="45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4" name="Shape 22"/>
          <p:cNvSpPr/>
          <p:nvPr/>
        </p:nvSpPr>
        <p:spPr>
          <a:xfrm>
            <a:off x="6988759" y="5571439"/>
            <a:ext cx="118872" cy="118872"/>
          </a:xfrm>
          <a:prstGeom prst="ellipse">
            <a:avLst/>
          </a:prstGeom>
          <a:solidFill>
            <a:srgbClr val="5EDCB0"/>
          </a:solidFill>
          <a:ln w="12700">
            <a:solidFill>
              <a:srgbClr val="5EDCB0"/>
            </a:solidFill>
            <a:prstDash val="solid"/>
          </a:ln>
        </p:spPr>
      </p:sp>
      <p:sp>
        <p:nvSpPr>
          <p:cNvPr id="25" name="Text 23"/>
          <p:cNvSpPr txBox="1"/>
          <p:nvPr/>
        </p:nvSpPr>
        <p:spPr>
          <a:xfrm>
            <a:off x="896112" y="5299862"/>
            <a:ext cx="5982919" cy="662026"/>
          </a:xfrm>
          <a:prstGeom prst="rect">
            <a:avLst/>
          </a:prstGeom>
          <a:noFill/>
          <a:ln/>
        </p:spPr>
        <p:txBody>
          <a:bodyPr wrap="square" lIns="0" tIns="0" rIns="0" bIns="0" rtlCol="0" anchor="ctr"/>
          <a:lstStyle/>
          <a:p>
            <a:pPr rtl="1" algn="r" indent="0" marL="0">
              <a:lnSpc>
                <a:spcPct val="112000"/>
              </a:lnSpc>
              <a:buNone/>
            </a:pPr>
            <a:r>
              <a:rPr lang="ar-EG" sz="1400" dirty="0">
                <a:solidFill>
                  <a:srgbClr val="FFFFFF"/>
                </a:solidFill>
                <a:latin typeface="Segoe UI" pitchFamily="34" charset="0"/>
                <a:ea typeface="Segoe UI" pitchFamily="34" charset="-122"/>
                <a:cs typeface="Segoe UI" pitchFamily="34" charset="-120"/>
              </a:rPr>
              <a:t xml:space="preserve">يعني: القرار اللي بيتاخد في </a:t>
            </a:r>
            <a:pPr rtl="1" algn="r" indent="0" marL="0">
              <a:lnSpc>
                <a:spcPct val="112000"/>
              </a:lnSpc>
              <a:buNone/>
            </a:pPr>
            <a:r>
              <a:rPr lang="ar-EG" sz="1400" b="1" dirty="0">
                <a:solidFill>
                  <a:srgbClr val="5EDCB0"/>
                </a:solidFill>
                <a:latin typeface="Segoe UI" pitchFamily="34" charset="0"/>
                <a:ea typeface="Segoe UI" pitchFamily="34" charset="-122"/>
                <a:cs typeface="Segoe UI" pitchFamily="34" charset="-120"/>
              </a:rPr>
              <a:t>البيت</a:t>
            </a:r>
            <a:pPr rtl="1" algn="r" indent="0" marL="0">
              <a:lnSpc>
                <a:spcPct val="112000"/>
              </a:lnSpc>
              <a:buNone/>
            </a:pPr>
            <a:r>
              <a:rPr lang="ar-EG" sz="1400" dirty="0">
                <a:solidFill>
                  <a:srgbClr val="FFFFFF"/>
                </a:solidFill>
                <a:latin typeface="Segoe UI" pitchFamily="34" charset="0"/>
                <a:ea typeface="Segoe UI" pitchFamily="34" charset="-122"/>
                <a:cs typeface="Segoe UI" pitchFamily="34" charset="-120"/>
              </a:rPr>
              <a:t xml:space="preserve"> هو اللي بيحدد النتيجة</a:t>
            </a:r>
            <a:endParaRPr lang="en-US" sz="1400" dirty="0"/>
          </a:p>
        </p:txBody>
      </p:sp>
      <p:sp>
        <p:nvSpPr>
          <p:cNvPr id="26" name="Text 24"/>
          <p:cNvSpPr txBox="1"/>
          <p:nvPr/>
        </p:nvSpPr>
        <p:spPr>
          <a:xfrm>
            <a:off x="2304288" y="6309360"/>
            <a:ext cx="9320479" cy="347472"/>
          </a:xfrm>
          <a:prstGeom prst="rect">
            <a:avLst/>
          </a:prstGeom>
          <a:noFill/>
          <a:ln/>
        </p:spPr>
        <p:txBody>
          <a:bodyPr wrap="square" lIns="0" tIns="0" rIns="0" bIns="0" rtlCol="0" anchor="ctr"/>
          <a:lstStyle/>
          <a:p>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المصادر: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Saver</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Stroke</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AHA</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٢٠٠٦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AHA/ASA Guidelines</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٢٠١٩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Saver</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Fonarow</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Smith et al.</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JAMA</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٢٠١٣</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المشكلة</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500" b="1" dirty="0">
                <a:solidFill>
                  <a:srgbClr val="FFFFFF"/>
                </a:solidFill>
                <a:latin typeface="Segoe UI" pitchFamily="34" charset="0"/>
                <a:ea typeface="Segoe UI" pitchFamily="34" charset="-122"/>
                <a:cs typeface="Segoe UI" pitchFamily="34" charset="-120"/>
              </a:rPr>
              <a:t>الفجوة المصرية — الوصول بيتأخر، مش العلاج مش موجود</a:t>
            </a:r>
            <a:endParaRPr lang="en-US" sz="25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٠٤ / ١٨</a:t>
            </a:r>
            <a:endParaRPr lang="en-US" sz="950" dirty="0"/>
          </a:p>
        </p:txBody>
      </p:sp>
      <p:sp>
        <p:nvSpPr>
          <p:cNvPr id="5" name="Shape 3"/>
          <p:cNvSpPr/>
          <p:nvPr/>
        </p:nvSpPr>
        <p:spPr>
          <a:xfrm>
            <a:off x="566928" y="1536192"/>
            <a:ext cx="11057839" cy="640080"/>
          </a:xfrm>
          <a:prstGeom prst="roundRect">
            <a:avLst>
              <a:gd name="adj" fmla="val 12857"/>
            </a:avLst>
          </a:prstGeom>
          <a:solidFill>
            <a:srgbClr val="172B34">
              <a:alpha val="80000"/>
            </a:srgbClr>
          </a:solidFill>
          <a:ln w="9525">
            <a:solidFill>
              <a:srgbClr val="43303A"/>
            </a:solidFill>
            <a:prstDash val="solid"/>
          </a:ln>
          <a:effectLst>
            <a:outerShdw sx="100000" sy="100000" kx="0" ky="0" algn="bl" rotWithShape="0" blurRad="152400" dist="25400" dir="5400000">
              <a:srgbClr val="000000">
                <a:alpha val="30000"/>
              </a:srgbClr>
            </a:outerShdw>
          </a:effectLst>
        </p:spPr>
      </p:sp>
      <p:sp>
        <p:nvSpPr>
          <p:cNvPr id="6" name="Text 4"/>
          <p:cNvSpPr/>
          <p:nvPr/>
        </p:nvSpPr>
        <p:spPr>
          <a:xfrm>
            <a:off x="9603943" y="1618488"/>
            <a:ext cx="1874520" cy="475488"/>
          </a:xfrm>
          <a:prstGeom prst="roundRect">
            <a:avLst>
              <a:gd name="adj" fmla="val 13462"/>
            </a:avLst>
          </a:prstGeom>
          <a:solidFill>
            <a:srgbClr val="D94B4B"/>
          </a:solidFill>
          <a:ln w="9525">
            <a:solidFill>
              <a:srgbClr val="D94B4B"/>
            </a:solidFill>
          </a:ln>
        </p:spPr>
        <p:txBody>
          <a:bodyPr wrap="square" lIns="0" tIns="0" rIns="0" bIns="0" rtlCol="0" anchor="ctr"/>
          <a:lstStyle/>
          <a:p>
            <a:pPr rtl="1" algn="ctr" indent="0" marL="0">
              <a:buNone/>
            </a:pPr>
            <a:r>
              <a:rPr lang="ar-EG" sz="1700" b="1" dirty="0">
                <a:solidFill>
                  <a:srgbClr val="FFF2F2"/>
                </a:solidFill>
                <a:latin typeface="Segoe UI" pitchFamily="34" charset="0"/>
                <a:ea typeface="Segoe UI" pitchFamily="34" charset="-122"/>
                <a:cs typeface="Segoe UI" pitchFamily="34" charset="-120"/>
              </a:rPr>
              <a:t>٧١٫٢٪</a:t>
            </a:r>
            <a:endParaRPr lang="en-US" sz="1700" dirty="0"/>
          </a:p>
        </p:txBody>
      </p:sp>
      <p:sp>
        <p:nvSpPr>
          <p:cNvPr id="7" name="Text 5"/>
          <p:cNvSpPr txBox="1"/>
          <p:nvPr/>
        </p:nvSpPr>
        <p:spPr>
          <a:xfrm>
            <a:off x="877824" y="1581912"/>
            <a:ext cx="8543239" cy="548640"/>
          </a:xfrm>
          <a:prstGeom prst="rect">
            <a:avLst/>
          </a:prstGeom>
          <a:noFill/>
          <a:ln/>
        </p:spPr>
        <p:txBody>
          <a:bodyPr wrap="square" lIns="0" tIns="0" rIns="0" bIns="0" rtlCol="0" anchor="ctr"/>
          <a:lstStyle/>
          <a:p>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من مرضى الجلطة في مصر وصلوا المستشفى </a:t>
            </a:r>
            <a:pPr rtl="1" algn="r" indent="0" marL="0">
              <a:lnSpc>
                <a:spcPct val="110000"/>
              </a:lnSpc>
              <a:buNone/>
            </a:pPr>
            <a:r>
              <a:rPr lang="ar-EG" sz="1400" b="1" dirty="0">
                <a:solidFill>
                  <a:srgbClr val="F79191"/>
                </a:solidFill>
                <a:latin typeface="Segoe UI" pitchFamily="34" charset="0"/>
                <a:ea typeface="Segoe UI" pitchFamily="34" charset="-122"/>
                <a:cs typeface="Segoe UI" pitchFamily="34" charset="-120"/>
              </a:rPr>
              <a:t>بعد ٤ ساعات</a:t>
            </a:r>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 (٢٥٤ مريض، ٢٠٢١)</a:t>
            </a:r>
            <a:endParaRPr lang="en-US" sz="1400" dirty="0"/>
          </a:p>
        </p:txBody>
      </p:sp>
      <p:sp>
        <p:nvSpPr>
          <p:cNvPr id="8" name="Shape 6"/>
          <p:cNvSpPr/>
          <p:nvPr/>
        </p:nvSpPr>
        <p:spPr>
          <a:xfrm>
            <a:off x="566928" y="2304288"/>
            <a:ext cx="11057839" cy="640080"/>
          </a:xfrm>
          <a:prstGeom prst="roundRect">
            <a:avLst>
              <a:gd name="adj" fmla="val 12857"/>
            </a:avLst>
          </a:prstGeom>
          <a:solidFill>
            <a:srgbClr val="172B34">
              <a:alpha val="80000"/>
            </a:srgbClr>
          </a:solidFill>
          <a:ln w="9525">
            <a:solidFill>
              <a:srgbClr val="43303A"/>
            </a:solidFill>
            <a:prstDash val="solid"/>
          </a:ln>
          <a:effectLst>
            <a:outerShdw sx="100000" sy="100000" kx="0" ky="0" algn="bl" rotWithShape="0" blurRad="152400" dist="25400" dir="5400000">
              <a:srgbClr val="000000">
                <a:alpha val="30000"/>
              </a:srgbClr>
            </a:outerShdw>
          </a:effectLst>
        </p:spPr>
      </p:sp>
      <p:sp>
        <p:nvSpPr>
          <p:cNvPr id="9" name="Text 7"/>
          <p:cNvSpPr/>
          <p:nvPr/>
        </p:nvSpPr>
        <p:spPr>
          <a:xfrm>
            <a:off x="9603943" y="2386584"/>
            <a:ext cx="1874520" cy="475488"/>
          </a:xfrm>
          <a:prstGeom prst="roundRect">
            <a:avLst>
              <a:gd name="adj" fmla="val 13462"/>
            </a:avLst>
          </a:prstGeom>
          <a:solidFill>
            <a:srgbClr val="D94B4B"/>
          </a:solidFill>
          <a:ln w="9525">
            <a:solidFill>
              <a:srgbClr val="D94B4B"/>
            </a:solidFill>
          </a:ln>
        </p:spPr>
        <p:txBody>
          <a:bodyPr wrap="square" lIns="0" tIns="0" rIns="0" bIns="0" rtlCol="0" anchor="ctr"/>
          <a:lstStyle/>
          <a:p>
            <a:pPr rtl="1" algn="ctr" indent="0" marL="0">
              <a:buNone/>
            </a:pPr>
            <a:r>
              <a:rPr lang="ar-EG" sz="1700" b="1" dirty="0">
                <a:solidFill>
                  <a:srgbClr val="FFF2F2"/>
                </a:solidFill>
                <a:latin typeface="Segoe UI" pitchFamily="34" charset="0"/>
                <a:ea typeface="Segoe UI" pitchFamily="34" charset="-122"/>
                <a:cs typeface="Segoe UI" pitchFamily="34" charset="-120"/>
              </a:rPr>
              <a:t>٩٢٫١٪</a:t>
            </a:r>
            <a:endParaRPr lang="en-US" sz="1700" dirty="0"/>
          </a:p>
        </p:txBody>
      </p:sp>
      <p:sp>
        <p:nvSpPr>
          <p:cNvPr id="10" name="Text 8"/>
          <p:cNvSpPr txBox="1"/>
          <p:nvPr/>
        </p:nvSpPr>
        <p:spPr>
          <a:xfrm>
            <a:off x="877824" y="2350008"/>
            <a:ext cx="8543239" cy="548640"/>
          </a:xfrm>
          <a:prstGeom prst="rect">
            <a:avLst/>
          </a:prstGeom>
          <a:noFill/>
          <a:ln/>
        </p:spPr>
        <p:txBody>
          <a:bodyPr wrap="square" lIns="0" tIns="0" rIns="0" bIns="0" rtlCol="0" anchor="ctr"/>
          <a:lstStyle/>
          <a:p>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جم بعربية خاصة — </a:t>
            </a:r>
            <a:pPr rtl="1" algn="r" indent="0" marL="0">
              <a:lnSpc>
                <a:spcPct val="110000"/>
              </a:lnSpc>
              <a:buNone/>
            </a:pPr>
            <a:r>
              <a:rPr lang="ar-EG" sz="1400" b="1" dirty="0">
                <a:solidFill>
                  <a:srgbClr val="F79191"/>
                </a:solidFill>
                <a:latin typeface="Segoe UI" pitchFamily="34" charset="0"/>
                <a:ea typeface="Segoe UI" pitchFamily="34" charset="-122"/>
                <a:cs typeface="Segoe UI" pitchFamily="34" charset="-120"/>
              </a:rPr>
              <a:t>استخدام الإسعاف شبه معدوم</a:t>
            </a:r>
            <a:endParaRPr lang="en-US" sz="1400" dirty="0"/>
          </a:p>
        </p:txBody>
      </p:sp>
      <p:sp>
        <p:nvSpPr>
          <p:cNvPr id="11" name="Shape 9"/>
          <p:cNvSpPr/>
          <p:nvPr/>
        </p:nvSpPr>
        <p:spPr>
          <a:xfrm>
            <a:off x="566928" y="3072384"/>
            <a:ext cx="11057839" cy="640080"/>
          </a:xfrm>
          <a:prstGeom prst="roundRect">
            <a:avLst>
              <a:gd name="adj" fmla="val 12857"/>
            </a:avLst>
          </a:prstGeom>
          <a:solidFill>
            <a:srgbClr val="172B34">
              <a:alpha val="80000"/>
            </a:srgbClr>
          </a:solidFill>
          <a:ln w="9525">
            <a:solidFill>
              <a:srgbClr val="43303A"/>
            </a:solidFill>
            <a:prstDash val="solid"/>
          </a:ln>
          <a:effectLst>
            <a:outerShdw sx="100000" sy="100000" kx="0" ky="0" algn="bl" rotWithShape="0" blurRad="152400" dist="25400" dir="5400000">
              <a:srgbClr val="000000">
                <a:alpha val="30000"/>
              </a:srgbClr>
            </a:outerShdw>
          </a:effectLst>
        </p:spPr>
      </p:sp>
      <p:sp>
        <p:nvSpPr>
          <p:cNvPr id="12" name="Text 10"/>
          <p:cNvSpPr/>
          <p:nvPr/>
        </p:nvSpPr>
        <p:spPr>
          <a:xfrm>
            <a:off x="9603943" y="3154680"/>
            <a:ext cx="1874520" cy="475488"/>
          </a:xfrm>
          <a:prstGeom prst="roundRect">
            <a:avLst>
              <a:gd name="adj" fmla="val 13462"/>
            </a:avLst>
          </a:prstGeom>
          <a:solidFill>
            <a:srgbClr val="D94B4B"/>
          </a:solidFill>
          <a:ln w="9525">
            <a:solidFill>
              <a:srgbClr val="D94B4B"/>
            </a:solidFill>
          </a:ln>
        </p:spPr>
        <p:txBody>
          <a:bodyPr wrap="square" lIns="0" tIns="0" rIns="0" bIns="0" rtlCol="0" anchor="ctr"/>
          <a:lstStyle/>
          <a:p>
            <a:pPr rtl="1" algn="ctr" indent="0" marL="0">
              <a:buNone/>
            </a:pPr>
            <a:r>
              <a:rPr lang="ar-EG" sz="1700" b="1" dirty="0">
                <a:solidFill>
                  <a:srgbClr val="FFF2F2"/>
                </a:solidFill>
                <a:latin typeface="Segoe UI" pitchFamily="34" charset="0"/>
                <a:ea typeface="Segoe UI" pitchFamily="34" charset="-122"/>
                <a:cs typeface="Segoe UI" pitchFamily="34" charset="-120"/>
              </a:rPr>
              <a:t>٣٧٫٧٪</a:t>
            </a:r>
            <a:endParaRPr lang="en-US" sz="1700" dirty="0"/>
          </a:p>
        </p:txBody>
      </p:sp>
      <p:sp>
        <p:nvSpPr>
          <p:cNvPr id="13" name="Text 11"/>
          <p:cNvSpPr txBox="1"/>
          <p:nvPr/>
        </p:nvSpPr>
        <p:spPr>
          <a:xfrm>
            <a:off x="877824" y="3118104"/>
            <a:ext cx="8543239" cy="548640"/>
          </a:xfrm>
          <a:prstGeom prst="rect">
            <a:avLst/>
          </a:prstGeom>
          <a:noFill/>
          <a:ln/>
        </p:spPr>
        <p:txBody>
          <a:bodyPr wrap="square" lIns="0" tIns="0" rIns="0" bIns="0" rtlCol="0" anchor="ctr"/>
          <a:lstStyle/>
          <a:p>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من التأخير سببه: </a:t>
            </a:r>
            <a:pPr rtl="1" algn="r" indent="0" marL="0">
              <a:lnSpc>
                <a:spcPct val="110000"/>
              </a:lnSpc>
              <a:buNone/>
            </a:pPr>
            <a:r>
              <a:rPr lang="ar-EG" sz="1400" b="1" dirty="0">
                <a:solidFill>
                  <a:srgbClr val="F79191"/>
                </a:solidFill>
                <a:latin typeface="Segoe UI" pitchFamily="34" charset="0"/>
                <a:ea typeface="Segoe UI" pitchFamily="34" charset="-122"/>
                <a:cs typeface="Segoe UI" pitchFamily="34" charset="-120"/>
              </a:rPr>
              <a:t>مش مدركين إن الحالة عاجلة</a:t>
            </a:r>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 أو استنوا الأعراض تروح</a:t>
            </a:r>
            <a:endParaRPr lang="en-US" sz="1400" dirty="0"/>
          </a:p>
        </p:txBody>
      </p:sp>
      <p:sp>
        <p:nvSpPr>
          <p:cNvPr id="14" name="Shape 12"/>
          <p:cNvSpPr/>
          <p:nvPr/>
        </p:nvSpPr>
        <p:spPr>
          <a:xfrm>
            <a:off x="566928" y="3840480"/>
            <a:ext cx="11057839" cy="640080"/>
          </a:xfrm>
          <a:prstGeom prst="roundRect">
            <a:avLst>
              <a:gd name="adj" fmla="val 12857"/>
            </a:avLst>
          </a:prstGeom>
          <a:solidFill>
            <a:srgbClr val="172B34">
              <a:alpha val="80000"/>
            </a:srgbClr>
          </a:solidFill>
          <a:ln w="9525">
            <a:solidFill>
              <a:srgbClr val="43303A"/>
            </a:solidFill>
            <a:prstDash val="solid"/>
          </a:ln>
          <a:effectLst>
            <a:outerShdw sx="100000" sy="100000" kx="0" ky="0" algn="bl" rotWithShape="0" blurRad="152400" dist="25400" dir="5400000">
              <a:srgbClr val="000000">
                <a:alpha val="30000"/>
              </a:srgbClr>
            </a:outerShdw>
          </a:effectLst>
        </p:spPr>
      </p:sp>
      <p:sp>
        <p:nvSpPr>
          <p:cNvPr id="15" name="Text 13"/>
          <p:cNvSpPr/>
          <p:nvPr/>
        </p:nvSpPr>
        <p:spPr>
          <a:xfrm>
            <a:off x="9603943" y="3922776"/>
            <a:ext cx="1874520" cy="475488"/>
          </a:xfrm>
          <a:prstGeom prst="roundRect">
            <a:avLst>
              <a:gd name="adj" fmla="val 13462"/>
            </a:avLst>
          </a:prstGeom>
          <a:solidFill>
            <a:srgbClr val="D94B4B"/>
          </a:solidFill>
          <a:ln w="9525">
            <a:solidFill>
              <a:srgbClr val="D94B4B"/>
            </a:solidFill>
          </a:ln>
        </p:spPr>
        <p:txBody>
          <a:bodyPr wrap="square" lIns="0" tIns="0" rIns="0" bIns="0" rtlCol="0" anchor="ctr"/>
          <a:lstStyle/>
          <a:p>
            <a:pPr rtl="1" algn="ctr" indent="0" marL="0">
              <a:buNone/>
            </a:pPr>
            <a:r>
              <a:rPr lang="ar-EG" sz="1700" b="1" dirty="0">
                <a:solidFill>
                  <a:srgbClr val="FFF2F2"/>
                </a:solidFill>
                <a:latin typeface="Segoe UI" pitchFamily="34" charset="0"/>
                <a:ea typeface="Segoe UI" pitchFamily="34" charset="-122"/>
                <a:cs typeface="Segoe UI" pitchFamily="34" charset="-120"/>
              </a:rPr>
              <a:t>١٢٪ بس</a:t>
            </a:r>
            <a:endParaRPr lang="en-US" sz="1700" dirty="0"/>
          </a:p>
        </p:txBody>
      </p:sp>
      <p:sp>
        <p:nvSpPr>
          <p:cNvPr id="16" name="Text 14"/>
          <p:cNvSpPr txBox="1"/>
          <p:nvPr/>
        </p:nvSpPr>
        <p:spPr>
          <a:xfrm>
            <a:off x="877824" y="3886200"/>
            <a:ext cx="8543239" cy="548640"/>
          </a:xfrm>
          <a:prstGeom prst="rect">
            <a:avLst/>
          </a:prstGeom>
          <a:noFill/>
          <a:ln/>
        </p:spPr>
        <p:txBody>
          <a:bodyPr wrap="square" lIns="0" tIns="0" rIns="0" bIns="0" rtlCol="0" anchor="ctr"/>
          <a:lstStyle/>
          <a:p>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في الريف وصلوا خلال ٤٫٥ ساعة مقابل </a:t>
            </a:r>
            <a:pPr rtl="1" algn="r" indent="0" marL="0">
              <a:lnSpc>
                <a:spcPct val="110000"/>
              </a:lnSpc>
              <a:buNone/>
            </a:pPr>
            <a:r>
              <a:rPr lang="ar-EG" sz="1400" b="1" dirty="0">
                <a:solidFill>
                  <a:srgbClr val="F79191"/>
                </a:solidFill>
                <a:latin typeface="Segoe UI" pitchFamily="34" charset="0"/>
                <a:ea typeface="Segoe UI" pitchFamily="34" charset="-122"/>
                <a:cs typeface="Segoe UI" pitchFamily="34" charset="-120"/>
              </a:rPr>
              <a:t>٤٧٫٦٪</a:t>
            </a:r>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 في الحضر (٦١٨ مريض)</a:t>
            </a:r>
            <a:endParaRPr lang="en-US" sz="1400" dirty="0"/>
          </a:p>
        </p:txBody>
      </p:sp>
      <p:sp>
        <p:nvSpPr>
          <p:cNvPr id="17" name="Shape 15"/>
          <p:cNvSpPr/>
          <p:nvPr/>
        </p:nvSpPr>
        <p:spPr>
          <a:xfrm>
            <a:off x="566928" y="4608576"/>
            <a:ext cx="11057839" cy="640080"/>
          </a:xfrm>
          <a:prstGeom prst="roundRect">
            <a:avLst>
              <a:gd name="adj" fmla="val 12857"/>
            </a:avLst>
          </a:prstGeom>
          <a:solidFill>
            <a:srgbClr val="172B34">
              <a:alpha val="80000"/>
            </a:srgbClr>
          </a:solidFill>
          <a:ln w="9525">
            <a:solidFill>
              <a:srgbClr val="43303A"/>
            </a:solidFill>
            <a:prstDash val="solid"/>
          </a:ln>
          <a:effectLst>
            <a:outerShdw sx="100000" sy="100000" kx="0" ky="0" algn="bl" rotWithShape="0" blurRad="152400" dist="25400" dir="5400000">
              <a:srgbClr val="000000">
                <a:alpha val="30000"/>
              </a:srgbClr>
            </a:outerShdw>
          </a:effectLst>
        </p:spPr>
      </p:sp>
      <p:sp>
        <p:nvSpPr>
          <p:cNvPr id="18" name="Text 16"/>
          <p:cNvSpPr/>
          <p:nvPr/>
        </p:nvSpPr>
        <p:spPr>
          <a:xfrm>
            <a:off x="9603943" y="4690872"/>
            <a:ext cx="1874520" cy="475488"/>
          </a:xfrm>
          <a:prstGeom prst="roundRect">
            <a:avLst>
              <a:gd name="adj" fmla="val 13462"/>
            </a:avLst>
          </a:prstGeom>
          <a:solidFill>
            <a:srgbClr val="D94B4B"/>
          </a:solidFill>
          <a:ln w="9525">
            <a:solidFill>
              <a:srgbClr val="D94B4B"/>
            </a:solidFill>
          </a:ln>
        </p:spPr>
        <p:txBody>
          <a:bodyPr wrap="square" lIns="0" tIns="0" rIns="0" bIns="0" rtlCol="0" anchor="ctr"/>
          <a:lstStyle/>
          <a:p>
            <a:pPr rtl="1" algn="ctr" indent="0" marL="0">
              <a:buNone/>
            </a:pPr>
            <a:r>
              <a:rPr lang="ar-EG" sz="1400" b="1" dirty="0">
                <a:solidFill>
                  <a:srgbClr val="FFF2F2"/>
                </a:solidFill>
                <a:latin typeface="Segoe UI" pitchFamily="34" charset="0"/>
                <a:ea typeface="Segoe UI" pitchFamily="34" charset="-122"/>
                <a:cs typeface="Segoe UI" pitchFamily="34" charset="-120"/>
              </a:rPr>
              <a:t>٨٠٤ دقيقة</a:t>
            </a:r>
            <a:endParaRPr lang="en-US" sz="1400" dirty="0"/>
          </a:p>
        </p:txBody>
      </p:sp>
      <p:sp>
        <p:nvSpPr>
          <p:cNvPr id="19" name="Text 17"/>
          <p:cNvSpPr txBox="1"/>
          <p:nvPr/>
        </p:nvSpPr>
        <p:spPr>
          <a:xfrm>
            <a:off x="877824" y="4654296"/>
            <a:ext cx="8543239" cy="548640"/>
          </a:xfrm>
          <a:prstGeom prst="rect">
            <a:avLst/>
          </a:prstGeom>
          <a:noFill/>
          <a:ln/>
        </p:spPr>
        <p:txBody>
          <a:bodyPr wrap="square" lIns="0" tIns="0" rIns="0" bIns="0" rtlCol="0" anchor="ctr"/>
          <a:lstStyle/>
          <a:p>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زمن الوصول في الريف مقابل </a:t>
            </a:r>
            <a:pPr rtl="1" algn="r" indent="0" marL="0">
              <a:lnSpc>
                <a:spcPct val="110000"/>
              </a:lnSpc>
              <a:buNone/>
            </a:pPr>
            <a:r>
              <a:rPr lang="ar-EG" sz="1400" b="1" dirty="0">
                <a:solidFill>
                  <a:srgbClr val="F79191"/>
                </a:solidFill>
                <a:latin typeface="Segoe UI" pitchFamily="34" charset="0"/>
                <a:ea typeface="Segoe UI" pitchFamily="34" charset="-122"/>
                <a:cs typeface="Segoe UI" pitchFamily="34" charset="-120"/>
              </a:rPr>
              <a:t>٥٢٢</a:t>
            </a:r>
            <a:pPr rtl="1" algn="r" indent="0" marL="0">
              <a:lnSpc>
                <a:spcPct val="110000"/>
              </a:lnSpc>
              <a:buNone/>
            </a:pPr>
            <a:r>
              <a:rPr lang="ar-EG" sz="1400" dirty="0">
                <a:solidFill>
                  <a:srgbClr val="E8F1EE"/>
                </a:solidFill>
                <a:latin typeface="Segoe UI" pitchFamily="34" charset="0"/>
                <a:ea typeface="Segoe UI" pitchFamily="34" charset="-122"/>
                <a:cs typeface="Segoe UI" pitchFamily="34" charset="-120"/>
              </a:rPr>
              <a:t xml:space="preserve"> في الحضر — </a:t>
            </a:r>
            <a:pPr rtl="1" algn="r" indent="0" marL="0">
              <a:lnSpc>
                <a:spcPct val="110000"/>
              </a:lnSpc>
              <a:buNone/>
            </a:pPr>
            <a:r>
              <a:rPr lang="ar-EG" sz="1400" b="1" dirty="0">
                <a:solidFill>
                  <a:srgbClr val="F79191"/>
                </a:solidFill>
                <a:latin typeface="Segoe UI" pitchFamily="34" charset="0"/>
                <a:ea typeface="Segoe UI" pitchFamily="34" charset="-122"/>
                <a:cs typeface="Segoe UI" pitchFamily="34" charset="-120"/>
              </a:rPr>
              <a:t>خارج النافذة</a:t>
            </a:r>
            <a:endParaRPr lang="en-US" sz="1400" dirty="0"/>
          </a:p>
        </p:txBody>
      </p:sp>
      <p:sp>
        <p:nvSpPr>
          <p:cNvPr id="20" name="Shape 18"/>
          <p:cNvSpPr/>
          <p:nvPr/>
        </p:nvSpPr>
        <p:spPr>
          <a:xfrm>
            <a:off x="566928" y="5376672"/>
            <a:ext cx="11057839" cy="640080"/>
          </a:xfrm>
          <a:prstGeom prst="roundRect">
            <a:avLst>
              <a:gd name="adj" fmla="val 12857"/>
            </a:avLst>
          </a:prstGeom>
          <a:solidFill>
            <a:srgbClr val="0F5F45">
              <a:alpha val="42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1" name="Text 19"/>
          <p:cNvSpPr/>
          <p:nvPr/>
        </p:nvSpPr>
        <p:spPr>
          <a:xfrm>
            <a:off x="9603943" y="5458968"/>
            <a:ext cx="1874520" cy="475488"/>
          </a:xfrm>
          <a:prstGeom prst="roundRect">
            <a:avLst>
              <a:gd name="adj" fmla="val 13462"/>
            </a:avLst>
          </a:prstGeom>
          <a:solidFill>
            <a:srgbClr val="19A878"/>
          </a:solidFill>
          <a:ln w="9525">
            <a:solidFill>
              <a:srgbClr val="19A878"/>
            </a:solidFill>
          </a:ln>
        </p:spPr>
        <p:txBody>
          <a:bodyPr wrap="square" lIns="0" tIns="0" rIns="0" bIns="0" rtlCol="0" anchor="ctr"/>
          <a:lstStyle/>
          <a:p>
            <a:pPr rtl="1" algn="ctr" indent="0" marL="0">
              <a:buNone/>
            </a:pPr>
            <a:r>
              <a:rPr lang="ar-EG" sz="1700" b="1" dirty="0">
                <a:solidFill>
                  <a:srgbClr val="06181A"/>
                </a:solidFill>
                <a:latin typeface="Segoe UI" pitchFamily="34" charset="0"/>
                <a:ea typeface="Segoe UI" pitchFamily="34" charset="-122"/>
                <a:cs typeface="Segoe UI" pitchFamily="34" charset="-120"/>
              </a:rPr>
              <a:t>١٢٫٣٪</a:t>
            </a:r>
            <a:endParaRPr lang="en-US" sz="1700" dirty="0"/>
          </a:p>
        </p:txBody>
      </p:sp>
      <p:sp>
        <p:nvSpPr>
          <p:cNvPr id="22" name="Text 20"/>
          <p:cNvSpPr txBox="1"/>
          <p:nvPr/>
        </p:nvSpPr>
        <p:spPr>
          <a:xfrm>
            <a:off x="877824" y="5422392"/>
            <a:ext cx="8543239" cy="548640"/>
          </a:xfrm>
          <a:prstGeom prst="rect">
            <a:avLst/>
          </a:prstGeom>
          <a:noFill/>
          <a:ln/>
        </p:spPr>
        <p:txBody>
          <a:bodyPr wrap="square" lIns="0" tIns="0" rIns="0" bIns="0" rtlCol="0" anchor="ctr"/>
          <a:lstStyle/>
          <a:p>
            <a:pPr rtl="1" algn="r" indent="0" marL="0">
              <a:lnSpc>
                <a:spcPct val="110000"/>
              </a:lnSpc>
              <a:buNone/>
            </a:pPr>
            <a:r>
              <a:rPr lang="ar-EG" sz="1400" dirty="0">
                <a:solidFill>
                  <a:srgbClr val="FFFFFF"/>
                </a:solidFill>
                <a:latin typeface="Segoe UI" pitchFamily="34" charset="0"/>
                <a:ea typeface="Segoe UI" pitchFamily="34" charset="-122"/>
                <a:cs typeface="Segoe UI" pitchFamily="34" charset="-120"/>
              </a:rPr>
              <a:t xml:space="preserve">نسبة التذويب في مصر دلوقتي — ارتفعت من </a:t>
            </a:r>
            <a:pPr rtl="1" algn="r" indent="0" marL="0">
              <a:lnSpc>
                <a:spcPct val="110000"/>
              </a:lnSpc>
              <a:buNone/>
            </a:pPr>
            <a:r>
              <a:rPr lang="ar-EG" sz="1400" b="1" dirty="0">
                <a:solidFill>
                  <a:srgbClr val="5EDCB0"/>
                </a:solidFill>
                <a:latin typeface="Segoe UI" pitchFamily="34" charset="0"/>
                <a:ea typeface="Segoe UI" pitchFamily="34" charset="-122"/>
                <a:cs typeface="Segoe UI" pitchFamily="34" charset="-120"/>
              </a:rPr>
              <a:t>أقل من ١٪</a:t>
            </a:r>
            <a:pPr rtl="1" algn="r" indent="0" marL="0">
              <a:lnSpc>
                <a:spcPct val="110000"/>
              </a:lnSpc>
              <a:buNone/>
            </a:pPr>
            <a:r>
              <a:rPr lang="ar-EG" sz="1400" dirty="0">
                <a:solidFill>
                  <a:srgbClr val="FFFFFF"/>
                </a:solidFill>
                <a:latin typeface="Segoe UI" pitchFamily="34" charset="0"/>
                <a:ea typeface="Segoe UI" pitchFamily="34" charset="-122"/>
                <a:cs typeface="Segoe UI" pitchFamily="34" charset="-120"/>
              </a:rPr>
              <a:t xml:space="preserve">، </a:t>
            </a:r>
            <a:pPr rtl="1" algn="r" indent="0" marL="0">
              <a:lnSpc>
                <a:spcPct val="110000"/>
              </a:lnSpc>
              <a:buNone/>
            </a:pPr>
            <a:r>
              <a:rPr lang="ar-EG" sz="1400" b="1" dirty="0">
                <a:solidFill>
                  <a:srgbClr val="5EDCB0"/>
                </a:solidFill>
                <a:latin typeface="Segoe UI" pitchFamily="34" charset="0"/>
                <a:ea typeface="Segoe UI" pitchFamily="34" charset="-122"/>
                <a:cs typeface="Segoe UI" pitchFamily="34" charset="-120"/>
              </a:rPr>
              <a:t>والعلاج موجود فعلًا</a:t>
            </a:r>
            <a:endParaRPr lang="en-US" sz="1400" dirty="0"/>
          </a:p>
        </p:txBody>
      </p:sp>
      <p:sp>
        <p:nvSpPr>
          <p:cNvPr id="23" name="Text 21"/>
          <p:cNvSpPr txBox="1"/>
          <p:nvPr/>
        </p:nvSpPr>
        <p:spPr>
          <a:xfrm>
            <a:off x="2304288" y="6309360"/>
            <a:ext cx="9320479" cy="347472"/>
          </a:xfrm>
          <a:prstGeom prst="rect">
            <a:avLst/>
          </a:prstGeom>
          <a:noFill/>
          <a:ln/>
        </p:spPr>
        <p:txBody>
          <a:bodyPr wrap="square" lIns="0" tIns="0" rIns="0" bIns="0" rtlCol="0" anchor="ctr"/>
          <a:lstStyle/>
          <a:p>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المصادر: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PLOS ONE</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٢٠٢١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Frontiers in Neurology</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٢٠٢٣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Cerebrovascular Diseases Extra</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Karger</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٢٠٢١</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المشكلة</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الأعراض الصامتة — اللي محدش بيلاحظه</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٠٥ / ١٨</a:t>
            </a:r>
            <a:endParaRPr lang="en-US" sz="950" dirty="0"/>
          </a:p>
        </p:txBody>
      </p:sp>
      <p:sp>
        <p:nvSpPr>
          <p:cNvPr id="5" name="Shape 3"/>
          <p:cNvSpPr/>
          <p:nvPr/>
        </p:nvSpPr>
        <p:spPr>
          <a:xfrm>
            <a:off x="6233008" y="1536192"/>
            <a:ext cx="5391760" cy="1347216"/>
          </a:xfrm>
          <a:prstGeom prst="roundRect">
            <a:avLst>
              <a:gd name="adj" fmla="val 6109"/>
            </a:avLst>
          </a:prstGeom>
          <a:solidFill>
            <a:srgbClr val="172B34">
              <a:alpha val="82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6" name="Text 4"/>
          <p:cNvSpPr/>
          <p:nvPr/>
        </p:nvSpPr>
        <p:spPr>
          <a:xfrm>
            <a:off x="10253167" y="1755648"/>
            <a:ext cx="1170432" cy="457200"/>
          </a:xfrm>
          <a:prstGeom prst="roundRect">
            <a:avLst>
              <a:gd name="adj" fmla="val 14000"/>
            </a:avLst>
          </a:prstGeom>
          <a:solidFill>
            <a:srgbClr val="F59E0B"/>
          </a:solidFill>
          <a:ln w="9525">
            <a:solidFill>
              <a:srgbClr val="F59E0B"/>
            </a:solidFill>
          </a:ln>
        </p:spPr>
        <p:txBody>
          <a:bodyPr wrap="square" lIns="0" tIns="0" rIns="0" bIns="0" rtlCol="0" anchor="ctr"/>
          <a:lstStyle/>
          <a:p>
            <a:pPr rtl="1" algn="ctr" indent="0" marL="0">
              <a:buNone/>
            </a:pPr>
            <a:r>
              <a:rPr lang="ar-EG" sz="1500" b="1" dirty="0">
                <a:solidFill>
                  <a:srgbClr val="2A1A02"/>
                </a:solidFill>
                <a:latin typeface="Segoe UI" pitchFamily="34" charset="0"/>
                <a:ea typeface="Segoe UI" pitchFamily="34" charset="-122"/>
                <a:cs typeface="Segoe UI" pitchFamily="34" charset="-120"/>
              </a:rPr>
              <a:t>~٥٠٪</a:t>
            </a:r>
            <a:endParaRPr lang="en-US" sz="1500" dirty="0"/>
          </a:p>
        </p:txBody>
      </p:sp>
      <p:sp>
        <p:nvSpPr>
          <p:cNvPr id="7" name="Text 5"/>
          <p:cNvSpPr txBox="1"/>
          <p:nvPr/>
        </p:nvSpPr>
        <p:spPr>
          <a:xfrm>
            <a:off x="6507328" y="2322576"/>
            <a:ext cx="4843120" cy="341376"/>
          </a:xfrm>
          <a:prstGeom prst="rect">
            <a:avLst/>
          </a:prstGeom>
          <a:noFill/>
          <a:ln/>
        </p:spPr>
        <p:txBody>
          <a:bodyPr wrap="square" lIns="0" tIns="0" rIns="0" bIns="0" rtlCol="0" anchor="t"/>
          <a:lstStyle/>
          <a:p>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من الأزمات القلبية </a:t>
            </a:r>
            <a:pPr rtl="1" algn="r" indent="0" marL="0">
              <a:lnSpc>
                <a:spcPct val="118000"/>
              </a:lnSpc>
              <a:buNone/>
            </a:pPr>
            <a:r>
              <a:rPr lang="ar-EG" sz="1300" b="1" dirty="0">
                <a:solidFill>
                  <a:srgbClr val="FBC85E"/>
                </a:solidFill>
                <a:latin typeface="Segoe UI" pitchFamily="34" charset="0"/>
                <a:ea typeface="Segoe UI" pitchFamily="34" charset="-122"/>
                <a:cs typeface="Segoe UI" pitchFamily="34" charset="-120"/>
              </a:rPr>
              <a:t>صامتة</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بتتكتشف بعدين على رسم القلب</a:t>
            </a:r>
            <a:endParaRPr lang="en-US" sz="1300" dirty="0"/>
          </a:p>
        </p:txBody>
      </p:sp>
      <p:sp>
        <p:nvSpPr>
          <p:cNvPr id="8" name="Shape 6"/>
          <p:cNvSpPr/>
          <p:nvPr/>
        </p:nvSpPr>
        <p:spPr>
          <a:xfrm>
            <a:off x="566928" y="1536192"/>
            <a:ext cx="5391760" cy="1347216"/>
          </a:xfrm>
          <a:prstGeom prst="roundRect">
            <a:avLst>
              <a:gd name="adj" fmla="val 6109"/>
            </a:avLst>
          </a:prstGeom>
          <a:solidFill>
            <a:srgbClr val="172B34">
              <a:alpha val="82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9" name="Text 7"/>
          <p:cNvSpPr/>
          <p:nvPr/>
        </p:nvSpPr>
        <p:spPr>
          <a:xfrm>
            <a:off x="4587088" y="1755648"/>
            <a:ext cx="1170432" cy="457200"/>
          </a:xfrm>
          <a:prstGeom prst="roundRect">
            <a:avLst>
              <a:gd name="adj" fmla="val 14000"/>
            </a:avLst>
          </a:prstGeom>
          <a:solidFill>
            <a:srgbClr val="F59E0B"/>
          </a:solidFill>
          <a:ln w="9525">
            <a:solidFill>
              <a:srgbClr val="F59E0B"/>
            </a:solidFill>
          </a:ln>
        </p:spPr>
        <p:txBody>
          <a:bodyPr wrap="square" lIns="0" tIns="0" rIns="0" bIns="0" rtlCol="0" anchor="ctr"/>
          <a:lstStyle/>
          <a:p>
            <a:pPr rtl="1" algn="ctr" indent="0" marL="0">
              <a:buNone/>
            </a:pPr>
            <a:r>
              <a:rPr lang="ar-EG" sz="1500" b="1" dirty="0">
                <a:solidFill>
                  <a:srgbClr val="2A1A02"/>
                </a:solidFill>
                <a:latin typeface="Segoe UI" pitchFamily="34" charset="0"/>
                <a:ea typeface="Segoe UI" pitchFamily="34" charset="-122"/>
                <a:cs typeface="Segoe UI" pitchFamily="34" charset="-120"/>
              </a:rPr>
              <a:t>٣١٧</a:t>
            </a:r>
            <a:endParaRPr lang="en-US" sz="1500" dirty="0"/>
          </a:p>
        </p:txBody>
      </p:sp>
      <p:sp>
        <p:nvSpPr>
          <p:cNvPr id="10" name="Text 8"/>
          <p:cNvSpPr txBox="1"/>
          <p:nvPr/>
        </p:nvSpPr>
        <p:spPr>
          <a:xfrm>
            <a:off x="841248" y="2322576"/>
            <a:ext cx="4843120" cy="341376"/>
          </a:xfrm>
          <a:prstGeom prst="rect">
            <a:avLst/>
          </a:prstGeom>
          <a:noFill/>
          <a:ln/>
        </p:spPr>
        <p:txBody>
          <a:bodyPr wrap="square" lIns="0" tIns="0" rIns="0" bIns="0" rtlCol="0" anchor="t"/>
          <a:lstStyle/>
          <a:p>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حالة صامتة مقابل </a:t>
            </a:r>
            <a:pPr rtl="1" algn="r" indent="0" marL="0">
              <a:lnSpc>
                <a:spcPct val="118000"/>
              </a:lnSpc>
              <a:buNone/>
            </a:pPr>
            <a:r>
              <a:rPr lang="ar-EG" sz="1300" b="1" dirty="0">
                <a:solidFill>
                  <a:srgbClr val="FBC85E"/>
                </a:solidFill>
                <a:latin typeface="Segoe UI" pitchFamily="34" charset="0"/>
                <a:ea typeface="Segoe UI" pitchFamily="34" charset="-122"/>
                <a:cs typeface="Segoe UI" pitchFamily="34" charset="-120"/>
              </a:rPr>
              <a:t>٣٨٦ حالة واضحة</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من ٩٬٤٩٨ شخص — دراسة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ARIC</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(٨٫٩ سنة متابعة)</a:t>
            </a:r>
            <a:endParaRPr lang="en-US" sz="1300" dirty="0"/>
          </a:p>
        </p:txBody>
      </p:sp>
      <p:sp>
        <p:nvSpPr>
          <p:cNvPr id="11" name="Shape 9"/>
          <p:cNvSpPr/>
          <p:nvPr/>
        </p:nvSpPr>
        <p:spPr>
          <a:xfrm>
            <a:off x="6233008" y="3102864"/>
            <a:ext cx="5391760" cy="1347216"/>
          </a:xfrm>
          <a:prstGeom prst="roundRect">
            <a:avLst>
              <a:gd name="adj" fmla="val 6109"/>
            </a:avLst>
          </a:prstGeom>
          <a:solidFill>
            <a:srgbClr val="172B34">
              <a:alpha val="82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12" name="Text 10"/>
          <p:cNvSpPr/>
          <p:nvPr/>
        </p:nvSpPr>
        <p:spPr>
          <a:xfrm>
            <a:off x="10253167" y="3322320"/>
            <a:ext cx="1170432" cy="457200"/>
          </a:xfrm>
          <a:prstGeom prst="roundRect">
            <a:avLst>
              <a:gd name="adj" fmla="val 14000"/>
            </a:avLst>
          </a:prstGeom>
          <a:solidFill>
            <a:srgbClr val="F59E0B"/>
          </a:solidFill>
          <a:ln w="9525">
            <a:solidFill>
              <a:srgbClr val="F59E0B"/>
            </a:solidFill>
          </a:ln>
        </p:spPr>
        <p:txBody>
          <a:bodyPr wrap="square" lIns="0" tIns="0" rIns="0" bIns="0" rtlCol="0" anchor="ctr"/>
          <a:lstStyle/>
          <a:p>
            <a:pPr rtl="1" algn="ctr" indent="0" marL="0">
              <a:buNone/>
            </a:pPr>
            <a:r>
              <a:rPr lang="ar-EG" sz="1500" b="1" dirty="0">
                <a:solidFill>
                  <a:srgbClr val="2A1A02"/>
                </a:solidFill>
                <a:latin typeface="Segoe UI" pitchFamily="34" charset="0"/>
                <a:ea typeface="Segoe UI" pitchFamily="34" charset="-122"/>
                <a:cs typeface="Segoe UI" pitchFamily="34" charset="-120"/>
              </a:rPr>
              <a:t>٤٣٪</a:t>
            </a:r>
            <a:endParaRPr lang="en-US" sz="1500" dirty="0"/>
          </a:p>
        </p:txBody>
      </p:sp>
      <p:sp>
        <p:nvSpPr>
          <p:cNvPr id="13" name="Text 11"/>
          <p:cNvSpPr txBox="1"/>
          <p:nvPr/>
        </p:nvSpPr>
        <p:spPr>
          <a:xfrm>
            <a:off x="6507328" y="3889248"/>
            <a:ext cx="4843120" cy="341376"/>
          </a:xfrm>
          <a:prstGeom prst="rect">
            <a:avLst/>
          </a:prstGeom>
          <a:noFill/>
          <a:ln/>
        </p:spPr>
        <p:txBody>
          <a:bodyPr wrap="square" lIns="0" tIns="0" rIns="0" bIns="0" rtlCol="0" anchor="t"/>
          <a:lstStyle/>
          <a:p>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من حالات الأزمة القلبية عند </a:t>
            </a:r>
            <a:pPr rtl="1" algn="r" indent="0" marL="0">
              <a:lnSpc>
                <a:spcPct val="118000"/>
              </a:lnSpc>
              <a:buNone/>
            </a:pPr>
            <a:r>
              <a:rPr lang="ar-EG" sz="1300" b="1" dirty="0">
                <a:solidFill>
                  <a:srgbClr val="FBC85E"/>
                </a:solidFill>
                <a:latin typeface="Segoe UI" pitchFamily="34" charset="0"/>
                <a:ea typeface="Segoe UI" pitchFamily="34" charset="-122"/>
                <a:cs typeface="Segoe UI" pitchFamily="34" charset="-120"/>
              </a:rPr>
              <a:t>الستات من غير ألم صدر حاد</a:t>
            </a:r>
            <a:endParaRPr lang="en-US" sz="1300" dirty="0"/>
          </a:p>
        </p:txBody>
      </p:sp>
      <p:sp>
        <p:nvSpPr>
          <p:cNvPr id="14" name="Shape 12"/>
          <p:cNvSpPr/>
          <p:nvPr/>
        </p:nvSpPr>
        <p:spPr>
          <a:xfrm>
            <a:off x="566928" y="3102864"/>
            <a:ext cx="5391760" cy="1347216"/>
          </a:xfrm>
          <a:prstGeom prst="roundRect">
            <a:avLst>
              <a:gd name="adj" fmla="val 6109"/>
            </a:avLst>
          </a:prstGeom>
          <a:solidFill>
            <a:srgbClr val="172B34">
              <a:alpha val="82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15" name="Text 13"/>
          <p:cNvSpPr/>
          <p:nvPr/>
        </p:nvSpPr>
        <p:spPr>
          <a:xfrm>
            <a:off x="4587088" y="3322320"/>
            <a:ext cx="1170432" cy="457200"/>
          </a:xfrm>
          <a:prstGeom prst="roundRect">
            <a:avLst>
              <a:gd name="adj" fmla="val 14000"/>
            </a:avLst>
          </a:prstGeom>
          <a:solidFill>
            <a:srgbClr val="F59E0B"/>
          </a:solidFill>
          <a:ln w="9525">
            <a:solidFill>
              <a:srgbClr val="F59E0B"/>
            </a:solidFill>
          </a:ln>
        </p:spPr>
        <p:txBody>
          <a:bodyPr wrap="square" lIns="0" tIns="0" rIns="0" bIns="0" rtlCol="0" anchor="ctr"/>
          <a:lstStyle/>
          <a:p>
            <a:pPr rtl="1" algn="ctr" indent="0" marL="0">
              <a:buNone/>
            </a:pPr>
            <a:r>
              <a:rPr lang="ar-EG" sz="1250" b="1" dirty="0">
                <a:solidFill>
                  <a:srgbClr val="2A1A02"/>
                </a:solidFill>
                <a:latin typeface="Segoe UI" pitchFamily="34" charset="0"/>
                <a:ea typeface="Segoe UI" pitchFamily="34" charset="-122"/>
                <a:cs typeface="Segoe UI" pitchFamily="34" charset="-120"/>
              </a:rPr>
              <a:t>٥٧٫٩٪</a:t>
            </a:r>
            <a:endParaRPr lang="en-US" sz="1250" dirty="0"/>
          </a:p>
        </p:txBody>
      </p:sp>
      <p:sp>
        <p:nvSpPr>
          <p:cNvPr id="16" name="Text 14"/>
          <p:cNvSpPr txBox="1"/>
          <p:nvPr/>
        </p:nvSpPr>
        <p:spPr>
          <a:xfrm>
            <a:off x="841248" y="3889248"/>
            <a:ext cx="4843120" cy="341376"/>
          </a:xfrm>
          <a:prstGeom prst="rect">
            <a:avLst/>
          </a:prstGeom>
          <a:noFill/>
          <a:ln/>
        </p:spPr>
        <p:txBody>
          <a:bodyPr wrap="square" lIns="0" tIns="0" rIns="0" bIns="0" rtlCol="0" anchor="t"/>
          <a:lstStyle/>
          <a:p>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ضيق نفس — أكتر أعراض عند الستات · ضعف </a:t>
            </a:r>
            <a:pPr rtl="1" algn="r" indent="0" marL="0">
              <a:lnSpc>
                <a:spcPct val="118000"/>
              </a:lnSpc>
              <a:buNone/>
            </a:pPr>
            <a:r>
              <a:rPr lang="ar-EG" sz="1300" b="1" dirty="0">
                <a:solidFill>
                  <a:srgbClr val="FBC85E"/>
                </a:solidFill>
                <a:latin typeface="Segoe UI" pitchFamily="34" charset="0"/>
                <a:ea typeface="Segoe UI" pitchFamily="34" charset="-122"/>
                <a:cs typeface="Segoe UI" pitchFamily="34" charset="-120"/>
              </a:rPr>
              <a:t>٥٤٫٨٪</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إرهاق </a:t>
            </a:r>
            <a:pPr rtl="1" algn="r" indent="0" marL="0">
              <a:lnSpc>
                <a:spcPct val="118000"/>
              </a:lnSpc>
              <a:buNone/>
            </a:pPr>
            <a:r>
              <a:rPr lang="ar-EG" sz="1300" b="1" dirty="0">
                <a:solidFill>
                  <a:srgbClr val="FBC85E"/>
                </a:solidFill>
                <a:latin typeface="Segoe UI" pitchFamily="34" charset="0"/>
                <a:ea typeface="Segoe UI" pitchFamily="34" charset="-122"/>
                <a:cs typeface="Segoe UI" pitchFamily="34" charset="-120"/>
              </a:rPr>
              <a:t>٤٢٫٩٪</a:t>
            </a:r>
            <a:endParaRPr lang="en-US" sz="1300" dirty="0"/>
          </a:p>
        </p:txBody>
      </p:sp>
      <p:sp>
        <p:nvSpPr>
          <p:cNvPr id="17" name="Shape 15"/>
          <p:cNvSpPr/>
          <p:nvPr/>
        </p:nvSpPr>
        <p:spPr>
          <a:xfrm>
            <a:off x="6233008" y="4669536"/>
            <a:ext cx="5391760" cy="1347216"/>
          </a:xfrm>
          <a:prstGeom prst="roundRect">
            <a:avLst>
              <a:gd name="adj" fmla="val 6109"/>
            </a:avLst>
          </a:prstGeom>
          <a:solidFill>
            <a:srgbClr val="172B34">
              <a:alpha val="82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18" name="Text 16"/>
          <p:cNvSpPr/>
          <p:nvPr/>
        </p:nvSpPr>
        <p:spPr>
          <a:xfrm>
            <a:off x="10253167" y="4888992"/>
            <a:ext cx="1170432" cy="457200"/>
          </a:xfrm>
          <a:prstGeom prst="roundRect">
            <a:avLst>
              <a:gd name="adj" fmla="val 14000"/>
            </a:avLst>
          </a:prstGeom>
          <a:solidFill>
            <a:srgbClr val="F59E0B"/>
          </a:solidFill>
          <a:ln w="9525">
            <a:solidFill>
              <a:srgbClr val="F59E0B"/>
            </a:solidFill>
          </a:ln>
        </p:spPr>
        <p:txBody>
          <a:bodyPr wrap="square" lIns="0" tIns="0" rIns="0" bIns="0" rtlCol="0" anchor="ctr"/>
          <a:lstStyle/>
          <a:p>
            <a:pPr rtl="1" algn="ctr" indent="0" marL="0">
              <a:buNone/>
            </a:pPr>
            <a:r>
              <a:rPr lang="ar-EG" sz="1500" b="1" dirty="0">
                <a:solidFill>
                  <a:srgbClr val="2A1A02"/>
                </a:solidFill>
                <a:latin typeface="Segoe UI" pitchFamily="34" charset="0"/>
                <a:ea typeface="Segoe UI" pitchFamily="34" charset="-122"/>
                <a:cs typeface="Segoe UI" pitchFamily="34" charset="-120"/>
              </a:rPr>
              <a:t>+٤٤٪</a:t>
            </a:r>
            <a:endParaRPr lang="en-US" sz="1500" dirty="0"/>
          </a:p>
        </p:txBody>
      </p:sp>
      <p:sp>
        <p:nvSpPr>
          <p:cNvPr id="19" name="Text 17"/>
          <p:cNvSpPr txBox="1"/>
          <p:nvPr/>
        </p:nvSpPr>
        <p:spPr>
          <a:xfrm>
            <a:off x="6507328" y="5455920"/>
            <a:ext cx="4843120" cy="341376"/>
          </a:xfrm>
          <a:prstGeom prst="rect">
            <a:avLst/>
          </a:prstGeom>
          <a:noFill/>
          <a:ln/>
        </p:spPr>
        <p:txBody>
          <a:bodyPr wrap="square" lIns="0" tIns="0" rIns="0" bIns="0" rtlCol="0" anchor="t"/>
          <a:lstStyle/>
          <a:p>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مرضى السكر: احتمال أزمة </a:t>
            </a:r>
            <a:pPr rtl="1" algn="r" indent="0" marL="0">
              <a:lnSpc>
                <a:spcPct val="118000"/>
              </a:lnSpc>
              <a:buNone/>
            </a:pPr>
            <a:r>
              <a:rPr lang="ar-EG" sz="1300" b="1" dirty="0">
                <a:solidFill>
                  <a:srgbClr val="FBC85E"/>
                </a:solidFill>
                <a:latin typeface="Segoe UI" pitchFamily="34" charset="0"/>
                <a:ea typeface="Segoe UI" pitchFamily="34" charset="-122"/>
                <a:cs typeface="Segoe UI" pitchFamily="34" charset="-120"/>
              </a:rPr>
              <a:t>من غير ألم صدر أعلى بـ ٤٣–٤٤٪</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(تحليل بَعْدي، ٢٣٢٬٥١٩ مشارك)</a:t>
            </a:r>
            <a:endParaRPr lang="en-US" sz="1300" dirty="0"/>
          </a:p>
        </p:txBody>
      </p:sp>
      <p:sp>
        <p:nvSpPr>
          <p:cNvPr id="20" name="Shape 18"/>
          <p:cNvSpPr/>
          <p:nvPr/>
        </p:nvSpPr>
        <p:spPr>
          <a:xfrm>
            <a:off x="566928" y="4669536"/>
            <a:ext cx="5391760" cy="1347216"/>
          </a:xfrm>
          <a:prstGeom prst="roundRect">
            <a:avLst>
              <a:gd name="adj" fmla="val 6109"/>
            </a:avLst>
          </a:prstGeom>
          <a:solidFill>
            <a:srgbClr val="172B34">
              <a:alpha val="82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21" name="Text 19"/>
          <p:cNvSpPr/>
          <p:nvPr/>
        </p:nvSpPr>
        <p:spPr>
          <a:xfrm>
            <a:off x="4587088" y="4888992"/>
            <a:ext cx="1170432" cy="457200"/>
          </a:xfrm>
          <a:prstGeom prst="roundRect">
            <a:avLst>
              <a:gd name="adj" fmla="val 14000"/>
            </a:avLst>
          </a:prstGeom>
          <a:solidFill>
            <a:srgbClr val="F59E0B"/>
          </a:solidFill>
          <a:ln w="9525">
            <a:solidFill>
              <a:srgbClr val="F59E0B"/>
            </a:solidFill>
          </a:ln>
        </p:spPr>
        <p:txBody>
          <a:bodyPr wrap="square" lIns="0" tIns="0" rIns="0" bIns="0" rtlCol="0" anchor="ctr"/>
          <a:lstStyle/>
          <a:p>
            <a:pPr rtl="1" algn="ctr" indent="0" marL="0">
              <a:buNone/>
            </a:pPr>
            <a:r>
              <a:rPr lang="ar-EG" sz="1250" b="1" dirty="0">
                <a:solidFill>
                  <a:srgbClr val="2A1A02"/>
                </a:solidFill>
                <a:latin typeface="Segoe UI" pitchFamily="34" charset="0"/>
                <a:ea typeface="Segoe UI" pitchFamily="34" charset="-122"/>
                <a:cs typeface="Segoe UI" pitchFamily="34" charset="-120"/>
              </a:rPr>
              <a:t>السبب</a:t>
            </a:r>
            <a:endParaRPr lang="en-US" sz="1250" dirty="0"/>
          </a:p>
        </p:txBody>
      </p:sp>
      <p:sp>
        <p:nvSpPr>
          <p:cNvPr id="22" name="Text 20"/>
          <p:cNvSpPr txBox="1"/>
          <p:nvPr/>
        </p:nvSpPr>
        <p:spPr>
          <a:xfrm>
            <a:off x="841248" y="5455920"/>
            <a:ext cx="4843120" cy="341376"/>
          </a:xfrm>
          <a:prstGeom prst="rect">
            <a:avLst/>
          </a:prstGeom>
          <a:noFill/>
          <a:ln/>
        </p:spPr>
        <p:txBody>
          <a:bodyPr wrap="square" lIns="0" tIns="0" rIns="0" bIns="0" rtlCol="0" anchor="t"/>
          <a:lstStyle/>
          <a:p>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اعتلال الأعصاب السكري </a:t>
            </a:r>
            <a:pPr rtl="1" algn="r" indent="0" marL="0">
              <a:lnSpc>
                <a:spcPct val="118000"/>
              </a:lnSpc>
              <a:buNone/>
            </a:pPr>
            <a:r>
              <a:rPr lang="ar-EG" sz="1300" b="1" dirty="0">
                <a:solidFill>
                  <a:srgbClr val="FBC85E"/>
                </a:solidFill>
                <a:latin typeface="Segoe UI" pitchFamily="34" charset="0"/>
                <a:ea typeface="Segoe UI" pitchFamily="34" charset="-122"/>
                <a:cs typeface="Segoe UI" pitchFamily="34" charset="-120"/>
              </a:rPr>
              <a:t>بيقلّل الإحساس بالألم نفسه</a:t>
            </a:r>
            <a:endParaRPr lang="en-US" sz="1300" dirty="0"/>
          </a:p>
        </p:txBody>
      </p:sp>
      <p:sp>
        <p:nvSpPr>
          <p:cNvPr id="23" name="Text 21"/>
          <p:cNvSpPr txBox="1"/>
          <p:nvPr/>
        </p:nvSpPr>
        <p:spPr>
          <a:xfrm>
            <a:off x="2304288" y="6309360"/>
            <a:ext cx="9320479" cy="347472"/>
          </a:xfrm>
          <a:prstGeom prst="rect">
            <a:avLst/>
          </a:prstGeom>
          <a:noFill/>
          <a:ln/>
        </p:spPr>
        <p:txBody>
          <a:bodyPr wrap="square" lIns="0" tIns="0" rIns="0" bIns="0" rtlCol="0" anchor="ctr"/>
          <a:lstStyle/>
          <a:p>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المصادر: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Circulation</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AHA</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٢٠١٦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AHA Scientific Statement</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Acute MI in Women</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٢٠١٦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Qatar Medical Journal</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٢٠٢٥</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المشكلة</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ليه الناس بتفوّت العلامة؟</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٠٦ / ١٨</a:t>
            </a:r>
            <a:endParaRPr lang="en-US" sz="950" dirty="0"/>
          </a:p>
        </p:txBody>
      </p:sp>
      <p:sp>
        <p:nvSpPr>
          <p:cNvPr id="5" name="Shape 3"/>
          <p:cNvSpPr/>
          <p:nvPr/>
        </p:nvSpPr>
        <p:spPr>
          <a:xfrm>
            <a:off x="6549847" y="1536192"/>
            <a:ext cx="5074920" cy="4480560"/>
          </a:xfrm>
          <a:prstGeom prst="roundRect">
            <a:avLst>
              <a:gd name="adj" fmla="val 1837"/>
            </a:avLst>
          </a:prstGeom>
          <a:solidFill>
            <a:srgbClr val="18323A">
              <a:alpha val="76000"/>
            </a:srgbClr>
          </a:solidFill>
          <a:ln w="9525">
            <a:solidFill>
              <a:srgbClr val="43303A"/>
            </a:solidFill>
            <a:prstDash val="solid"/>
          </a:ln>
          <a:effectLst>
            <a:outerShdw sx="100000" sy="100000" kx="0" ky="0" algn="bl" rotWithShape="0" blurRad="152400" dist="25400" dir="5400000">
              <a:srgbClr val="000000">
                <a:alpha val="30000"/>
              </a:srgbClr>
            </a:outerShdw>
          </a:effectLst>
        </p:spPr>
      </p:sp>
      <p:sp>
        <p:nvSpPr>
          <p:cNvPr id="6" name="Text 4"/>
          <p:cNvSpPr txBox="1"/>
          <p:nvPr/>
        </p:nvSpPr>
        <p:spPr>
          <a:xfrm>
            <a:off x="6824167" y="1773936"/>
            <a:ext cx="4526280" cy="329184"/>
          </a:xfrm>
          <a:prstGeom prst="rect">
            <a:avLst/>
          </a:prstGeom>
          <a:noFill/>
          <a:ln/>
        </p:spPr>
        <p:txBody>
          <a:bodyPr wrap="square" lIns="0" tIns="0" rIns="0" bIns="0" rtlCol="0" anchor="t"/>
          <a:lstStyle/>
          <a:p>
            <a:pPr rtl="1" algn="r" indent="0" marL="0">
              <a:lnSpc>
                <a:spcPct val="100000"/>
              </a:lnSpc>
              <a:buNone/>
            </a:pPr>
            <a:r>
              <a:rPr lang="ar-EG" sz="1400" b="1" dirty="0">
                <a:solidFill>
                  <a:srgbClr val="F79191"/>
                </a:solidFill>
                <a:latin typeface="Segoe UI" pitchFamily="34" charset="0"/>
                <a:ea typeface="Segoe UI" pitchFamily="34" charset="-122"/>
                <a:cs typeface="Segoe UI" pitchFamily="34" charset="-120"/>
              </a:rPr>
              <a:t>سلسلة الإنذار اللي بتتجاهَل</a:t>
            </a:r>
            <a:endParaRPr lang="en-US" sz="1400" dirty="0"/>
          </a:p>
        </p:txBody>
      </p:sp>
      <p:sp>
        <p:nvSpPr>
          <p:cNvPr id="7" name="Shape 5"/>
          <p:cNvSpPr/>
          <p:nvPr/>
        </p:nvSpPr>
        <p:spPr>
          <a:xfrm>
            <a:off x="6824167" y="2212848"/>
            <a:ext cx="4526280" cy="763524"/>
          </a:xfrm>
          <a:prstGeom prst="roundRect">
            <a:avLst>
              <a:gd name="adj" fmla="val 9581"/>
            </a:avLst>
          </a:prstGeom>
          <a:solidFill>
            <a:srgbClr val="D94B4B">
              <a:alpha val="12000"/>
            </a:srgbClr>
          </a:solidFill>
          <a:ln w="9525">
            <a:solidFill>
              <a:srgbClr val="5A3540"/>
            </a:solidFill>
            <a:prstDash val="solid"/>
          </a:ln>
          <a:effectLst>
            <a:outerShdw sx="100000" sy="100000" kx="0" ky="0" algn="bl" rotWithShape="0" blurRad="152400" dist="25400" dir="5400000">
              <a:srgbClr val="000000">
                <a:alpha val="30000"/>
              </a:srgbClr>
            </a:outerShdw>
          </a:effectLst>
        </p:spPr>
      </p:sp>
      <p:sp>
        <p:nvSpPr>
          <p:cNvPr id="8" name="Text 6"/>
          <p:cNvSpPr txBox="1"/>
          <p:nvPr/>
        </p:nvSpPr>
        <p:spPr>
          <a:xfrm>
            <a:off x="7025335" y="2258568"/>
            <a:ext cx="4123944" cy="672084"/>
          </a:xfrm>
          <a:prstGeom prst="rect">
            <a:avLst/>
          </a:prstGeom>
          <a:noFill/>
          <a:ln/>
        </p:spPr>
        <p:txBody>
          <a:bodyPr wrap="square" lIns="0" tIns="0" rIns="0" bIns="0" rtlCol="0" anchor="ctr"/>
          <a:lstStyle/>
          <a:p>
            <a:pPr rtl="1" algn="r" indent="0" marL="0">
              <a:lnSpc>
                <a:spcPct val="114000"/>
              </a:lnSpc>
              <a:buNone/>
            </a:pPr>
            <a:r>
              <a:rPr lang="ar-EG" sz="1300" b="1" dirty="0">
                <a:solidFill>
                  <a:srgbClr val="F79191"/>
                </a:solidFill>
                <a:latin typeface="Segoe UI" pitchFamily="34" charset="0"/>
                <a:ea typeface="Segoe UI" pitchFamily="34" charset="-122"/>
                <a:cs typeface="Segoe UI" pitchFamily="34" charset="-120"/>
              </a:rPr>
              <a:t>~١٥٪</a:t>
            </a:r>
            <a:pPr rtl="1" algn="r" indent="0" marL="0">
              <a:lnSpc>
                <a:spcPct val="114000"/>
              </a:lnSpc>
              <a:buNone/>
            </a:pPr>
            <a:r>
              <a:rPr lang="ar-EG" sz="1300" dirty="0">
                <a:solidFill>
                  <a:srgbClr val="E8F1EE"/>
                </a:solidFill>
                <a:latin typeface="Segoe UI" pitchFamily="34" charset="0"/>
                <a:ea typeface="Segoe UI" pitchFamily="34" charset="-122"/>
                <a:cs typeface="Segoe UI" pitchFamily="34" charset="-120"/>
              </a:rPr>
              <a:t xml:space="preserve"> من الجلطات الدماغية بيسبقها إنذار (</a:t>
            </a:r>
            <a:pPr rtl="1" algn="r" indent="0" marL="0">
              <a:lnSpc>
                <a:spcPct val="114000"/>
              </a:lnSpc>
              <a:buNone/>
            </a:pPr>
            <a:r>
              <a:rPr lang="en-US" sz="1300" dirty="0">
                <a:solidFill>
                  <a:srgbClr val="E8F1EE"/>
                </a:solidFill>
                <a:latin typeface="Segoe UI" pitchFamily="34" charset="0"/>
                <a:ea typeface="Segoe UI" pitchFamily="34" charset="-122"/>
                <a:cs typeface="Segoe UI" pitchFamily="34" charset="-120"/>
              </a:rPr>
              <a:t>TIA</a:t>
            </a:r>
            <a:pPr rtl="1" algn="r" indent="0" marL="0">
              <a:lnSpc>
                <a:spcPct val="114000"/>
              </a:lnSpc>
              <a:buNone/>
            </a:pPr>
            <a:r>
              <a:rPr lang="ar-EG" sz="1300" dirty="0">
                <a:solidFill>
                  <a:srgbClr val="E8F1EE"/>
                </a:solidFill>
                <a:latin typeface="Segoe UI" pitchFamily="34" charset="0"/>
                <a:ea typeface="Segoe UI" pitchFamily="34" charset="-122"/>
                <a:cs typeface="Segoe UI" pitchFamily="34" charset="-120"/>
              </a:rPr>
              <a:t>) بيروح لوحده فيتم تجاهله</a:t>
            </a:r>
            <a:endParaRPr lang="en-US" sz="1300" dirty="0"/>
          </a:p>
        </p:txBody>
      </p:sp>
      <p:sp>
        <p:nvSpPr>
          <p:cNvPr id="9" name="Text 7"/>
          <p:cNvSpPr/>
          <p:nvPr/>
        </p:nvSpPr>
        <p:spPr>
          <a:xfrm>
            <a:off x="8858707" y="2985516"/>
            <a:ext cx="457200" cy="164592"/>
          </a:xfrm>
          <a:prstGeom prst="rect">
            <a:avLst/>
          </a:prstGeom>
          <a:noFill/>
          <a:ln/>
        </p:spPr>
        <p:txBody>
          <a:bodyPr wrap="square" lIns="0" tIns="0" rIns="0" bIns="0" rtlCol="0" anchor="ctr"/>
          <a:lstStyle/>
          <a:p>
            <a:pPr algn="ctr" indent="0" marL="0">
              <a:buNone/>
            </a:pPr>
            <a:r>
              <a:rPr lang="ar-EG" sz="900" dirty="0">
                <a:solidFill>
                  <a:srgbClr val="F79191"/>
                </a:solidFill>
                <a:latin typeface="Segoe UI" pitchFamily="34" charset="0"/>
                <a:ea typeface="Segoe UI" pitchFamily="34" charset="-122"/>
                <a:cs typeface="Segoe UI" pitchFamily="34" charset="-120"/>
              </a:rPr>
              <a:t>▼</a:t>
            </a:r>
            <a:endParaRPr lang="en-US" sz="900" dirty="0"/>
          </a:p>
        </p:txBody>
      </p:sp>
      <p:sp>
        <p:nvSpPr>
          <p:cNvPr id="10" name="Shape 8"/>
          <p:cNvSpPr/>
          <p:nvPr/>
        </p:nvSpPr>
        <p:spPr>
          <a:xfrm>
            <a:off x="6824167" y="3159252"/>
            <a:ext cx="4526280" cy="763524"/>
          </a:xfrm>
          <a:prstGeom prst="roundRect">
            <a:avLst>
              <a:gd name="adj" fmla="val 9581"/>
            </a:avLst>
          </a:prstGeom>
          <a:solidFill>
            <a:srgbClr val="D94B4B">
              <a:alpha val="12000"/>
            </a:srgbClr>
          </a:solidFill>
          <a:ln w="9525">
            <a:solidFill>
              <a:srgbClr val="5A3540"/>
            </a:solidFill>
            <a:prstDash val="solid"/>
          </a:ln>
          <a:effectLst>
            <a:outerShdw sx="100000" sy="100000" kx="0" ky="0" algn="bl" rotWithShape="0" blurRad="152400" dist="25400" dir="5400000">
              <a:srgbClr val="000000">
                <a:alpha val="30000"/>
              </a:srgbClr>
            </a:outerShdw>
          </a:effectLst>
        </p:spPr>
      </p:sp>
      <p:sp>
        <p:nvSpPr>
          <p:cNvPr id="11" name="Text 9"/>
          <p:cNvSpPr txBox="1"/>
          <p:nvPr/>
        </p:nvSpPr>
        <p:spPr>
          <a:xfrm>
            <a:off x="7025335" y="3204972"/>
            <a:ext cx="4123944" cy="672084"/>
          </a:xfrm>
          <a:prstGeom prst="rect">
            <a:avLst/>
          </a:prstGeom>
          <a:noFill/>
          <a:ln/>
        </p:spPr>
        <p:txBody>
          <a:bodyPr wrap="square" lIns="0" tIns="0" rIns="0" bIns="0" rtlCol="0" anchor="ctr"/>
          <a:lstStyle/>
          <a:p>
            <a:pPr rtl="1" algn="r" indent="0" marL="0">
              <a:lnSpc>
                <a:spcPct val="114000"/>
              </a:lnSpc>
              <a:buNone/>
            </a:pPr>
            <a:r>
              <a:rPr lang="ar-EG" sz="1300" dirty="0">
                <a:solidFill>
                  <a:srgbClr val="E8F1EE"/>
                </a:solidFill>
                <a:latin typeface="Segoe UI" pitchFamily="34" charset="0"/>
                <a:ea typeface="Segoe UI" pitchFamily="34" charset="-122"/>
                <a:cs typeface="Segoe UI" pitchFamily="34" charset="-120"/>
              </a:rPr>
              <a:t xml:space="preserve">خطر الجلطة بعد الإنذار: </a:t>
            </a:r>
            <a:pPr rtl="1" algn="r" indent="0" marL="0">
              <a:lnSpc>
                <a:spcPct val="114000"/>
              </a:lnSpc>
              <a:buNone/>
            </a:pPr>
            <a:r>
              <a:rPr lang="ar-EG" sz="1300" b="1" dirty="0">
                <a:solidFill>
                  <a:srgbClr val="F79191"/>
                </a:solidFill>
                <a:latin typeface="Segoe UI" pitchFamily="34" charset="0"/>
                <a:ea typeface="Segoe UI" pitchFamily="34" charset="-122"/>
                <a:cs typeface="Segoe UI" pitchFamily="34" charset="-120"/>
              </a:rPr>
              <a:t>~٥٪ في ٧ أيام</a:t>
            </a:r>
            <a:endParaRPr lang="en-US" sz="1300" dirty="0"/>
          </a:p>
        </p:txBody>
      </p:sp>
      <p:sp>
        <p:nvSpPr>
          <p:cNvPr id="12" name="Text 10"/>
          <p:cNvSpPr/>
          <p:nvPr/>
        </p:nvSpPr>
        <p:spPr>
          <a:xfrm>
            <a:off x="8858707" y="3931920"/>
            <a:ext cx="457200" cy="164592"/>
          </a:xfrm>
          <a:prstGeom prst="rect">
            <a:avLst/>
          </a:prstGeom>
          <a:noFill/>
          <a:ln/>
        </p:spPr>
        <p:txBody>
          <a:bodyPr wrap="square" lIns="0" tIns="0" rIns="0" bIns="0" rtlCol="0" anchor="ctr"/>
          <a:lstStyle/>
          <a:p>
            <a:pPr algn="ctr" indent="0" marL="0">
              <a:buNone/>
            </a:pPr>
            <a:r>
              <a:rPr lang="ar-EG" sz="900" dirty="0">
                <a:solidFill>
                  <a:srgbClr val="F79191"/>
                </a:solidFill>
                <a:latin typeface="Segoe UI" pitchFamily="34" charset="0"/>
                <a:ea typeface="Segoe UI" pitchFamily="34" charset="-122"/>
                <a:cs typeface="Segoe UI" pitchFamily="34" charset="-120"/>
              </a:rPr>
              <a:t>▼</a:t>
            </a:r>
            <a:endParaRPr lang="en-US" sz="900" dirty="0"/>
          </a:p>
        </p:txBody>
      </p:sp>
      <p:sp>
        <p:nvSpPr>
          <p:cNvPr id="13" name="Shape 11"/>
          <p:cNvSpPr/>
          <p:nvPr/>
        </p:nvSpPr>
        <p:spPr>
          <a:xfrm>
            <a:off x="6824167" y="4105656"/>
            <a:ext cx="4526280" cy="763524"/>
          </a:xfrm>
          <a:prstGeom prst="roundRect">
            <a:avLst>
              <a:gd name="adj" fmla="val 9581"/>
            </a:avLst>
          </a:prstGeom>
          <a:solidFill>
            <a:srgbClr val="D94B4B">
              <a:alpha val="12000"/>
            </a:srgbClr>
          </a:solidFill>
          <a:ln w="9525">
            <a:solidFill>
              <a:srgbClr val="5A3540"/>
            </a:solidFill>
            <a:prstDash val="solid"/>
          </a:ln>
          <a:effectLst>
            <a:outerShdw sx="100000" sy="100000" kx="0" ky="0" algn="bl" rotWithShape="0" blurRad="152400" dist="25400" dir="5400000">
              <a:srgbClr val="000000">
                <a:alpha val="30000"/>
              </a:srgbClr>
            </a:outerShdw>
          </a:effectLst>
        </p:spPr>
      </p:sp>
      <p:sp>
        <p:nvSpPr>
          <p:cNvPr id="14" name="Text 12"/>
          <p:cNvSpPr txBox="1"/>
          <p:nvPr/>
        </p:nvSpPr>
        <p:spPr>
          <a:xfrm>
            <a:off x="7025335" y="4151376"/>
            <a:ext cx="4123944" cy="672084"/>
          </a:xfrm>
          <a:prstGeom prst="rect">
            <a:avLst/>
          </a:prstGeom>
          <a:noFill/>
          <a:ln/>
        </p:spPr>
        <p:txBody>
          <a:bodyPr wrap="square" lIns="0" tIns="0" rIns="0" bIns="0" rtlCol="0" anchor="ctr"/>
          <a:lstStyle/>
          <a:p>
            <a:pPr rtl="1" algn="r" indent="0" marL="0">
              <a:lnSpc>
                <a:spcPct val="114000"/>
              </a:lnSpc>
              <a:buNone/>
            </a:pPr>
            <a:r>
              <a:rPr lang="ar-EG" sz="1300" dirty="0">
                <a:solidFill>
                  <a:srgbClr val="E8F1EE"/>
                </a:solidFill>
                <a:latin typeface="Segoe UI" pitchFamily="34" charset="0"/>
                <a:ea typeface="Segoe UI" pitchFamily="34" charset="-122"/>
                <a:cs typeface="Segoe UI" pitchFamily="34" charset="-120"/>
              </a:rPr>
              <a:t xml:space="preserve">ويوصل لـ </a:t>
            </a:r>
            <a:pPr rtl="1" algn="r" indent="0" marL="0">
              <a:lnSpc>
                <a:spcPct val="114000"/>
              </a:lnSpc>
              <a:buNone/>
            </a:pPr>
            <a:r>
              <a:rPr lang="ar-EG" sz="1300" b="1" dirty="0">
                <a:solidFill>
                  <a:srgbClr val="F79191"/>
                </a:solidFill>
                <a:latin typeface="Segoe UI" pitchFamily="34" charset="0"/>
                <a:ea typeface="Segoe UI" pitchFamily="34" charset="-122"/>
                <a:cs typeface="Segoe UI" pitchFamily="34" charset="-120"/>
              </a:rPr>
              <a:t>~١٧٪ في ٩٠ يوم</a:t>
            </a:r>
            <a:pPr rtl="1" algn="r" indent="0" marL="0">
              <a:lnSpc>
                <a:spcPct val="114000"/>
              </a:lnSpc>
              <a:buNone/>
            </a:pPr>
            <a:r>
              <a:rPr lang="ar-EG" sz="1300" dirty="0">
                <a:solidFill>
                  <a:srgbClr val="E8F1EE"/>
                </a:solidFill>
                <a:latin typeface="Segoe UI" pitchFamily="34" charset="0"/>
                <a:ea typeface="Segoe UI" pitchFamily="34" charset="-122"/>
                <a:cs typeface="Segoe UI" pitchFamily="34" charset="-120"/>
              </a:rPr>
              <a:t xml:space="preserve"> بحسب الدراسة</a:t>
            </a:r>
            <a:endParaRPr lang="en-US" sz="1300" dirty="0"/>
          </a:p>
        </p:txBody>
      </p:sp>
      <p:sp>
        <p:nvSpPr>
          <p:cNvPr id="15" name="Text 13"/>
          <p:cNvSpPr/>
          <p:nvPr/>
        </p:nvSpPr>
        <p:spPr>
          <a:xfrm>
            <a:off x="8858707" y="4878324"/>
            <a:ext cx="457200" cy="164592"/>
          </a:xfrm>
          <a:prstGeom prst="rect">
            <a:avLst/>
          </a:prstGeom>
          <a:noFill/>
          <a:ln/>
        </p:spPr>
        <p:txBody>
          <a:bodyPr wrap="square" lIns="0" tIns="0" rIns="0" bIns="0" rtlCol="0" anchor="ctr"/>
          <a:lstStyle/>
          <a:p>
            <a:pPr algn="ctr" indent="0" marL="0">
              <a:buNone/>
            </a:pPr>
            <a:r>
              <a:rPr lang="ar-EG" sz="900" dirty="0">
                <a:solidFill>
                  <a:srgbClr val="F79191"/>
                </a:solidFill>
                <a:latin typeface="Segoe UI" pitchFamily="34" charset="0"/>
                <a:ea typeface="Segoe UI" pitchFamily="34" charset="-122"/>
                <a:cs typeface="Segoe UI" pitchFamily="34" charset="-120"/>
              </a:rPr>
              <a:t>▼</a:t>
            </a:r>
            <a:endParaRPr lang="en-US" sz="900" dirty="0"/>
          </a:p>
        </p:txBody>
      </p:sp>
      <p:sp>
        <p:nvSpPr>
          <p:cNvPr id="16" name="Shape 14"/>
          <p:cNvSpPr/>
          <p:nvPr/>
        </p:nvSpPr>
        <p:spPr>
          <a:xfrm>
            <a:off x="6824167" y="5052060"/>
            <a:ext cx="4526280" cy="763524"/>
          </a:xfrm>
          <a:prstGeom prst="roundRect">
            <a:avLst>
              <a:gd name="adj" fmla="val 9581"/>
            </a:avLst>
          </a:prstGeom>
          <a:solidFill>
            <a:srgbClr val="D94B4B">
              <a:alpha val="12000"/>
            </a:srgbClr>
          </a:solidFill>
          <a:ln w="9525">
            <a:solidFill>
              <a:srgbClr val="5A3540"/>
            </a:solidFill>
            <a:prstDash val="solid"/>
          </a:ln>
          <a:effectLst>
            <a:outerShdw sx="100000" sy="100000" kx="0" ky="0" algn="bl" rotWithShape="0" blurRad="152400" dist="25400" dir="5400000">
              <a:srgbClr val="000000">
                <a:alpha val="30000"/>
              </a:srgbClr>
            </a:outerShdw>
          </a:effectLst>
        </p:spPr>
      </p:sp>
      <p:sp>
        <p:nvSpPr>
          <p:cNvPr id="17" name="Text 15"/>
          <p:cNvSpPr txBox="1"/>
          <p:nvPr/>
        </p:nvSpPr>
        <p:spPr>
          <a:xfrm>
            <a:off x="7025335" y="5097780"/>
            <a:ext cx="4123944" cy="672084"/>
          </a:xfrm>
          <a:prstGeom prst="rect">
            <a:avLst/>
          </a:prstGeom>
          <a:noFill/>
          <a:ln/>
        </p:spPr>
        <p:txBody>
          <a:bodyPr wrap="square" lIns="0" tIns="0" rIns="0" bIns="0" rtlCol="0" anchor="ctr"/>
          <a:lstStyle/>
          <a:p>
            <a:pPr rtl="1" algn="r" indent="0" marL="0">
              <a:lnSpc>
                <a:spcPct val="114000"/>
              </a:lnSpc>
              <a:buNone/>
            </a:pPr>
            <a:r>
              <a:rPr lang="ar-EG" sz="1300" dirty="0">
                <a:solidFill>
                  <a:srgbClr val="E8F1EE"/>
                </a:solidFill>
                <a:latin typeface="Segoe UI" pitchFamily="34" charset="0"/>
                <a:ea typeface="Segoe UI" pitchFamily="34" charset="-122"/>
                <a:cs typeface="Segoe UI" pitchFamily="34" charset="-120"/>
              </a:rPr>
              <a:t xml:space="preserve">ونص الجلطات دي بتحصل في </a:t>
            </a:r>
            <a:pPr rtl="1" algn="r" indent="0" marL="0">
              <a:lnSpc>
                <a:spcPct val="114000"/>
              </a:lnSpc>
              <a:buNone/>
            </a:pPr>
            <a:r>
              <a:rPr lang="ar-EG" sz="1300" b="1" dirty="0">
                <a:solidFill>
                  <a:srgbClr val="F79191"/>
                </a:solidFill>
                <a:latin typeface="Segoe UI" pitchFamily="34" charset="0"/>
                <a:ea typeface="Segoe UI" pitchFamily="34" charset="-122"/>
                <a:cs typeface="Segoe UI" pitchFamily="34" charset="-120"/>
              </a:rPr>
              <a:t>أول يومين</a:t>
            </a:r>
            <a:pPr rtl="1" algn="r" indent="0" marL="0">
              <a:lnSpc>
                <a:spcPct val="114000"/>
              </a:lnSpc>
              <a:buNone/>
            </a:pPr>
            <a:r>
              <a:rPr lang="ar-EG" sz="1300" dirty="0">
                <a:solidFill>
                  <a:srgbClr val="E8F1EE"/>
                </a:solidFill>
                <a:latin typeface="Segoe UI" pitchFamily="34" charset="0"/>
                <a:ea typeface="Segoe UI" pitchFamily="34" charset="-122"/>
                <a:cs typeface="Segoe UI" pitchFamily="34" charset="-120"/>
              </a:rPr>
              <a:t xml:space="preserve"> — نافذة الوقاية قصيرة جدًا</a:t>
            </a:r>
            <a:endParaRPr lang="en-US" sz="1300" dirty="0"/>
          </a:p>
        </p:txBody>
      </p:sp>
      <p:sp>
        <p:nvSpPr>
          <p:cNvPr id="18" name="Shape 16"/>
          <p:cNvSpPr/>
          <p:nvPr/>
        </p:nvSpPr>
        <p:spPr>
          <a:xfrm>
            <a:off x="566928" y="1536192"/>
            <a:ext cx="5708599"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9" name="Text 17"/>
          <p:cNvSpPr/>
          <p:nvPr/>
        </p:nvSpPr>
        <p:spPr>
          <a:xfrm>
            <a:off x="5617159" y="1755648"/>
            <a:ext cx="457200" cy="457200"/>
          </a:xfrm>
          <a:prstGeom prst="roundRect">
            <a:avLst>
              <a:gd name="adj" fmla="val 50000"/>
            </a:avLst>
          </a:prstGeom>
          <a:solidFill>
            <a:srgbClr val="F59E0B"/>
          </a:solidFill>
          <a:ln w="9525">
            <a:solidFill>
              <a:srgbClr val="F59E0B"/>
            </a:solidFill>
          </a:ln>
        </p:spPr>
        <p:txBody>
          <a:bodyPr wrap="square" lIns="0" tIns="0" rIns="0" bIns="0" rtlCol="0" anchor="ctr"/>
          <a:lstStyle/>
          <a:p>
            <a:pPr algn="ctr" indent="0" marL="0">
              <a:buNone/>
            </a:pPr>
            <a:r>
              <a:rPr lang="ar-EG" sz="1400" b="1" dirty="0">
                <a:solidFill>
                  <a:srgbClr val="2A1A02"/>
                </a:solidFill>
                <a:latin typeface="Segoe UI" pitchFamily="34" charset="0"/>
                <a:ea typeface="Segoe UI" pitchFamily="34" charset="-122"/>
                <a:cs typeface="Segoe UI" pitchFamily="34" charset="-120"/>
              </a:rPr>
              <a:t>١</a:t>
            </a:r>
            <a:endParaRPr lang="en-US" sz="1400" dirty="0"/>
          </a:p>
        </p:txBody>
      </p:sp>
      <p:sp>
        <p:nvSpPr>
          <p:cNvPr id="20" name="Text 18"/>
          <p:cNvSpPr txBox="1"/>
          <p:nvPr/>
        </p:nvSpPr>
        <p:spPr>
          <a:xfrm>
            <a:off x="841248" y="1755648"/>
            <a:ext cx="4775911" cy="908304"/>
          </a:xfrm>
          <a:prstGeom prst="rect">
            <a:avLst/>
          </a:prstGeom>
          <a:noFill/>
          <a:ln/>
        </p:spPr>
        <p:txBody>
          <a:bodyPr wrap="square" lIns="0" tIns="0" rIns="0" bIns="0" rtlCol="0" anchor="ctr"/>
          <a:lstStyle/>
          <a:p>
            <a:pPr rtl="1" algn="r" indent="0" marL="0">
              <a:lnSpc>
                <a:spcPct val="118000"/>
              </a:lnSpc>
              <a:buNone/>
            </a:pPr>
            <a:r>
              <a:rPr lang="ar-EG" sz="1350" dirty="0">
                <a:solidFill>
                  <a:srgbClr val="E8F1EE"/>
                </a:solidFill>
                <a:latin typeface="Segoe UI" pitchFamily="34" charset="0"/>
                <a:ea typeface="Segoe UI" pitchFamily="34" charset="-122"/>
                <a:cs typeface="Segoe UI" pitchFamily="34" charset="-120"/>
              </a:rPr>
              <a:t xml:space="preserve">في مصر: </a:t>
            </a:r>
            <a:pPr rtl="1" algn="r" indent="0" marL="0">
              <a:lnSpc>
                <a:spcPct val="118000"/>
              </a:lnSpc>
              <a:buNone/>
            </a:pPr>
            <a:r>
              <a:rPr lang="ar-EG" sz="1350" b="1" dirty="0">
                <a:solidFill>
                  <a:srgbClr val="FFFFFF"/>
                </a:solidFill>
                <a:latin typeface="Segoe UI" pitchFamily="34" charset="0"/>
                <a:ea typeface="Segoe UI" pitchFamily="34" charset="-122"/>
                <a:cs typeface="Segoe UI" pitchFamily="34" charset="-120"/>
              </a:rPr>
              <a:t>أقل من نص</a:t>
            </a:r>
            <a:pPr rtl="1" algn="r" indent="0" marL="0">
              <a:lnSpc>
                <a:spcPct val="118000"/>
              </a:lnSpc>
              <a:buNone/>
            </a:pPr>
            <a:r>
              <a:rPr lang="ar-EG" sz="1350" dirty="0">
                <a:solidFill>
                  <a:srgbClr val="E8F1EE"/>
                </a:solidFill>
                <a:latin typeface="Segoe UI" pitchFamily="34" charset="0"/>
                <a:ea typeface="Segoe UI" pitchFamily="34" charset="-122"/>
                <a:cs typeface="Segoe UI" pitchFamily="34" charset="-120"/>
              </a:rPr>
              <a:t xml:space="preserve"> المشاركين جاوبوا صح على معظم أسئلة الوعي بالجلطة (٢٬١٠٩ مشارك، ٢٠٢٥)</a:t>
            </a:r>
            <a:endParaRPr lang="en-US" sz="1350" dirty="0"/>
          </a:p>
        </p:txBody>
      </p:sp>
      <p:sp>
        <p:nvSpPr>
          <p:cNvPr id="21" name="Shape 19"/>
          <p:cNvSpPr/>
          <p:nvPr/>
        </p:nvSpPr>
        <p:spPr>
          <a:xfrm>
            <a:off x="566928" y="3102864"/>
            <a:ext cx="5708599"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2" name="Text 20"/>
          <p:cNvSpPr/>
          <p:nvPr/>
        </p:nvSpPr>
        <p:spPr>
          <a:xfrm>
            <a:off x="5617159" y="3322320"/>
            <a:ext cx="457200" cy="457200"/>
          </a:xfrm>
          <a:prstGeom prst="roundRect">
            <a:avLst>
              <a:gd name="adj" fmla="val 50000"/>
            </a:avLst>
          </a:prstGeom>
          <a:solidFill>
            <a:srgbClr val="F59E0B"/>
          </a:solidFill>
          <a:ln w="9525">
            <a:solidFill>
              <a:srgbClr val="F59E0B"/>
            </a:solidFill>
          </a:ln>
        </p:spPr>
        <p:txBody>
          <a:bodyPr wrap="square" lIns="0" tIns="0" rIns="0" bIns="0" rtlCol="0" anchor="ctr"/>
          <a:lstStyle/>
          <a:p>
            <a:pPr algn="ctr" indent="0" marL="0">
              <a:buNone/>
            </a:pPr>
            <a:r>
              <a:rPr lang="ar-EG" sz="1400" b="1" dirty="0">
                <a:solidFill>
                  <a:srgbClr val="2A1A02"/>
                </a:solidFill>
                <a:latin typeface="Segoe UI" pitchFamily="34" charset="0"/>
                <a:ea typeface="Segoe UI" pitchFamily="34" charset="-122"/>
                <a:cs typeface="Segoe UI" pitchFamily="34" charset="-120"/>
              </a:rPr>
              <a:t>٢</a:t>
            </a:r>
            <a:endParaRPr lang="en-US" sz="1400" dirty="0"/>
          </a:p>
        </p:txBody>
      </p:sp>
      <p:sp>
        <p:nvSpPr>
          <p:cNvPr id="23" name="Text 21"/>
          <p:cNvSpPr txBox="1"/>
          <p:nvPr/>
        </p:nvSpPr>
        <p:spPr>
          <a:xfrm>
            <a:off x="841248" y="3322320"/>
            <a:ext cx="4775911" cy="908304"/>
          </a:xfrm>
          <a:prstGeom prst="rect">
            <a:avLst/>
          </a:prstGeom>
          <a:noFill/>
          <a:ln/>
        </p:spPr>
        <p:txBody>
          <a:bodyPr wrap="square" lIns="0" tIns="0" rIns="0" bIns="0" rtlCol="0" anchor="ctr"/>
          <a:lstStyle/>
          <a:p>
            <a:pPr rtl="1" algn="r" indent="0" marL="0">
              <a:lnSpc>
                <a:spcPct val="118000"/>
              </a:lnSpc>
              <a:buNone/>
            </a:pPr>
            <a:r>
              <a:rPr lang="ar-EG" sz="1350" dirty="0">
                <a:solidFill>
                  <a:srgbClr val="E8F1EE"/>
                </a:solidFill>
                <a:latin typeface="Segoe UI" pitchFamily="34" charset="0"/>
                <a:ea typeface="Segoe UI" pitchFamily="34" charset="-122"/>
                <a:cs typeface="Segoe UI" pitchFamily="34" charset="-120"/>
              </a:rPr>
              <a:t xml:space="preserve">الأعراض بتيجي </a:t>
            </a:r>
            <a:pPr rtl="1" algn="r" indent="0" marL="0">
              <a:lnSpc>
                <a:spcPct val="118000"/>
              </a:lnSpc>
              <a:buNone/>
            </a:pPr>
            <a:r>
              <a:rPr lang="ar-EG" sz="1350" b="1" dirty="0">
                <a:solidFill>
                  <a:srgbClr val="FFFFFF"/>
                </a:solidFill>
                <a:latin typeface="Segoe UI" pitchFamily="34" charset="0"/>
                <a:ea typeface="Segoe UI" pitchFamily="34" charset="-122"/>
                <a:cs typeface="Segoe UI" pitchFamily="34" charset="-120"/>
              </a:rPr>
              <a:t>مفاجئة وبتروح</a:t>
            </a:r>
            <a:pPr rtl="1" algn="r" indent="0" marL="0">
              <a:lnSpc>
                <a:spcPct val="118000"/>
              </a:lnSpc>
              <a:buNone/>
            </a:pPr>
            <a:r>
              <a:rPr lang="ar-EG" sz="1350" dirty="0">
                <a:solidFill>
                  <a:srgbClr val="E8F1EE"/>
                </a:solidFill>
                <a:latin typeface="Segoe UI" pitchFamily="34" charset="0"/>
                <a:ea typeface="Segoe UI" pitchFamily="34" charset="-122"/>
                <a:cs typeface="Segoe UI" pitchFamily="34" charset="-120"/>
              </a:rPr>
              <a:t xml:space="preserve"> — والمخ البشري بيفسّرها «إرهاق» مش «طوارئ»</a:t>
            </a:r>
            <a:endParaRPr lang="en-US" sz="1350" dirty="0"/>
          </a:p>
        </p:txBody>
      </p:sp>
      <p:sp>
        <p:nvSpPr>
          <p:cNvPr id="24" name="Shape 22"/>
          <p:cNvSpPr/>
          <p:nvPr/>
        </p:nvSpPr>
        <p:spPr>
          <a:xfrm>
            <a:off x="566928" y="4669536"/>
            <a:ext cx="5708599"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5" name="Text 23"/>
          <p:cNvSpPr/>
          <p:nvPr/>
        </p:nvSpPr>
        <p:spPr>
          <a:xfrm>
            <a:off x="5617159" y="4888992"/>
            <a:ext cx="457200" cy="457200"/>
          </a:xfrm>
          <a:prstGeom prst="roundRect">
            <a:avLst>
              <a:gd name="adj" fmla="val 50000"/>
            </a:avLst>
          </a:prstGeom>
          <a:solidFill>
            <a:srgbClr val="F59E0B"/>
          </a:solidFill>
          <a:ln w="9525">
            <a:solidFill>
              <a:srgbClr val="F59E0B"/>
            </a:solidFill>
          </a:ln>
        </p:spPr>
        <p:txBody>
          <a:bodyPr wrap="square" lIns="0" tIns="0" rIns="0" bIns="0" rtlCol="0" anchor="ctr"/>
          <a:lstStyle/>
          <a:p>
            <a:pPr algn="ctr" indent="0" marL="0">
              <a:buNone/>
            </a:pPr>
            <a:r>
              <a:rPr lang="ar-EG" sz="1400" b="1" dirty="0">
                <a:solidFill>
                  <a:srgbClr val="2A1A02"/>
                </a:solidFill>
                <a:latin typeface="Segoe UI" pitchFamily="34" charset="0"/>
                <a:ea typeface="Segoe UI" pitchFamily="34" charset="-122"/>
                <a:cs typeface="Segoe UI" pitchFamily="34" charset="-120"/>
              </a:rPr>
              <a:t>٣</a:t>
            </a:r>
            <a:endParaRPr lang="en-US" sz="1400" dirty="0"/>
          </a:p>
        </p:txBody>
      </p:sp>
      <p:sp>
        <p:nvSpPr>
          <p:cNvPr id="26" name="Text 24"/>
          <p:cNvSpPr txBox="1"/>
          <p:nvPr/>
        </p:nvSpPr>
        <p:spPr>
          <a:xfrm>
            <a:off x="841248" y="4888992"/>
            <a:ext cx="4775911" cy="908304"/>
          </a:xfrm>
          <a:prstGeom prst="rect">
            <a:avLst/>
          </a:prstGeom>
          <a:noFill/>
          <a:ln/>
        </p:spPr>
        <p:txBody>
          <a:bodyPr wrap="square" lIns="0" tIns="0" rIns="0" bIns="0" rtlCol="0" anchor="ctr"/>
          <a:lstStyle/>
          <a:p>
            <a:pPr rtl="1" algn="r" indent="0" marL="0">
              <a:lnSpc>
                <a:spcPct val="118000"/>
              </a:lnSpc>
              <a:buNone/>
            </a:pPr>
            <a:r>
              <a:rPr lang="ar-EG" sz="1350" dirty="0">
                <a:solidFill>
                  <a:srgbClr val="E8F1EE"/>
                </a:solidFill>
                <a:latin typeface="Segoe UI" pitchFamily="34" charset="0"/>
                <a:ea typeface="Segoe UI" pitchFamily="34" charset="-122"/>
                <a:cs typeface="Segoe UI" pitchFamily="34" charset="-120"/>
              </a:rPr>
              <a:t xml:space="preserve">والقرار بيتاخد </a:t>
            </a:r>
            <a:pPr rtl="1" algn="r" indent="0" marL="0">
              <a:lnSpc>
                <a:spcPct val="118000"/>
              </a:lnSpc>
              <a:buNone/>
            </a:pPr>
            <a:r>
              <a:rPr lang="ar-EG" sz="1350" b="1" dirty="0">
                <a:solidFill>
                  <a:srgbClr val="FFFFFF"/>
                </a:solidFill>
                <a:latin typeface="Segoe UI" pitchFamily="34" charset="0"/>
                <a:ea typeface="Segoe UI" pitchFamily="34" charset="-122"/>
                <a:cs typeface="Segoe UI" pitchFamily="34" charset="-120"/>
              </a:rPr>
              <a:t>في البيت، لوحده، تحت ضغط، من غير مرجع</a:t>
            </a:r>
            <a:endParaRPr lang="en-US" sz="1350" dirty="0"/>
          </a:p>
        </p:txBody>
      </p:sp>
      <p:sp>
        <p:nvSpPr>
          <p:cNvPr id="27" name="Text 25"/>
          <p:cNvSpPr txBox="1"/>
          <p:nvPr/>
        </p:nvSpPr>
        <p:spPr>
          <a:xfrm>
            <a:off x="2304288" y="6309360"/>
            <a:ext cx="9320479" cy="347472"/>
          </a:xfrm>
          <a:prstGeom prst="rect">
            <a:avLst/>
          </a:prstGeom>
          <a:noFill/>
          <a:ln/>
        </p:spPr>
        <p:txBody>
          <a:bodyPr wrap="square" lIns="0" tIns="0" rIns="0" bIns="0" rtlCol="0" anchor="ctr"/>
          <a:lstStyle/>
          <a:p>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المصادر: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AHA/ASA</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Stroke</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٢٠٢٣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Giles &amp; Rothwell</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early risk meta-analysis</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Egyptian J. of Neurology</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٢٠٢٥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StatPearls / NCBI</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الحل</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كل مشكلة ومقابلها في نجدة</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٠٧ / ١٨</a:t>
            </a:r>
            <a:endParaRPr lang="en-US" sz="950" dirty="0"/>
          </a:p>
        </p:txBody>
      </p:sp>
      <p:sp>
        <p:nvSpPr>
          <p:cNvPr id="5" name="Text 3"/>
          <p:cNvSpPr txBox="1"/>
          <p:nvPr/>
        </p:nvSpPr>
        <p:spPr>
          <a:xfrm>
            <a:off x="8012887" y="1225296"/>
            <a:ext cx="3611880" cy="256032"/>
          </a:xfrm>
          <a:prstGeom prst="rect">
            <a:avLst/>
          </a:prstGeom>
          <a:noFill/>
          <a:ln/>
        </p:spPr>
        <p:txBody>
          <a:bodyPr wrap="square" lIns="0" tIns="0" rIns="0" bIns="0" rtlCol="0" anchor="t"/>
          <a:lstStyle/>
          <a:p>
            <a:pPr rtl="1" algn="r" indent="0" marL="0">
              <a:lnSpc>
                <a:spcPct val="100000"/>
              </a:lnSpc>
              <a:buNone/>
            </a:pPr>
            <a:r>
              <a:rPr lang="ar-EG" sz="1100" b="1" dirty="0">
                <a:solidFill>
                  <a:srgbClr val="8AA29D"/>
                </a:solidFill>
                <a:latin typeface="Segoe UI" pitchFamily="34" charset="0"/>
                <a:ea typeface="Segoe UI" pitchFamily="34" charset="-122"/>
                <a:cs typeface="Segoe UI" pitchFamily="34" charset="-120"/>
              </a:rPr>
              <a:t>المشكلة</a:t>
            </a:r>
            <a:endParaRPr lang="en-US" sz="1100" dirty="0"/>
          </a:p>
        </p:txBody>
      </p:sp>
      <p:sp>
        <p:nvSpPr>
          <p:cNvPr id="6" name="Text 4"/>
          <p:cNvSpPr txBox="1"/>
          <p:nvPr/>
        </p:nvSpPr>
        <p:spPr>
          <a:xfrm>
            <a:off x="566928" y="1225296"/>
            <a:ext cx="6851599" cy="256032"/>
          </a:xfrm>
          <a:prstGeom prst="rect">
            <a:avLst/>
          </a:prstGeom>
          <a:noFill/>
          <a:ln/>
        </p:spPr>
        <p:txBody>
          <a:bodyPr wrap="square" lIns="0" tIns="0" rIns="0" bIns="0" rtlCol="0" anchor="t"/>
          <a:lstStyle/>
          <a:p>
            <a:pPr rtl="1" algn="r" indent="0" marL="0">
              <a:lnSpc>
                <a:spcPct val="100000"/>
              </a:lnSpc>
              <a:buNone/>
            </a:pPr>
            <a:r>
              <a:rPr lang="ar-EG" sz="1100" b="1" dirty="0">
                <a:solidFill>
                  <a:srgbClr val="5EDCB0"/>
                </a:solidFill>
                <a:latin typeface="Segoe UI" pitchFamily="34" charset="0"/>
                <a:ea typeface="Segoe UI" pitchFamily="34" charset="-122"/>
                <a:cs typeface="Segoe UI" pitchFamily="34" charset="-120"/>
              </a:rPr>
              <a:t>اللي نجدة بتعمله</a:t>
            </a:r>
            <a:endParaRPr lang="en-US" sz="1100" dirty="0"/>
          </a:p>
        </p:txBody>
      </p:sp>
      <p:sp>
        <p:nvSpPr>
          <p:cNvPr id="7" name="Text 5"/>
          <p:cNvSpPr txBox="1"/>
          <p:nvPr/>
        </p:nvSpPr>
        <p:spPr>
          <a:xfrm>
            <a:off x="8067751" y="1536192"/>
            <a:ext cx="3502152" cy="553865"/>
          </a:xfrm>
          <a:prstGeom prst="rect">
            <a:avLst/>
          </a:prstGeom>
          <a:noFill/>
          <a:ln/>
        </p:spPr>
        <p:txBody>
          <a:bodyPr wrap="square" lIns="0" tIns="0" rIns="0" bIns="0" rtlCol="0" anchor="ctr"/>
          <a:lstStyle/>
          <a:p>
            <a:pPr rtl="1" algn="r" indent="0" marL="0">
              <a:lnSpc>
                <a:spcPct val="105000"/>
              </a:lnSpc>
              <a:buNone/>
            </a:pPr>
            <a:r>
              <a:rPr lang="ar-EG" sz="1250" dirty="0">
                <a:solidFill>
                  <a:srgbClr val="8AA29D"/>
                </a:solidFill>
                <a:latin typeface="Segoe UI" pitchFamily="34" charset="0"/>
                <a:ea typeface="Segoe UI" pitchFamily="34" charset="-122"/>
                <a:cs typeface="Segoe UI" pitchFamily="34" charset="-120"/>
              </a:rPr>
              <a:t>الوقت الضايع في التردد</a:t>
            </a:r>
            <a:endParaRPr lang="en-US" sz="1250" dirty="0"/>
          </a:p>
        </p:txBody>
      </p:sp>
      <p:sp>
        <p:nvSpPr>
          <p:cNvPr id="8" name="Text 6"/>
          <p:cNvSpPr/>
          <p:nvPr/>
        </p:nvSpPr>
        <p:spPr>
          <a:xfrm>
            <a:off x="7509967" y="1536192"/>
            <a:ext cx="502920" cy="553865"/>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9" name="Shape 7"/>
          <p:cNvSpPr/>
          <p:nvPr/>
        </p:nvSpPr>
        <p:spPr>
          <a:xfrm>
            <a:off x="566928" y="1536192"/>
            <a:ext cx="6851599" cy="553865"/>
          </a:xfrm>
          <a:prstGeom prst="roundRect">
            <a:avLst>
              <a:gd name="adj" fmla="val 11557"/>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10" name="Text 8"/>
          <p:cNvSpPr txBox="1"/>
          <p:nvPr/>
        </p:nvSpPr>
        <p:spPr>
          <a:xfrm>
            <a:off x="822960" y="1536192"/>
            <a:ext cx="6339535" cy="553865"/>
          </a:xfrm>
          <a:prstGeom prst="rect">
            <a:avLst/>
          </a:prstGeom>
          <a:noFill/>
          <a:ln/>
        </p:spPr>
        <p:txBody>
          <a:bodyPr wrap="square" lIns="0" tIns="0" rIns="0" bIns="0" rtlCol="0" anchor="ctr"/>
          <a:lstStyle/>
          <a:p>
            <a:pPr rtl="1" algn="r" indent="0" marL="0">
              <a:lnSpc>
                <a:spcPct val="105000"/>
              </a:lnSpc>
              <a:buNone/>
            </a:pPr>
            <a:r>
              <a:rPr lang="ar-EG" sz="1300" b="1" dirty="0">
                <a:solidFill>
                  <a:srgbClr val="5EDCB0"/>
                </a:solidFill>
                <a:latin typeface="Segoe UI" pitchFamily="34" charset="0"/>
                <a:ea typeface="Segoe UI" pitchFamily="34" charset="-122"/>
                <a:cs typeface="Segoe UI" pitchFamily="34" charset="-120"/>
              </a:rPr>
              <a:t>فرز فوري بالمصري</a:t>
            </a:r>
            <a:pPr rtl="1" algn="r" indent="0" marL="0">
              <a:lnSpc>
                <a:spcPct val="105000"/>
              </a:lnSpc>
              <a:buNone/>
            </a:pPr>
            <a:r>
              <a:rPr lang="ar-EG" sz="1300" dirty="0">
                <a:solidFill>
                  <a:srgbClr val="E8F1EE"/>
                </a:solidFill>
                <a:latin typeface="Segoe UI" pitchFamily="34" charset="0"/>
                <a:ea typeface="Segoe UI" pitchFamily="34" charset="-122"/>
                <a:cs typeface="Segoe UI" pitchFamily="34" charset="-120"/>
              </a:rPr>
              <a:t xml:space="preserve"> في ثواني، ٢٤/٧</a:t>
            </a:r>
            <a:endParaRPr lang="en-US" sz="1300" dirty="0"/>
          </a:p>
        </p:txBody>
      </p:sp>
      <p:sp>
        <p:nvSpPr>
          <p:cNvPr id="11" name="Text 9"/>
          <p:cNvSpPr txBox="1"/>
          <p:nvPr/>
        </p:nvSpPr>
        <p:spPr>
          <a:xfrm>
            <a:off x="8067751" y="2190641"/>
            <a:ext cx="3502152" cy="553865"/>
          </a:xfrm>
          <a:prstGeom prst="rect">
            <a:avLst/>
          </a:prstGeom>
          <a:noFill/>
          <a:ln/>
        </p:spPr>
        <p:txBody>
          <a:bodyPr wrap="square" lIns="0" tIns="0" rIns="0" bIns="0" rtlCol="0" anchor="ctr"/>
          <a:lstStyle/>
          <a:p>
            <a:pPr rtl="1" algn="r" indent="0" marL="0">
              <a:lnSpc>
                <a:spcPct val="105000"/>
              </a:lnSpc>
              <a:buNone/>
            </a:pPr>
            <a:r>
              <a:rPr lang="ar-EG" sz="1250" dirty="0">
                <a:solidFill>
                  <a:srgbClr val="8AA29D"/>
                </a:solidFill>
                <a:latin typeface="Segoe UI" pitchFamily="34" charset="0"/>
                <a:ea typeface="Segoe UI" pitchFamily="34" charset="-122"/>
                <a:cs typeface="Segoe UI" pitchFamily="34" charset="-120"/>
              </a:rPr>
              <a:t>العرَض الغامض</a:t>
            </a:r>
            <a:endParaRPr lang="en-US" sz="1250" dirty="0"/>
          </a:p>
        </p:txBody>
      </p:sp>
      <p:sp>
        <p:nvSpPr>
          <p:cNvPr id="12" name="Text 10"/>
          <p:cNvSpPr/>
          <p:nvPr/>
        </p:nvSpPr>
        <p:spPr>
          <a:xfrm>
            <a:off x="7509967" y="2190641"/>
            <a:ext cx="502920" cy="553865"/>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3" name="Shape 11"/>
          <p:cNvSpPr/>
          <p:nvPr/>
        </p:nvSpPr>
        <p:spPr>
          <a:xfrm>
            <a:off x="566928" y="2190641"/>
            <a:ext cx="6851599" cy="553865"/>
          </a:xfrm>
          <a:prstGeom prst="roundRect">
            <a:avLst>
              <a:gd name="adj" fmla="val 11557"/>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14" name="Text 12"/>
          <p:cNvSpPr txBox="1"/>
          <p:nvPr/>
        </p:nvSpPr>
        <p:spPr>
          <a:xfrm>
            <a:off x="822960" y="2190641"/>
            <a:ext cx="6339535" cy="553865"/>
          </a:xfrm>
          <a:prstGeom prst="rect">
            <a:avLst/>
          </a:prstGeom>
          <a:noFill/>
          <a:ln/>
        </p:spPr>
        <p:txBody>
          <a:bodyPr wrap="square" lIns="0" tIns="0" rIns="0" bIns="0" rtlCol="0" anchor="ctr"/>
          <a:lstStyle/>
          <a:p>
            <a:pPr rtl="1" algn="r" indent="0" marL="0">
              <a:lnSpc>
                <a:spcPct val="105000"/>
              </a:lnSpc>
              <a:buNone/>
            </a:pPr>
            <a:r>
              <a:rPr lang="ar-EG" sz="1300" b="1" dirty="0">
                <a:solidFill>
                  <a:srgbClr val="5EDCB0"/>
                </a:solidFill>
                <a:latin typeface="Segoe UI" pitchFamily="34" charset="0"/>
                <a:ea typeface="Segoe UI" pitchFamily="34" charset="-122"/>
                <a:cs typeface="Segoe UI" pitchFamily="34" charset="-120"/>
              </a:rPr>
              <a:t>سؤال متابعة واحد</a:t>
            </a:r>
            <a:pPr rtl="1" algn="r" indent="0" marL="0">
              <a:lnSpc>
                <a:spcPct val="105000"/>
              </a:lnSpc>
              <a:buNone/>
            </a:pPr>
            <a:r>
              <a:rPr lang="ar-EG" sz="1300" dirty="0">
                <a:solidFill>
                  <a:srgbClr val="E8F1EE"/>
                </a:solidFill>
                <a:latin typeface="Segoe UI" pitchFamily="34" charset="0"/>
                <a:ea typeface="Segoe UI" pitchFamily="34" charset="-122"/>
                <a:cs typeface="Segoe UI" pitchFamily="34" charset="-120"/>
              </a:rPr>
              <a:t xml:space="preserve"> زي المسعف، مش استمارة طويلة</a:t>
            </a:r>
            <a:endParaRPr lang="en-US" sz="1300" dirty="0"/>
          </a:p>
        </p:txBody>
      </p:sp>
      <p:sp>
        <p:nvSpPr>
          <p:cNvPr id="15" name="Text 13"/>
          <p:cNvSpPr txBox="1"/>
          <p:nvPr/>
        </p:nvSpPr>
        <p:spPr>
          <a:xfrm>
            <a:off x="8067751" y="2845090"/>
            <a:ext cx="3502152" cy="553865"/>
          </a:xfrm>
          <a:prstGeom prst="rect">
            <a:avLst/>
          </a:prstGeom>
          <a:noFill/>
          <a:ln/>
        </p:spPr>
        <p:txBody>
          <a:bodyPr wrap="square" lIns="0" tIns="0" rIns="0" bIns="0" rtlCol="0" anchor="ctr"/>
          <a:lstStyle/>
          <a:p>
            <a:pPr rtl="1" algn="r" indent="0" marL="0">
              <a:lnSpc>
                <a:spcPct val="105000"/>
              </a:lnSpc>
              <a:buNone/>
            </a:pPr>
            <a:r>
              <a:rPr lang="ar-EG" sz="1250" dirty="0">
                <a:solidFill>
                  <a:srgbClr val="8AA29D"/>
                </a:solidFill>
                <a:latin typeface="Segoe UI" pitchFamily="34" charset="0"/>
                <a:ea typeface="Segoe UI" pitchFamily="34" charset="-122"/>
                <a:cs typeface="Segoe UI" pitchFamily="34" charset="-120"/>
              </a:rPr>
              <a:t>العلامة الحمرا</a:t>
            </a:r>
            <a:endParaRPr lang="en-US" sz="1250" dirty="0"/>
          </a:p>
        </p:txBody>
      </p:sp>
      <p:sp>
        <p:nvSpPr>
          <p:cNvPr id="16" name="Text 14"/>
          <p:cNvSpPr/>
          <p:nvPr/>
        </p:nvSpPr>
        <p:spPr>
          <a:xfrm>
            <a:off x="7509967" y="2845090"/>
            <a:ext cx="502920" cy="553865"/>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7" name="Shape 15"/>
          <p:cNvSpPr/>
          <p:nvPr/>
        </p:nvSpPr>
        <p:spPr>
          <a:xfrm>
            <a:off x="566928" y="2845090"/>
            <a:ext cx="6851599" cy="553865"/>
          </a:xfrm>
          <a:prstGeom prst="roundRect">
            <a:avLst>
              <a:gd name="adj" fmla="val 11557"/>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18" name="Text 16"/>
          <p:cNvSpPr txBox="1"/>
          <p:nvPr/>
        </p:nvSpPr>
        <p:spPr>
          <a:xfrm>
            <a:off x="822960" y="2845090"/>
            <a:ext cx="6339535" cy="553865"/>
          </a:xfrm>
          <a:prstGeom prst="rect">
            <a:avLst/>
          </a:prstGeom>
          <a:noFill/>
          <a:ln/>
        </p:spPr>
        <p:txBody>
          <a:bodyPr wrap="square" lIns="0" tIns="0" rIns="0" bIns="0" rtlCol="0" anchor="ctr"/>
          <a:lstStyle/>
          <a:p>
            <a:pPr rtl="1" algn="r" indent="0" marL="0">
              <a:lnSpc>
                <a:spcPct val="105000"/>
              </a:lnSpc>
              <a:buNone/>
            </a:pPr>
            <a:r>
              <a:rPr lang="ar-EG" sz="1300" b="1" dirty="0">
                <a:solidFill>
                  <a:srgbClr val="5EDCB0"/>
                </a:solidFill>
                <a:latin typeface="Segoe UI" pitchFamily="34" charset="0"/>
                <a:ea typeface="Segoe UI" pitchFamily="34" charset="-122"/>
                <a:cs typeface="Segoe UI" pitchFamily="34" charset="-120"/>
              </a:rPr>
              <a:t>تصعيد فوري</a:t>
            </a:r>
            <a:pPr rtl="1" algn="r" indent="0" marL="0">
              <a:lnSpc>
                <a:spcPct val="105000"/>
              </a:lnSpc>
              <a:buNone/>
            </a:pPr>
            <a:r>
              <a:rPr lang="ar-EG" sz="1300" dirty="0">
                <a:solidFill>
                  <a:srgbClr val="E8F1EE"/>
                </a:solidFill>
                <a:latin typeface="Segoe UI" pitchFamily="34" charset="0"/>
                <a:ea typeface="Segoe UI" pitchFamily="34" charset="-122"/>
                <a:cs typeface="Segoe UI" pitchFamily="34" charset="-120"/>
              </a:rPr>
              <a:t xml:space="preserve"> وذكر الإسعاف </a:t>
            </a:r>
            <a:pPr rtl="1" algn="r" indent="0" marL="0">
              <a:lnSpc>
                <a:spcPct val="105000"/>
              </a:lnSpc>
              <a:buNone/>
            </a:pPr>
            <a:r>
              <a:rPr lang="ar-EG" sz="1300" b="1" dirty="0">
                <a:solidFill>
                  <a:srgbClr val="5EDCB0"/>
                </a:solidFill>
                <a:latin typeface="Segoe UI" pitchFamily="34" charset="0"/>
                <a:ea typeface="Segoe UI" pitchFamily="34" charset="-122"/>
                <a:cs typeface="Segoe UI" pitchFamily="34" charset="-120"/>
              </a:rPr>
              <a:t>١٢٣</a:t>
            </a:r>
            <a:pPr rtl="1" algn="r" indent="0" marL="0">
              <a:lnSpc>
                <a:spcPct val="105000"/>
              </a:lnSpc>
              <a:buNone/>
            </a:pPr>
            <a:r>
              <a:rPr lang="ar-EG" sz="1300" dirty="0">
                <a:solidFill>
                  <a:srgbClr val="E8F1EE"/>
                </a:solidFill>
                <a:latin typeface="Segoe UI" pitchFamily="34" charset="0"/>
                <a:ea typeface="Segoe UI" pitchFamily="34" charset="-122"/>
                <a:cs typeface="Segoe UI" pitchFamily="34" charset="-120"/>
              </a:rPr>
              <a:t xml:space="preserve"> من أول سطر مش آخره</a:t>
            </a:r>
            <a:endParaRPr lang="en-US" sz="1300" dirty="0"/>
          </a:p>
        </p:txBody>
      </p:sp>
      <p:sp>
        <p:nvSpPr>
          <p:cNvPr id="19" name="Text 17"/>
          <p:cNvSpPr txBox="1"/>
          <p:nvPr/>
        </p:nvSpPr>
        <p:spPr>
          <a:xfrm>
            <a:off x="8067751" y="3499539"/>
            <a:ext cx="3502152" cy="553865"/>
          </a:xfrm>
          <a:prstGeom prst="rect">
            <a:avLst/>
          </a:prstGeom>
          <a:noFill/>
          <a:ln/>
        </p:spPr>
        <p:txBody>
          <a:bodyPr wrap="square" lIns="0" tIns="0" rIns="0" bIns="0" rtlCol="0" anchor="ctr"/>
          <a:lstStyle/>
          <a:p>
            <a:pPr rtl="1" algn="r" indent="0" marL="0">
              <a:lnSpc>
                <a:spcPct val="105000"/>
              </a:lnSpc>
              <a:buNone/>
            </a:pPr>
            <a:r>
              <a:rPr lang="ar-EG" sz="1250" dirty="0">
                <a:solidFill>
                  <a:srgbClr val="8AA29D"/>
                </a:solidFill>
                <a:latin typeface="Segoe UI" pitchFamily="34" charset="0"/>
                <a:ea typeface="Segoe UI" pitchFamily="34" charset="-122"/>
                <a:cs typeface="Segoe UI" pitchFamily="34" charset="-120"/>
              </a:rPr>
              <a:t>«منين جبت الكلام ده؟»</a:t>
            </a:r>
            <a:endParaRPr lang="en-US" sz="1250" dirty="0"/>
          </a:p>
        </p:txBody>
      </p:sp>
      <p:sp>
        <p:nvSpPr>
          <p:cNvPr id="20" name="Text 18"/>
          <p:cNvSpPr/>
          <p:nvPr/>
        </p:nvSpPr>
        <p:spPr>
          <a:xfrm>
            <a:off x="7509967" y="3499539"/>
            <a:ext cx="502920" cy="553865"/>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21" name="Shape 19"/>
          <p:cNvSpPr/>
          <p:nvPr/>
        </p:nvSpPr>
        <p:spPr>
          <a:xfrm>
            <a:off x="566928" y="3499539"/>
            <a:ext cx="6851599" cy="553865"/>
          </a:xfrm>
          <a:prstGeom prst="roundRect">
            <a:avLst>
              <a:gd name="adj" fmla="val 11557"/>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2" name="Text 20"/>
          <p:cNvSpPr txBox="1"/>
          <p:nvPr/>
        </p:nvSpPr>
        <p:spPr>
          <a:xfrm>
            <a:off x="822960" y="3499539"/>
            <a:ext cx="6339535" cy="553865"/>
          </a:xfrm>
          <a:prstGeom prst="rect">
            <a:avLst/>
          </a:prstGeom>
          <a:noFill/>
          <a:ln/>
        </p:spPr>
        <p:txBody>
          <a:bodyPr wrap="square" lIns="0" tIns="0" rIns="0" bIns="0" rtlCol="0" anchor="ctr"/>
          <a:lstStyle/>
          <a:p>
            <a:pPr rtl="1" algn="r" indent="0" marL="0">
              <a:lnSpc>
                <a:spcPct val="105000"/>
              </a:lnSpc>
              <a:buNone/>
            </a:pPr>
            <a:r>
              <a:rPr lang="ar-EG" sz="1300" b="1" dirty="0">
                <a:solidFill>
                  <a:srgbClr val="5EDCB0"/>
                </a:solidFill>
                <a:latin typeface="Segoe UI" pitchFamily="34" charset="0"/>
                <a:ea typeface="Segoe UI" pitchFamily="34" charset="-122"/>
                <a:cs typeface="Segoe UI" pitchFamily="34" charset="-120"/>
              </a:rPr>
              <a:t>كل رد بمصادره</a:t>
            </a:r>
            <a:pPr rtl="1" algn="r" indent="0" marL="0">
              <a:lnSpc>
                <a:spcPct val="105000"/>
              </a:lnSpc>
              <a:buNone/>
            </a:pPr>
            <a:r>
              <a:rPr lang="ar-EG" sz="1300" dirty="0">
                <a:solidFill>
                  <a:srgbClr val="E8F1EE"/>
                </a:solidFill>
                <a:latin typeface="Segoe UI" pitchFamily="34" charset="0"/>
                <a:ea typeface="Segoe UI" pitchFamily="34" charset="-122"/>
                <a:cs typeface="Segoe UI" pitchFamily="34" charset="-120"/>
              </a:rPr>
              <a:t xml:space="preserve"> ولينكاتها الأصلية</a:t>
            </a:r>
            <a:endParaRPr lang="en-US" sz="1300" dirty="0"/>
          </a:p>
        </p:txBody>
      </p:sp>
      <p:sp>
        <p:nvSpPr>
          <p:cNvPr id="23" name="Text 21"/>
          <p:cNvSpPr txBox="1"/>
          <p:nvPr/>
        </p:nvSpPr>
        <p:spPr>
          <a:xfrm>
            <a:off x="8067751" y="4153989"/>
            <a:ext cx="3502152" cy="553865"/>
          </a:xfrm>
          <a:prstGeom prst="rect">
            <a:avLst/>
          </a:prstGeom>
          <a:noFill/>
          <a:ln/>
        </p:spPr>
        <p:txBody>
          <a:bodyPr wrap="square" lIns="0" tIns="0" rIns="0" bIns="0" rtlCol="0" anchor="ctr"/>
          <a:lstStyle/>
          <a:p>
            <a:pPr rtl="1" algn="r" indent="0" marL="0">
              <a:lnSpc>
                <a:spcPct val="105000"/>
              </a:lnSpc>
              <a:buNone/>
            </a:pPr>
            <a:r>
              <a:rPr lang="ar-EG" sz="1250" dirty="0">
                <a:solidFill>
                  <a:srgbClr val="8AA29D"/>
                </a:solidFill>
                <a:latin typeface="Segoe UI" pitchFamily="34" charset="0"/>
                <a:ea typeface="Segoe UI" pitchFamily="34" charset="-122"/>
                <a:cs typeface="Segoe UI" pitchFamily="34" charset="-120"/>
              </a:rPr>
              <a:t>المريض لوحده</a:t>
            </a:r>
            <a:endParaRPr lang="en-US" sz="1250" dirty="0"/>
          </a:p>
        </p:txBody>
      </p:sp>
      <p:sp>
        <p:nvSpPr>
          <p:cNvPr id="24" name="Text 22"/>
          <p:cNvSpPr/>
          <p:nvPr/>
        </p:nvSpPr>
        <p:spPr>
          <a:xfrm>
            <a:off x="7509967" y="4153989"/>
            <a:ext cx="502920" cy="553865"/>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25" name="Shape 23"/>
          <p:cNvSpPr/>
          <p:nvPr/>
        </p:nvSpPr>
        <p:spPr>
          <a:xfrm>
            <a:off x="566928" y="4153989"/>
            <a:ext cx="6851599" cy="553865"/>
          </a:xfrm>
          <a:prstGeom prst="roundRect">
            <a:avLst>
              <a:gd name="adj" fmla="val 11557"/>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6" name="Text 24"/>
          <p:cNvSpPr txBox="1"/>
          <p:nvPr/>
        </p:nvSpPr>
        <p:spPr>
          <a:xfrm>
            <a:off x="822960" y="4153989"/>
            <a:ext cx="6339535" cy="553865"/>
          </a:xfrm>
          <a:prstGeom prst="rect">
            <a:avLst/>
          </a:prstGeom>
          <a:noFill/>
          <a:ln/>
        </p:spPr>
        <p:txBody>
          <a:bodyPr wrap="square" lIns="0" tIns="0" rIns="0" bIns="0" rtlCol="0" anchor="ctr"/>
          <a:lstStyle/>
          <a:p>
            <a:pPr rtl="1" algn="r" indent="0" marL="0">
              <a:lnSpc>
                <a:spcPct val="105000"/>
              </a:lnSpc>
              <a:buNone/>
            </a:pPr>
            <a:r>
              <a:rPr lang="ar-EG" sz="1300" b="1" dirty="0">
                <a:solidFill>
                  <a:srgbClr val="5EDCB0"/>
                </a:solidFill>
                <a:latin typeface="Segoe UI" pitchFamily="34" charset="0"/>
                <a:ea typeface="Segoe UI" pitchFamily="34" charset="-122"/>
                <a:cs typeface="Segoe UI" pitchFamily="34" charset="-120"/>
              </a:rPr>
              <a:t>عداد ٦٠ ثانية ← سرينة واهتزاز ← إبلاغ جهة الاتصال</a:t>
            </a:r>
            <a:endParaRPr lang="en-US" sz="1300" dirty="0"/>
          </a:p>
        </p:txBody>
      </p:sp>
      <p:sp>
        <p:nvSpPr>
          <p:cNvPr id="27" name="Text 25"/>
          <p:cNvSpPr txBox="1"/>
          <p:nvPr/>
        </p:nvSpPr>
        <p:spPr>
          <a:xfrm>
            <a:off x="8067751" y="4808438"/>
            <a:ext cx="3502152" cy="553865"/>
          </a:xfrm>
          <a:prstGeom prst="rect">
            <a:avLst/>
          </a:prstGeom>
          <a:noFill/>
          <a:ln/>
        </p:spPr>
        <p:txBody>
          <a:bodyPr wrap="square" lIns="0" tIns="0" rIns="0" bIns="0" rtlCol="0" anchor="ctr"/>
          <a:lstStyle/>
          <a:p>
            <a:pPr rtl="1" algn="r" indent="0" marL="0">
              <a:lnSpc>
                <a:spcPct val="105000"/>
              </a:lnSpc>
              <a:buNone/>
            </a:pPr>
            <a:r>
              <a:rPr lang="ar-EG" sz="1250" dirty="0">
                <a:solidFill>
                  <a:srgbClr val="8AA29D"/>
                </a:solidFill>
                <a:latin typeface="Segoe UI" pitchFamily="34" charset="0"/>
                <a:ea typeface="Segoe UI" pitchFamily="34" charset="-122"/>
                <a:cs typeface="Segoe UI" pitchFamily="34" charset="-120"/>
              </a:rPr>
              <a:t>اللي مش عارف يكتب</a:t>
            </a:r>
            <a:endParaRPr lang="en-US" sz="1250" dirty="0"/>
          </a:p>
        </p:txBody>
      </p:sp>
      <p:sp>
        <p:nvSpPr>
          <p:cNvPr id="28" name="Text 26"/>
          <p:cNvSpPr/>
          <p:nvPr/>
        </p:nvSpPr>
        <p:spPr>
          <a:xfrm>
            <a:off x="7509967" y="4808438"/>
            <a:ext cx="502920" cy="553865"/>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29" name="Shape 27"/>
          <p:cNvSpPr/>
          <p:nvPr/>
        </p:nvSpPr>
        <p:spPr>
          <a:xfrm>
            <a:off x="566928" y="4808438"/>
            <a:ext cx="6851599" cy="553865"/>
          </a:xfrm>
          <a:prstGeom prst="roundRect">
            <a:avLst>
              <a:gd name="adj" fmla="val 11557"/>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30" name="Text 28"/>
          <p:cNvSpPr txBox="1"/>
          <p:nvPr/>
        </p:nvSpPr>
        <p:spPr>
          <a:xfrm>
            <a:off x="822960" y="4808438"/>
            <a:ext cx="6339535" cy="553865"/>
          </a:xfrm>
          <a:prstGeom prst="rect">
            <a:avLst/>
          </a:prstGeom>
          <a:noFill/>
          <a:ln/>
        </p:spPr>
        <p:txBody>
          <a:bodyPr wrap="square" lIns="0" tIns="0" rIns="0" bIns="0" rtlCol="0" anchor="ctr"/>
          <a:lstStyle/>
          <a:p>
            <a:pPr rtl="1" algn="r" indent="0" marL="0">
              <a:lnSpc>
                <a:spcPct val="105000"/>
              </a:lnSpc>
              <a:buNone/>
            </a:pPr>
            <a:r>
              <a:rPr lang="ar-EG" sz="1300" b="1" dirty="0">
                <a:solidFill>
                  <a:srgbClr val="5EDCB0"/>
                </a:solidFill>
                <a:latin typeface="Segoe UI" pitchFamily="34" charset="0"/>
                <a:ea typeface="Segoe UI" pitchFamily="34" charset="-122"/>
                <a:cs typeface="Segoe UI" pitchFamily="34" charset="-120"/>
              </a:rPr>
              <a:t>صوت ومكالمة حية</a:t>
            </a:r>
            <a:pPr rtl="1" algn="r" indent="0" marL="0">
              <a:lnSpc>
                <a:spcPct val="105000"/>
              </a:lnSpc>
              <a:buNone/>
            </a:pPr>
            <a:r>
              <a:rPr lang="ar-EG" sz="1300" dirty="0">
                <a:solidFill>
                  <a:srgbClr val="E8F1EE"/>
                </a:solidFill>
                <a:latin typeface="Segoe UI" pitchFamily="34" charset="0"/>
                <a:ea typeface="Segoe UI" pitchFamily="34" charset="-122"/>
                <a:cs typeface="Segoe UI" pitchFamily="34" charset="-120"/>
              </a:rPr>
              <a:t xml:space="preserve"> بالمصري</a:t>
            </a:r>
            <a:endParaRPr lang="en-US" sz="1300" dirty="0"/>
          </a:p>
        </p:txBody>
      </p:sp>
      <p:sp>
        <p:nvSpPr>
          <p:cNvPr id="31" name="Text 29"/>
          <p:cNvSpPr txBox="1"/>
          <p:nvPr/>
        </p:nvSpPr>
        <p:spPr>
          <a:xfrm>
            <a:off x="8067751" y="5462887"/>
            <a:ext cx="3502152" cy="553865"/>
          </a:xfrm>
          <a:prstGeom prst="rect">
            <a:avLst/>
          </a:prstGeom>
          <a:noFill/>
          <a:ln/>
        </p:spPr>
        <p:txBody>
          <a:bodyPr wrap="square" lIns="0" tIns="0" rIns="0" bIns="0" rtlCol="0" anchor="ctr"/>
          <a:lstStyle/>
          <a:p>
            <a:pPr rtl="1" algn="r" indent="0" marL="0">
              <a:lnSpc>
                <a:spcPct val="105000"/>
              </a:lnSpc>
              <a:buNone/>
            </a:pPr>
            <a:r>
              <a:rPr lang="ar-EG" sz="1250" dirty="0">
                <a:solidFill>
                  <a:srgbClr val="8AA29D"/>
                </a:solidFill>
                <a:latin typeface="Segoe UI" pitchFamily="34" charset="0"/>
                <a:ea typeface="Segoe UI" pitchFamily="34" charset="-122"/>
                <a:cs typeface="Segoe UI" pitchFamily="34" charset="-120"/>
              </a:rPr>
              <a:t>سؤال بره النطاق</a:t>
            </a:r>
            <a:endParaRPr lang="en-US" sz="1250" dirty="0"/>
          </a:p>
        </p:txBody>
      </p:sp>
      <p:sp>
        <p:nvSpPr>
          <p:cNvPr id="32" name="Text 30"/>
          <p:cNvSpPr/>
          <p:nvPr/>
        </p:nvSpPr>
        <p:spPr>
          <a:xfrm>
            <a:off x="7509967" y="5462887"/>
            <a:ext cx="502920" cy="553865"/>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33" name="Shape 31"/>
          <p:cNvSpPr/>
          <p:nvPr/>
        </p:nvSpPr>
        <p:spPr>
          <a:xfrm>
            <a:off x="566928" y="5462887"/>
            <a:ext cx="6851599" cy="553865"/>
          </a:xfrm>
          <a:prstGeom prst="roundRect">
            <a:avLst>
              <a:gd name="adj" fmla="val 11557"/>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34" name="Text 32"/>
          <p:cNvSpPr txBox="1"/>
          <p:nvPr/>
        </p:nvSpPr>
        <p:spPr>
          <a:xfrm>
            <a:off x="822960" y="5462887"/>
            <a:ext cx="6339535" cy="553865"/>
          </a:xfrm>
          <a:prstGeom prst="rect">
            <a:avLst/>
          </a:prstGeom>
          <a:noFill/>
          <a:ln/>
        </p:spPr>
        <p:txBody>
          <a:bodyPr wrap="square" lIns="0" tIns="0" rIns="0" bIns="0" rtlCol="0" anchor="ctr"/>
          <a:lstStyle/>
          <a:p>
            <a:pPr rtl="1" algn="r" indent="0" marL="0">
              <a:lnSpc>
                <a:spcPct val="105000"/>
              </a:lnSpc>
              <a:buNone/>
            </a:pPr>
            <a:r>
              <a:rPr lang="ar-EG" sz="1300" b="1" dirty="0">
                <a:solidFill>
                  <a:srgbClr val="5EDCB0"/>
                </a:solidFill>
                <a:latin typeface="Segoe UI" pitchFamily="34" charset="0"/>
                <a:ea typeface="Segoe UI" pitchFamily="34" charset="-122"/>
                <a:cs typeface="Segoe UI" pitchFamily="34" charset="-120"/>
              </a:rPr>
              <a:t>رفض صريح</a:t>
            </a:r>
            <a:pPr rtl="1" algn="r" indent="0" marL="0">
              <a:lnSpc>
                <a:spcPct val="105000"/>
              </a:lnSpc>
              <a:buNone/>
            </a:pPr>
            <a:r>
              <a:rPr lang="ar-EG" sz="1300" dirty="0">
                <a:solidFill>
                  <a:srgbClr val="E8F1EE"/>
                </a:solidFill>
                <a:latin typeface="Segoe UI" pitchFamily="34" charset="0"/>
                <a:ea typeface="Segoe UI" pitchFamily="34" charset="-122"/>
                <a:cs typeface="Segoe UI" pitchFamily="34" charset="-120"/>
              </a:rPr>
              <a:t xml:space="preserve"> بدل تخمين طبي</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الحل</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إزاي بيشتغل — المعمارية والمصادر</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٠٨ / ١٨</a:t>
            </a:r>
            <a:endParaRPr lang="en-US" sz="950" dirty="0"/>
          </a:p>
        </p:txBody>
      </p:sp>
      <p:sp>
        <p:nvSpPr>
          <p:cNvPr id="5" name="Shape 3"/>
          <p:cNvSpPr/>
          <p:nvPr/>
        </p:nvSpPr>
        <p:spPr>
          <a:xfrm>
            <a:off x="9148343" y="1572768"/>
            <a:ext cx="2476424" cy="1481328"/>
          </a:xfrm>
          <a:prstGeom prst="roundRect">
            <a:avLst>
              <a:gd name="adj" fmla="val 5556"/>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6" name="Text 4"/>
          <p:cNvSpPr/>
          <p:nvPr/>
        </p:nvSpPr>
        <p:spPr>
          <a:xfrm>
            <a:off x="11057839" y="1755648"/>
            <a:ext cx="384048" cy="384048"/>
          </a:xfrm>
          <a:prstGeom prst="roundRect">
            <a:avLst>
              <a:gd name="adj" fmla="val 50000"/>
            </a:avLst>
          </a:prstGeom>
          <a:solidFill>
            <a:srgbClr val="19A878"/>
          </a:solidFill>
          <a:ln w="9525">
            <a:solidFill>
              <a:srgbClr val="19A878"/>
            </a:solidFill>
          </a:ln>
        </p:spPr>
        <p:txBody>
          <a:bodyPr wrap="square" lIns="0" tIns="0" rIns="0" bIns="0" rtlCol="0" anchor="ctr"/>
          <a:lstStyle/>
          <a:p>
            <a:pPr rtl="1" algn="ctr" indent="0" marL="0">
              <a:buNone/>
            </a:pPr>
            <a:r>
              <a:rPr lang="ar-EG" sz="1200" b="1" dirty="0">
                <a:solidFill>
                  <a:srgbClr val="06181A"/>
                </a:solidFill>
                <a:latin typeface="Segoe UI" pitchFamily="34" charset="0"/>
                <a:ea typeface="Segoe UI" pitchFamily="34" charset="-122"/>
                <a:cs typeface="Segoe UI" pitchFamily="34" charset="-120"/>
              </a:rPr>
              <a:t>١</a:t>
            </a:r>
            <a:endParaRPr lang="en-US" sz="1200" dirty="0"/>
          </a:p>
        </p:txBody>
      </p:sp>
      <p:sp>
        <p:nvSpPr>
          <p:cNvPr id="7" name="Text 5"/>
          <p:cNvSpPr txBox="1"/>
          <p:nvPr/>
        </p:nvSpPr>
        <p:spPr>
          <a:xfrm>
            <a:off x="9386087" y="2249424"/>
            <a:ext cx="2000936" cy="621792"/>
          </a:xfrm>
          <a:prstGeom prst="rect">
            <a:avLst/>
          </a:prstGeom>
          <a:noFill/>
          <a:ln/>
        </p:spPr>
        <p:txBody>
          <a:bodyPr wrap="square" lIns="0" tIns="0" rIns="0" bIns="0" rtlCol="0" anchor="t"/>
          <a:lstStyle/>
          <a:p>
            <a:pPr rtl="1" algn="r" indent="0" marL="0">
              <a:lnSpc>
                <a:spcPct val="116000"/>
              </a:lnSpc>
              <a:buNone/>
            </a:pPr>
            <a:r>
              <a:rPr lang="ar-EG" sz="1150" dirty="0">
                <a:solidFill>
                  <a:srgbClr val="B9CBC6"/>
                </a:solidFill>
                <a:latin typeface="Segoe UI" pitchFamily="34" charset="0"/>
                <a:ea typeface="Segoe UI" pitchFamily="34" charset="-122"/>
                <a:cs typeface="Segoe UI" pitchFamily="34" charset="-120"/>
              </a:rPr>
              <a:t xml:space="preserve">المستخدم بيكتب أو بيتكلم </a:t>
            </a:r>
            <a:pPr rtl="1" algn="r" indent="0" marL="0">
              <a:lnSpc>
                <a:spcPct val="116000"/>
              </a:lnSpc>
              <a:buNone/>
            </a:pPr>
            <a:r>
              <a:rPr lang="ar-EG" sz="1150" b="1" dirty="0">
                <a:solidFill>
                  <a:srgbClr val="5EDCB0"/>
                </a:solidFill>
                <a:latin typeface="Segoe UI" pitchFamily="34" charset="0"/>
                <a:ea typeface="Segoe UI" pitchFamily="34" charset="-122"/>
                <a:cs typeface="Segoe UI" pitchFamily="34" charset="-120"/>
              </a:rPr>
              <a:t>بالمصري</a:t>
            </a:r>
            <a:pPr rtl="1" algn="r" indent="0" marL="0">
              <a:lnSpc>
                <a:spcPct val="116000"/>
              </a:lnSpc>
              <a:buNone/>
            </a:pPr>
            <a:r>
              <a:rPr lang="ar-EG" sz="1150" dirty="0">
                <a:solidFill>
                  <a:srgbClr val="B9CBC6"/>
                </a:solidFill>
                <a:latin typeface="Segoe UI" pitchFamily="34" charset="0"/>
                <a:ea typeface="Segoe UI" pitchFamily="34" charset="-122"/>
                <a:cs typeface="Segoe UI" pitchFamily="34" charset="-120"/>
              </a:rPr>
              <a:t xml:space="preserve"> — من غير مصطلح طبي واحد</a:t>
            </a:r>
            <a:endParaRPr lang="en-US" sz="1150" dirty="0"/>
          </a:p>
        </p:txBody>
      </p:sp>
      <p:sp>
        <p:nvSpPr>
          <p:cNvPr id="8" name="Text 6"/>
          <p:cNvSpPr/>
          <p:nvPr/>
        </p:nvSpPr>
        <p:spPr>
          <a:xfrm>
            <a:off x="8764295" y="1572768"/>
            <a:ext cx="384048" cy="1481328"/>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9" name="Shape 7"/>
          <p:cNvSpPr/>
          <p:nvPr/>
        </p:nvSpPr>
        <p:spPr>
          <a:xfrm>
            <a:off x="6287872" y="1572768"/>
            <a:ext cx="2476424" cy="1481328"/>
          </a:xfrm>
          <a:prstGeom prst="roundRect">
            <a:avLst>
              <a:gd name="adj" fmla="val 5556"/>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0" name="Text 8"/>
          <p:cNvSpPr/>
          <p:nvPr/>
        </p:nvSpPr>
        <p:spPr>
          <a:xfrm>
            <a:off x="8197367" y="1755648"/>
            <a:ext cx="384048" cy="384048"/>
          </a:xfrm>
          <a:prstGeom prst="roundRect">
            <a:avLst>
              <a:gd name="adj" fmla="val 50000"/>
            </a:avLst>
          </a:prstGeom>
          <a:solidFill>
            <a:srgbClr val="19A878"/>
          </a:solidFill>
          <a:ln w="9525">
            <a:solidFill>
              <a:srgbClr val="19A878"/>
            </a:solidFill>
          </a:ln>
        </p:spPr>
        <p:txBody>
          <a:bodyPr wrap="square" lIns="0" tIns="0" rIns="0" bIns="0" rtlCol="0" anchor="ctr"/>
          <a:lstStyle/>
          <a:p>
            <a:pPr rtl="1" algn="ctr" indent="0" marL="0">
              <a:buNone/>
            </a:pPr>
            <a:r>
              <a:rPr lang="ar-EG" sz="1200" b="1" dirty="0">
                <a:solidFill>
                  <a:srgbClr val="06181A"/>
                </a:solidFill>
                <a:latin typeface="Segoe UI" pitchFamily="34" charset="0"/>
                <a:ea typeface="Segoe UI" pitchFamily="34" charset="-122"/>
                <a:cs typeface="Segoe UI" pitchFamily="34" charset="-120"/>
              </a:rPr>
              <a:t>٢</a:t>
            </a:r>
            <a:endParaRPr lang="en-US" sz="1200" dirty="0"/>
          </a:p>
        </p:txBody>
      </p:sp>
      <p:sp>
        <p:nvSpPr>
          <p:cNvPr id="11" name="Text 9"/>
          <p:cNvSpPr txBox="1"/>
          <p:nvPr/>
        </p:nvSpPr>
        <p:spPr>
          <a:xfrm>
            <a:off x="6525616" y="2249424"/>
            <a:ext cx="2000936" cy="621792"/>
          </a:xfrm>
          <a:prstGeom prst="rect">
            <a:avLst/>
          </a:prstGeom>
          <a:noFill/>
          <a:ln/>
        </p:spPr>
        <p:txBody>
          <a:bodyPr wrap="square" lIns="0" tIns="0" rIns="0" bIns="0" rtlCol="0" anchor="t"/>
          <a:lstStyle/>
          <a:p>
            <a:pPr rtl="1" algn="r" indent="0" marL="0">
              <a:lnSpc>
                <a:spcPct val="116000"/>
              </a:lnSpc>
              <a:buNone/>
            </a:pPr>
            <a:r>
              <a:rPr lang="en-US" sz="1150" b="1" dirty="0">
                <a:solidFill>
                  <a:srgbClr val="5EDCB0"/>
                </a:solidFill>
                <a:latin typeface="Segoe UI" pitchFamily="34" charset="0"/>
                <a:ea typeface="Segoe UI" pitchFamily="34" charset="-122"/>
                <a:cs typeface="Segoe UI" pitchFamily="34" charset="-120"/>
              </a:rPr>
              <a:t>Router</a:t>
            </a:r>
            <a:pPr rtl="1" algn="r" indent="0" marL="0">
              <a:lnSpc>
                <a:spcPct val="116000"/>
              </a:lnSpc>
              <a:buNone/>
            </a:pPr>
            <a:r>
              <a:rPr lang="ar-EG" sz="1150" dirty="0">
                <a:solidFill>
                  <a:srgbClr val="B9CBC6"/>
                </a:solidFill>
                <a:latin typeface="Segoe UI" pitchFamily="34" charset="0"/>
                <a:ea typeface="Segoe UI" pitchFamily="34" charset="-122"/>
                <a:cs typeface="Segoe UI" pitchFamily="34" charset="-120"/>
              </a:rPr>
              <a:t xml:space="preserve"> بيوجّه حسب الصعوبة: تحية · فرز أعراض · سؤال إكلينيكي عميق</a:t>
            </a:r>
            <a:endParaRPr lang="en-US" sz="1150" dirty="0"/>
          </a:p>
        </p:txBody>
      </p:sp>
      <p:sp>
        <p:nvSpPr>
          <p:cNvPr id="12" name="Text 10"/>
          <p:cNvSpPr/>
          <p:nvPr/>
        </p:nvSpPr>
        <p:spPr>
          <a:xfrm>
            <a:off x="5903824" y="1572768"/>
            <a:ext cx="384048" cy="1481328"/>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3" name="Shape 11"/>
          <p:cNvSpPr/>
          <p:nvPr/>
        </p:nvSpPr>
        <p:spPr>
          <a:xfrm>
            <a:off x="3427400" y="1572768"/>
            <a:ext cx="2476424" cy="1481328"/>
          </a:xfrm>
          <a:prstGeom prst="roundRect">
            <a:avLst>
              <a:gd name="adj" fmla="val 5556"/>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4" name="Text 12"/>
          <p:cNvSpPr/>
          <p:nvPr/>
        </p:nvSpPr>
        <p:spPr>
          <a:xfrm>
            <a:off x="5336896" y="1755648"/>
            <a:ext cx="384048" cy="384048"/>
          </a:xfrm>
          <a:prstGeom prst="roundRect">
            <a:avLst>
              <a:gd name="adj" fmla="val 50000"/>
            </a:avLst>
          </a:prstGeom>
          <a:solidFill>
            <a:srgbClr val="19A878"/>
          </a:solidFill>
          <a:ln w="9525">
            <a:solidFill>
              <a:srgbClr val="19A878"/>
            </a:solidFill>
          </a:ln>
        </p:spPr>
        <p:txBody>
          <a:bodyPr wrap="square" lIns="0" tIns="0" rIns="0" bIns="0" rtlCol="0" anchor="ctr"/>
          <a:lstStyle/>
          <a:p>
            <a:pPr rtl="1" algn="ctr" indent="0" marL="0">
              <a:buNone/>
            </a:pPr>
            <a:r>
              <a:rPr lang="ar-EG" sz="1200" b="1" dirty="0">
                <a:solidFill>
                  <a:srgbClr val="06181A"/>
                </a:solidFill>
                <a:latin typeface="Segoe UI" pitchFamily="34" charset="0"/>
                <a:ea typeface="Segoe UI" pitchFamily="34" charset="-122"/>
                <a:cs typeface="Segoe UI" pitchFamily="34" charset="-120"/>
              </a:rPr>
              <a:t>٣</a:t>
            </a:r>
            <a:endParaRPr lang="en-US" sz="1200" dirty="0"/>
          </a:p>
        </p:txBody>
      </p:sp>
      <p:sp>
        <p:nvSpPr>
          <p:cNvPr id="15" name="Text 13"/>
          <p:cNvSpPr txBox="1"/>
          <p:nvPr/>
        </p:nvSpPr>
        <p:spPr>
          <a:xfrm>
            <a:off x="3665144" y="2249424"/>
            <a:ext cx="2000936" cy="621792"/>
          </a:xfrm>
          <a:prstGeom prst="rect">
            <a:avLst/>
          </a:prstGeom>
          <a:noFill/>
          <a:ln/>
        </p:spPr>
        <p:txBody>
          <a:bodyPr wrap="square" lIns="0" tIns="0" rIns="0" bIns="0" rtlCol="0" anchor="t"/>
          <a:lstStyle/>
          <a:p>
            <a:pPr rtl="1" algn="r" indent="0" marL="0">
              <a:lnSpc>
                <a:spcPct val="116000"/>
              </a:lnSpc>
              <a:buNone/>
            </a:pPr>
            <a:r>
              <a:rPr lang="ar-EG" sz="1150" b="1" dirty="0">
                <a:solidFill>
                  <a:srgbClr val="5EDCB0"/>
                </a:solidFill>
                <a:latin typeface="Segoe UI" pitchFamily="34" charset="0"/>
                <a:ea typeface="Segoe UI" pitchFamily="34" charset="-122"/>
                <a:cs typeface="Segoe UI" pitchFamily="34" charset="-120"/>
              </a:rPr>
              <a:t>استرجاع هجين</a:t>
            </a:r>
            <a:pPr rtl="1" algn="r" indent="0" marL="0">
              <a:lnSpc>
                <a:spcPct val="116000"/>
              </a:lnSpc>
              <a:buNone/>
            </a:pPr>
            <a:r>
              <a:rPr lang="ar-EG" sz="1150" dirty="0">
                <a:solidFill>
                  <a:srgbClr val="B9CBC6"/>
                </a:solidFill>
                <a:latin typeface="Segoe UI" pitchFamily="34" charset="0"/>
                <a:ea typeface="Segoe UI" pitchFamily="34" charset="-122"/>
                <a:cs typeface="Segoe UI" pitchFamily="34" charset="-120"/>
              </a:rPr>
              <a:t xml:space="preserve">: </a:t>
            </a:r>
            <a:pPr rtl="1" algn="r" indent="0" marL="0">
              <a:lnSpc>
                <a:spcPct val="116000"/>
              </a:lnSpc>
              <a:buNone/>
            </a:pPr>
            <a:r>
              <a:rPr lang="en-US" sz="1150" dirty="0">
                <a:solidFill>
                  <a:srgbClr val="B9CBC6"/>
                </a:solidFill>
                <a:latin typeface="Segoe UI" pitchFamily="34" charset="0"/>
                <a:ea typeface="Segoe UI" pitchFamily="34" charset="-122"/>
                <a:cs typeface="Segoe UI" pitchFamily="34" charset="-120"/>
              </a:rPr>
              <a:t>Dense + BM25</a:t>
            </a:r>
            <a:pPr rtl="1" algn="r" indent="0" marL="0">
              <a:lnSpc>
                <a:spcPct val="116000"/>
              </a:lnSpc>
              <a:buNone/>
            </a:pPr>
            <a:r>
              <a:rPr lang="ar-EG" sz="1150" dirty="0">
                <a:solidFill>
                  <a:srgbClr val="B9CBC6"/>
                </a:solidFill>
                <a:latin typeface="Segoe UI" pitchFamily="34" charset="0"/>
                <a:ea typeface="Segoe UI" pitchFamily="34" charset="-122"/>
                <a:cs typeface="Segoe UI" pitchFamily="34" charset="-120"/>
              </a:rPr>
              <a:t xml:space="preserve"> مدموجين بـ </a:t>
            </a:r>
            <a:pPr rtl="1" algn="r" indent="0" marL="0">
              <a:lnSpc>
                <a:spcPct val="116000"/>
              </a:lnSpc>
              <a:buNone/>
            </a:pPr>
            <a:r>
              <a:rPr lang="en-US" sz="1150" dirty="0">
                <a:solidFill>
                  <a:srgbClr val="B9CBC6"/>
                </a:solidFill>
                <a:latin typeface="Segoe UI" pitchFamily="34" charset="0"/>
                <a:ea typeface="Segoe UI" pitchFamily="34" charset="-122"/>
                <a:cs typeface="Segoe UI" pitchFamily="34" charset="-120"/>
              </a:rPr>
              <a:t>RRF</a:t>
            </a:r>
            <a:pPr rtl="1" algn="r" indent="0" marL="0">
              <a:lnSpc>
                <a:spcPct val="116000"/>
              </a:lnSpc>
              <a:buNone/>
            </a:pPr>
            <a:r>
              <a:rPr lang="ar-EG" sz="1150" dirty="0">
                <a:solidFill>
                  <a:srgbClr val="B9CBC6"/>
                </a:solidFill>
                <a:latin typeface="Segoe UI" pitchFamily="34" charset="0"/>
                <a:ea typeface="Segoe UI" pitchFamily="34" charset="-122"/>
                <a:cs typeface="Segoe UI" pitchFamily="34" charset="-120"/>
              </a:rPr>
              <a:t xml:space="preserve"> ثم </a:t>
            </a:r>
            <a:pPr rtl="1" algn="r" indent="0" marL="0">
              <a:lnSpc>
                <a:spcPct val="116000"/>
              </a:lnSpc>
              <a:buNone/>
            </a:pPr>
            <a:r>
              <a:rPr lang="en-US" sz="1150" dirty="0">
                <a:solidFill>
                  <a:srgbClr val="B9CBC6"/>
                </a:solidFill>
                <a:latin typeface="Segoe UI" pitchFamily="34" charset="0"/>
                <a:ea typeface="Segoe UI" pitchFamily="34" charset="-122"/>
                <a:cs typeface="Segoe UI" pitchFamily="34" charset="-120"/>
              </a:rPr>
              <a:t>CrossEncoder reranker</a:t>
            </a:r>
            <a:endParaRPr lang="en-US" sz="1150" dirty="0"/>
          </a:p>
        </p:txBody>
      </p:sp>
      <p:sp>
        <p:nvSpPr>
          <p:cNvPr id="16" name="Text 14"/>
          <p:cNvSpPr/>
          <p:nvPr/>
        </p:nvSpPr>
        <p:spPr>
          <a:xfrm>
            <a:off x="3043352" y="1572768"/>
            <a:ext cx="384048" cy="1481328"/>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7" name="Shape 15"/>
          <p:cNvSpPr/>
          <p:nvPr/>
        </p:nvSpPr>
        <p:spPr>
          <a:xfrm>
            <a:off x="566928" y="1572768"/>
            <a:ext cx="2476424" cy="1481328"/>
          </a:xfrm>
          <a:prstGeom prst="roundRect">
            <a:avLst>
              <a:gd name="adj" fmla="val 5556"/>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8" name="Text 16"/>
          <p:cNvSpPr/>
          <p:nvPr/>
        </p:nvSpPr>
        <p:spPr>
          <a:xfrm>
            <a:off x="2476424" y="1755648"/>
            <a:ext cx="384048" cy="384048"/>
          </a:xfrm>
          <a:prstGeom prst="roundRect">
            <a:avLst>
              <a:gd name="adj" fmla="val 50000"/>
            </a:avLst>
          </a:prstGeom>
          <a:solidFill>
            <a:srgbClr val="19A878"/>
          </a:solidFill>
          <a:ln w="9525">
            <a:solidFill>
              <a:srgbClr val="19A878"/>
            </a:solidFill>
          </a:ln>
        </p:spPr>
        <p:txBody>
          <a:bodyPr wrap="square" lIns="0" tIns="0" rIns="0" bIns="0" rtlCol="0" anchor="ctr"/>
          <a:lstStyle/>
          <a:p>
            <a:pPr rtl="1" algn="ctr" indent="0" marL="0">
              <a:buNone/>
            </a:pPr>
            <a:r>
              <a:rPr lang="ar-EG" sz="1200" b="1" dirty="0">
                <a:solidFill>
                  <a:srgbClr val="06181A"/>
                </a:solidFill>
                <a:latin typeface="Segoe UI" pitchFamily="34" charset="0"/>
                <a:ea typeface="Segoe UI" pitchFamily="34" charset="-122"/>
                <a:cs typeface="Segoe UI" pitchFamily="34" charset="-120"/>
              </a:rPr>
              <a:t>٤</a:t>
            </a:r>
            <a:endParaRPr lang="en-US" sz="1200" dirty="0"/>
          </a:p>
        </p:txBody>
      </p:sp>
      <p:sp>
        <p:nvSpPr>
          <p:cNvPr id="19" name="Text 17"/>
          <p:cNvSpPr txBox="1"/>
          <p:nvPr/>
        </p:nvSpPr>
        <p:spPr>
          <a:xfrm>
            <a:off x="804672" y="2249424"/>
            <a:ext cx="2000936" cy="621792"/>
          </a:xfrm>
          <a:prstGeom prst="rect">
            <a:avLst/>
          </a:prstGeom>
          <a:noFill/>
          <a:ln/>
        </p:spPr>
        <p:txBody>
          <a:bodyPr wrap="square" lIns="0" tIns="0" rIns="0" bIns="0" rtlCol="0" anchor="t"/>
          <a:lstStyle/>
          <a:p>
            <a:pPr rtl="1" algn="r" indent="0" marL="0">
              <a:lnSpc>
                <a:spcPct val="116000"/>
              </a:lnSpc>
              <a:buNone/>
            </a:pPr>
            <a:r>
              <a:rPr lang="ar-EG" sz="1150" b="1" dirty="0">
                <a:solidFill>
                  <a:srgbClr val="5EDCB0"/>
                </a:solidFill>
                <a:latin typeface="Segoe UI" pitchFamily="34" charset="0"/>
                <a:ea typeface="Segoe UI" pitchFamily="34" charset="-122"/>
                <a:cs typeface="Segoe UI" pitchFamily="34" charset="-120"/>
              </a:rPr>
              <a:t>بوابة أمان</a:t>
            </a:r>
            <a:pPr rtl="1" algn="r" indent="0" marL="0">
              <a:lnSpc>
                <a:spcPct val="116000"/>
              </a:lnSpc>
              <a:buNone/>
            </a:pPr>
            <a:r>
              <a:rPr lang="ar-EG" sz="1150" dirty="0">
                <a:solidFill>
                  <a:srgbClr val="B9CBC6"/>
                </a:solidFill>
                <a:latin typeface="Segoe UI" pitchFamily="34" charset="0"/>
                <a:ea typeface="Segoe UI" pitchFamily="34" charset="-122"/>
                <a:cs typeface="Segoe UI" pitchFamily="34" charset="-120"/>
              </a:rPr>
              <a:t>: مفيش مصدر قوي كفاية ← رفض، مش تخمين</a:t>
            </a:r>
            <a:endParaRPr lang="en-US" sz="1150" dirty="0"/>
          </a:p>
        </p:txBody>
      </p:sp>
      <p:sp>
        <p:nvSpPr>
          <p:cNvPr id="20" name="Shape 18"/>
          <p:cNvSpPr/>
          <p:nvPr/>
        </p:nvSpPr>
        <p:spPr>
          <a:xfrm>
            <a:off x="6233008" y="3200400"/>
            <a:ext cx="5391760" cy="1325880"/>
          </a:xfrm>
          <a:prstGeom prst="roundRect">
            <a:avLst>
              <a:gd name="adj" fmla="val 6207"/>
            </a:avLst>
          </a:prstGeom>
          <a:solidFill>
            <a:srgbClr val="18323A">
              <a:alpha val="76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1" name="Text 19"/>
          <p:cNvSpPr txBox="1"/>
          <p:nvPr/>
        </p:nvSpPr>
        <p:spPr>
          <a:xfrm>
            <a:off x="6507328" y="3401568"/>
            <a:ext cx="4843120" cy="310896"/>
          </a:xfrm>
          <a:prstGeom prst="rect">
            <a:avLst/>
          </a:prstGeom>
          <a:noFill/>
          <a:ln/>
        </p:spPr>
        <p:txBody>
          <a:bodyPr wrap="square" lIns="0" tIns="0" rIns="0" bIns="0" rtlCol="0" anchor="t"/>
          <a:lstStyle/>
          <a:p>
            <a:pPr rtl="1" algn="r" indent="0" marL="0">
              <a:lnSpc>
                <a:spcPct val="100000"/>
              </a:lnSpc>
              <a:buNone/>
            </a:pPr>
            <a:r>
              <a:rPr lang="ar-EG" sz="1400" b="1" dirty="0">
                <a:solidFill>
                  <a:srgbClr val="5EDCB0"/>
                </a:solidFill>
                <a:latin typeface="Segoe UI" pitchFamily="34" charset="0"/>
                <a:ea typeface="Segoe UI" pitchFamily="34" charset="-122"/>
                <a:cs typeface="Segoe UI" pitchFamily="34" charset="-120"/>
              </a:rPr>
              <a:t>طبقة الفرز</a:t>
            </a:r>
            <a:endParaRPr lang="en-US" sz="1400" dirty="0"/>
          </a:p>
        </p:txBody>
      </p:sp>
      <p:sp>
        <p:nvSpPr>
          <p:cNvPr id="22" name="Text 20"/>
          <p:cNvSpPr txBox="1"/>
          <p:nvPr/>
        </p:nvSpPr>
        <p:spPr>
          <a:xfrm>
            <a:off x="6507328" y="3767328"/>
            <a:ext cx="4843120" cy="557784"/>
          </a:xfrm>
          <a:prstGeom prst="rect">
            <a:avLst/>
          </a:prstGeom>
          <a:noFill/>
          <a:ln/>
        </p:spPr>
        <p:txBody>
          <a:bodyPr wrap="square" lIns="0" tIns="0" rIns="0" bIns="0" rtlCol="0" anchor="ctr"/>
          <a:lstStyle/>
          <a:p>
            <a:pPr rtl="1" algn="r" indent="0" marL="0">
              <a:lnSpc>
                <a:spcPct val="118000"/>
              </a:lnSpc>
              <a:buNone/>
            </a:pPr>
            <a:r>
              <a:rPr lang="ar-EG" sz="1300" b="1" dirty="0">
                <a:solidFill>
                  <a:srgbClr val="FFFFFF"/>
                </a:solidFill>
                <a:latin typeface="Segoe UI" pitchFamily="34" charset="0"/>
                <a:ea typeface="Segoe UI" pitchFamily="34" charset="-122"/>
                <a:cs typeface="Segoe UI" pitchFamily="34" charset="-120"/>
              </a:rPr>
              <a:t>١٤ مستند</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من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WHO</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AHA/ASA</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NHS</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CDC</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a:t>
            </a:r>
            <a:pPr rtl="1" algn="r" indent="0" marL="0">
              <a:lnSpc>
                <a:spcPct val="118000"/>
              </a:lnSpc>
              <a:buNone/>
            </a:pPr>
            <a:r>
              <a:rPr lang="ar-EG" sz="1300" b="1" dirty="0">
                <a:solidFill>
                  <a:srgbClr val="FFFFFF"/>
                </a:solidFill>
                <a:latin typeface="Segoe UI" pitchFamily="34" charset="0"/>
                <a:ea typeface="Segoe UI" pitchFamily="34" charset="-122"/>
                <a:cs typeface="Segoe UI" pitchFamily="34" charset="-120"/>
              </a:rPr>
              <a:t>٣ منهم بالعربي</a:t>
            </a:r>
            <a:endParaRPr lang="en-US" sz="1300" dirty="0"/>
          </a:p>
        </p:txBody>
      </p:sp>
      <p:sp>
        <p:nvSpPr>
          <p:cNvPr id="23" name="Shape 21"/>
          <p:cNvSpPr/>
          <p:nvPr/>
        </p:nvSpPr>
        <p:spPr>
          <a:xfrm>
            <a:off x="566928" y="3200400"/>
            <a:ext cx="5391760" cy="1325880"/>
          </a:xfrm>
          <a:prstGeom prst="roundRect">
            <a:avLst>
              <a:gd name="adj" fmla="val 6207"/>
            </a:avLst>
          </a:prstGeom>
          <a:solidFill>
            <a:srgbClr val="18323A">
              <a:alpha val="76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4" name="Text 22"/>
          <p:cNvSpPr txBox="1"/>
          <p:nvPr/>
        </p:nvSpPr>
        <p:spPr>
          <a:xfrm>
            <a:off x="841248" y="3401568"/>
            <a:ext cx="4843120" cy="310896"/>
          </a:xfrm>
          <a:prstGeom prst="rect">
            <a:avLst/>
          </a:prstGeom>
          <a:noFill/>
          <a:ln/>
        </p:spPr>
        <p:txBody>
          <a:bodyPr wrap="square" lIns="0" tIns="0" rIns="0" bIns="0" rtlCol="0" anchor="t"/>
          <a:lstStyle/>
          <a:p>
            <a:pPr rtl="1" algn="r" indent="0" marL="0">
              <a:lnSpc>
                <a:spcPct val="100000"/>
              </a:lnSpc>
              <a:buNone/>
            </a:pPr>
            <a:r>
              <a:rPr lang="ar-EG" sz="1400" b="1" dirty="0">
                <a:solidFill>
                  <a:srgbClr val="5EDCB0"/>
                </a:solidFill>
                <a:latin typeface="Segoe UI" pitchFamily="34" charset="0"/>
                <a:ea typeface="Segoe UI" pitchFamily="34" charset="-122"/>
                <a:cs typeface="Segoe UI" pitchFamily="34" charset="-120"/>
              </a:rPr>
              <a:t xml:space="preserve">الطبقة العميقة — محرك </a:t>
            </a:r>
            <a:pPr rtl="1" algn="r" indent="0" marL="0">
              <a:lnSpc>
                <a:spcPct val="100000"/>
              </a:lnSpc>
              <a:buNone/>
            </a:pPr>
            <a:r>
              <a:rPr lang="en-US" sz="1400" b="1" dirty="0">
                <a:solidFill>
                  <a:srgbClr val="5EDCB0"/>
                </a:solidFill>
                <a:latin typeface="Segoe UI" pitchFamily="34" charset="0"/>
                <a:ea typeface="Segoe UI" pitchFamily="34" charset="-122"/>
                <a:cs typeface="Segoe UI" pitchFamily="34" charset="-120"/>
              </a:rPr>
              <a:t>NAJDA</a:t>
            </a:r>
            <a:endParaRPr lang="en-US" sz="1400" dirty="0"/>
          </a:p>
        </p:txBody>
      </p:sp>
      <p:sp>
        <p:nvSpPr>
          <p:cNvPr id="25" name="Text 23"/>
          <p:cNvSpPr txBox="1"/>
          <p:nvPr/>
        </p:nvSpPr>
        <p:spPr>
          <a:xfrm>
            <a:off x="841248" y="3767328"/>
            <a:ext cx="4843120" cy="557784"/>
          </a:xfrm>
          <a:prstGeom prst="rect">
            <a:avLst/>
          </a:prstGeom>
          <a:noFill/>
          <a:ln/>
        </p:spPr>
        <p:txBody>
          <a:bodyPr wrap="square" lIns="0" tIns="0" rIns="0" bIns="0" rtlCol="0" anchor="ctr"/>
          <a:lstStyle/>
          <a:p>
            <a:pPr rtl="1" algn="r" indent="0" marL="0">
              <a:lnSpc>
                <a:spcPct val="118000"/>
              </a:lnSpc>
              <a:buNone/>
            </a:pPr>
            <a:r>
              <a:rPr lang="ar-EG" sz="1300" b="1" dirty="0">
                <a:solidFill>
                  <a:srgbClr val="FFFFFF"/>
                </a:solidFill>
                <a:latin typeface="Segoe UI" pitchFamily="34" charset="0"/>
                <a:ea typeface="Segoe UI" pitchFamily="34" charset="-122"/>
                <a:cs typeface="Segoe UI" pitchFamily="34" charset="-120"/>
              </a:rPr>
              <a:t>٩ إرشادات إكلينيكية كاملة</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WHO</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NICE</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STEMI</a:t>
            </a:r>
            <a:pPr rtl="1" algn="r" indent="0" marL="0">
              <a:lnSpc>
                <a:spcPct val="118000"/>
              </a:lnSpc>
              <a:buNone/>
            </a:pPr>
            <a:r>
              <a:rPr lang="ar-EG" sz="1300" dirty="0">
                <a:solidFill>
                  <a:srgbClr val="B9CBC6"/>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B9CBC6"/>
                </a:solidFill>
                <a:latin typeface="Segoe UI" pitchFamily="34" charset="0"/>
                <a:ea typeface="Segoe UI" pitchFamily="34" charset="-122"/>
                <a:cs typeface="Segoe UI" pitchFamily="34" charset="-120"/>
              </a:rPr>
              <a:t>ICU triage</a:t>
            </a:r>
            <a:endParaRPr lang="en-US" sz="1300" dirty="0"/>
          </a:p>
        </p:txBody>
      </p:sp>
      <p:sp>
        <p:nvSpPr>
          <p:cNvPr id="26" name="Shape 24"/>
          <p:cNvSpPr/>
          <p:nvPr/>
        </p:nvSpPr>
        <p:spPr>
          <a:xfrm>
            <a:off x="566928" y="4791456"/>
            <a:ext cx="11057839" cy="1225296"/>
          </a:xfrm>
          <a:prstGeom prst="roundRect">
            <a:avLst>
              <a:gd name="adj" fmla="val 6716"/>
            </a:avLst>
          </a:prstGeom>
          <a:solidFill>
            <a:srgbClr val="0F5F45">
              <a:alpha val="3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7" name="Text 25"/>
          <p:cNvSpPr txBox="1"/>
          <p:nvPr/>
        </p:nvSpPr>
        <p:spPr>
          <a:xfrm>
            <a:off x="877824" y="4992624"/>
            <a:ext cx="10436047" cy="310896"/>
          </a:xfrm>
          <a:prstGeom prst="rect">
            <a:avLst/>
          </a:prstGeom>
          <a:noFill/>
          <a:ln/>
        </p:spPr>
        <p:txBody>
          <a:bodyPr wrap="square" lIns="0" tIns="0" rIns="0" bIns="0" rtlCol="0" anchor="t"/>
          <a:lstStyle/>
          <a:p>
            <a:pPr rtl="1" algn="r" indent="0" marL="0">
              <a:lnSpc>
                <a:spcPct val="100000"/>
              </a:lnSpc>
              <a:buNone/>
            </a:pPr>
            <a:r>
              <a:rPr lang="ar-EG" sz="1400" b="1" dirty="0">
                <a:solidFill>
                  <a:srgbClr val="5EDCB0"/>
                </a:solidFill>
                <a:latin typeface="Segoe UI" pitchFamily="34" charset="0"/>
                <a:ea typeface="Segoe UI" pitchFamily="34" charset="-122"/>
                <a:cs typeface="Segoe UI" pitchFamily="34" charset="-120"/>
              </a:rPr>
              <a:t>تصنيف الخطورة</a:t>
            </a:r>
            <a:endParaRPr lang="en-US" sz="1400" dirty="0"/>
          </a:p>
        </p:txBody>
      </p:sp>
      <p:sp>
        <p:nvSpPr>
          <p:cNvPr id="28" name="Text 26"/>
          <p:cNvSpPr txBox="1"/>
          <p:nvPr/>
        </p:nvSpPr>
        <p:spPr>
          <a:xfrm>
            <a:off x="877824" y="5358384"/>
            <a:ext cx="10436047" cy="457200"/>
          </a:xfrm>
          <a:prstGeom prst="rect">
            <a:avLst/>
          </a:prstGeom>
          <a:noFill/>
          <a:ln/>
        </p:spPr>
        <p:txBody>
          <a:bodyPr wrap="square" lIns="0" tIns="0" rIns="0" bIns="0" rtlCol="0" anchor="ctr"/>
          <a:lstStyle/>
          <a:p>
            <a:pPr rtl="1" algn="r" indent="0" marL="0">
              <a:lnSpc>
                <a:spcPct val="118000"/>
              </a:lnSpc>
              <a:buNone/>
            </a:pPr>
            <a:r>
              <a:rPr lang="ar-EG" sz="1300" dirty="0">
                <a:solidFill>
                  <a:srgbClr val="E8F1EE"/>
                </a:solidFill>
                <a:latin typeface="Segoe UI" pitchFamily="34" charset="0"/>
                <a:ea typeface="Segoe UI" pitchFamily="34" charset="-122"/>
                <a:cs typeface="Segoe UI" pitchFamily="34" charset="-120"/>
              </a:rPr>
              <a:t>تصنيف الخطورة (</a:t>
            </a:r>
            <a:pPr rtl="1" algn="r" indent="0" marL="0">
              <a:lnSpc>
                <a:spcPct val="118000"/>
              </a:lnSpc>
              <a:buNone/>
            </a:pPr>
            <a:r>
              <a:rPr lang="en-US" sz="1300" dirty="0">
                <a:solidFill>
                  <a:srgbClr val="5EDCB0"/>
                </a:solidFill>
                <a:latin typeface="Segoe UI" pitchFamily="34" charset="0"/>
                <a:ea typeface="Segoe UI" pitchFamily="34" charset="-122"/>
                <a:cs typeface="Segoe UI" pitchFamily="34" charset="-120"/>
              </a:rPr>
              <a:t>low</a:t>
            </a:r>
            <a:pPr rtl="1" algn="r" indent="0" marL="0">
              <a:lnSpc>
                <a:spcPct val="118000"/>
              </a:lnSpc>
              <a:buNone/>
            </a:pPr>
            <a:r>
              <a:rPr lang="ar-EG" sz="1300" dirty="0">
                <a:solidFill>
                  <a:srgbClr val="E8F1EE"/>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5EDCB0"/>
                </a:solidFill>
                <a:latin typeface="Segoe UI" pitchFamily="34" charset="0"/>
                <a:ea typeface="Segoe UI" pitchFamily="34" charset="-122"/>
                <a:cs typeface="Segoe UI" pitchFamily="34" charset="-120"/>
              </a:rPr>
              <a:t>moderate</a:t>
            </a:r>
            <a:pPr rtl="1" algn="r" indent="0" marL="0">
              <a:lnSpc>
                <a:spcPct val="118000"/>
              </a:lnSpc>
              <a:buNone/>
            </a:pPr>
            <a:r>
              <a:rPr lang="ar-EG" sz="1300" dirty="0">
                <a:solidFill>
                  <a:srgbClr val="E8F1EE"/>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5EDCB0"/>
                </a:solidFill>
                <a:latin typeface="Segoe UI" pitchFamily="34" charset="0"/>
                <a:ea typeface="Segoe UI" pitchFamily="34" charset="-122"/>
                <a:cs typeface="Segoe UI" pitchFamily="34" charset="-120"/>
              </a:rPr>
              <a:t>high</a:t>
            </a:r>
            <a:pPr rtl="1" algn="r" indent="0" marL="0">
              <a:lnSpc>
                <a:spcPct val="118000"/>
              </a:lnSpc>
              <a:buNone/>
            </a:pPr>
            <a:r>
              <a:rPr lang="ar-EG" sz="1300" dirty="0">
                <a:solidFill>
                  <a:srgbClr val="E8F1EE"/>
                </a:solidFill>
                <a:latin typeface="Segoe UI" pitchFamily="34" charset="0"/>
                <a:ea typeface="Segoe UI" pitchFamily="34" charset="-122"/>
                <a:cs typeface="Segoe UI" pitchFamily="34" charset="-120"/>
              </a:rPr>
              <a:t xml:space="preserve"> / </a:t>
            </a:r>
            <a:pPr rtl="1" algn="r" indent="0" marL="0">
              <a:lnSpc>
                <a:spcPct val="118000"/>
              </a:lnSpc>
              <a:buNone/>
            </a:pPr>
            <a:r>
              <a:rPr lang="en-US" sz="1300" dirty="0">
                <a:solidFill>
                  <a:srgbClr val="5EDCB0"/>
                </a:solidFill>
                <a:latin typeface="Segoe UI" pitchFamily="34" charset="0"/>
                <a:ea typeface="Segoe UI" pitchFamily="34" charset="-122"/>
                <a:cs typeface="Segoe UI" pitchFamily="34" charset="-120"/>
              </a:rPr>
              <a:t>emergency</a:t>
            </a:r>
            <a:pPr rtl="1" algn="r" indent="0" marL="0">
              <a:lnSpc>
                <a:spcPct val="118000"/>
              </a:lnSpc>
              <a:buNone/>
            </a:pPr>
            <a:r>
              <a:rPr lang="ar-EG" sz="1300" dirty="0">
                <a:solidFill>
                  <a:srgbClr val="E8F1EE"/>
                </a:solidFill>
                <a:latin typeface="Segoe UI" pitchFamily="34" charset="0"/>
                <a:ea typeface="Segoe UI" pitchFamily="34" charset="-122"/>
                <a:cs typeface="Segoe UI" pitchFamily="34" charset="-120"/>
              </a:rPr>
              <a:t xml:space="preserve">) بيشتغل </a:t>
            </a:r>
            <a:pPr rtl="1" algn="r" indent="0" marL="0">
              <a:lnSpc>
                <a:spcPct val="118000"/>
              </a:lnSpc>
              <a:buNone/>
            </a:pPr>
            <a:r>
              <a:rPr lang="ar-EG" sz="1300" b="1" dirty="0">
                <a:solidFill>
                  <a:srgbClr val="FFFFFF"/>
                </a:solidFill>
                <a:latin typeface="Segoe UI" pitchFamily="34" charset="0"/>
                <a:ea typeface="Segoe UI" pitchFamily="34" charset="-122"/>
                <a:cs typeface="Segoe UI" pitchFamily="34" charset="-120"/>
              </a:rPr>
              <a:t>بالتوازي</a:t>
            </a:r>
            <a:pPr rtl="1" algn="r" indent="0" marL="0">
              <a:lnSpc>
                <a:spcPct val="118000"/>
              </a:lnSpc>
              <a:buNone/>
            </a:pPr>
            <a:r>
              <a:rPr lang="ar-EG" sz="1300" dirty="0">
                <a:solidFill>
                  <a:srgbClr val="E8F1EE"/>
                </a:solidFill>
                <a:latin typeface="Segoe UI" pitchFamily="34" charset="0"/>
                <a:ea typeface="Segoe UI" pitchFamily="34" charset="-122"/>
                <a:cs typeface="Segoe UI" pitchFamily="34" charset="-120"/>
              </a:rPr>
              <a:t xml:space="preserve"> مع توليد الرد — فالبانر والعداد بيظهروا في نفس اللحظة اللي الرد بيتكتب فيها</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الحل</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500" b="1" dirty="0">
                <a:solidFill>
                  <a:srgbClr val="FFFFFF"/>
                </a:solidFill>
                <a:latin typeface="Segoe UI" pitchFamily="34" charset="0"/>
                <a:ea typeface="Segoe UI" pitchFamily="34" charset="-122"/>
                <a:cs typeface="Segoe UI" pitchFamily="34" charset="-120"/>
              </a:rPr>
              <a:t>رحلة المستخدم — ستوري بورد من التسجيل للتصعيد</a:t>
            </a:r>
            <a:endParaRPr lang="en-US" sz="25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٠٩ / ١٨</a:t>
            </a:r>
            <a:endParaRPr lang="en-US" sz="950" dirty="0"/>
          </a:p>
        </p:txBody>
      </p:sp>
      <p:sp>
        <p:nvSpPr>
          <p:cNvPr id="5" name="Text 3"/>
          <p:cNvSpPr txBox="1"/>
          <p:nvPr/>
        </p:nvSpPr>
        <p:spPr>
          <a:xfrm>
            <a:off x="566928" y="1481328"/>
            <a:ext cx="11057839" cy="256032"/>
          </a:xfrm>
          <a:prstGeom prst="rect">
            <a:avLst/>
          </a:prstGeom>
          <a:noFill/>
          <a:ln/>
        </p:spPr>
        <p:txBody>
          <a:bodyPr wrap="square" lIns="0" tIns="0" rIns="0" bIns="0" rtlCol="0" anchor="t"/>
          <a:lstStyle/>
          <a:p>
            <a:pPr rtl="1" algn="r" indent="0" marL="0">
              <a:lnSpc>
                <a:spcPct val="100000"/>
              </a:lnSpc>
              <a:buNone/>
            </a:pPr>
            <a:r>
              <a:rPr lang="ar-EG" sz="1150" b="1" dirty="0">
                <a:solidFill>
                  <a:srgbClr val="5EDCB0"/>
                </a:solidFill>
                <a:latin typeface="Segoe UI" pitchFamily="34" charset="0"/>
                <a:ea typeface="Segoe UI" pitchFamily="34" charset="-122"/>
                <a:cs typeface="Segoe UI" pitchFamily="34" charset="-120"/>
              </a:rPr>
              <a:t>المسار</a:t>
            </a:r>
            <a:endParaRPr lang="en-US" sz="1150" dirty="0"/>
          </a:p>
        </p:txBody>
      </p:sp>
      <p:sp>
        <p:nvSpPr>
          <p:cNvPr id="6" name="Shape 4"/>
          <p:cNvSpPr/>
          <p:nvPr/>
        </p:nvSpPr>
        <p:spPr>
          <a:xfrm>
            <a:off x="9066047" y="1810512"/>
            <a:ext cx="2558720" cy="1426464"/>
          </a:xfrm>
          <a:prstGeom prst="roundRect">
            <a:avLst>
              <a:gd name="adj" fmla="val 5769"/>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7" name="Text 5"/>
          <p:cNvSpPr/>
          <p:nvPr/>
        </p:nvSpPr>
        <p:spPr>
          <a:xfrm>
            <a:off x="11094415" y="1975104"/>
            <a:ext cx="365760" cy="365760"/>
          </a:xfrm>
          <a:prstGeom prst="roundRect">
            <a:avLst>
              <a:gd name="adj" fmla="val 50000"/>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١</a:t>
            </a:r>
            <a:endParaRPr lang="en-US" sz="1150" dirty="0"/>
          </a:p>
        </p:txBody>
      </p:sp>
      <p:sp>
        <p:nvSpPr>
          <p:cNvPr id="8" name="Text 6"/>
          <p:cNvSpPr txBox="1"/>
          <p:nvPr/>
        </p:nvSpPr>
        <p:spPr>
          <a:xfrm>
            <a:off x="9285503" y="2432304"/>
            <a:ext cx="2119808" cy="640080"/>
          </a:xfrm>
          <a:prstGeom prst="rect">
            <a:avLst/>
          </a:prstGeom>
          <a:noFill/>
          <a:ln/>
        </p:spPr>
        <p:txBody>
          <a:bodyPr wrap="square" lIns="0" tIns="0" rIns="0" bIns="0" rtlCol="0" anchor="t"/>
          <a:lstStyle/>
          <a:p>
            <a:pPr rtl="1" algn="r" indent="0" marL="0">
              <a:lnSpc>
                <a:spcPct val="116000"/>
              </a:lnSpc>
              <a:buNone/>
            </a:pPr>
            <a:r>
              <a:rPr lang="ar-EG" sz="1100" dirty="0">
                <a:solidFill>
                  <a:srgbClr val="B9CBC6"/>
                </a:solidFill>
                <a:latin typeface="Segoe UI" pitchFamily="34" charset="0"/>
                <a:ea typeface="Segoe UI" pitchFamily="34" charset="-122"/>
                <a:cs typeface="Segoe UI" pitchFamily="34" charset="-120"/>
              </a:rPr>
              <a:t xml:space="preserve">تسجيل بالإيميل أو </a:t>
            </a:r>
            <a:pPr rtl="1" algn="r" indent="0" marL="0">
              <a:lnSpc>
                <a:spcPct val="116000"/>
              </a:lnSpc>
              <a:buNone/>
            </a:pPr>
            <a:r>
              <a:rPr lang="en-US" sz="1100" b="1" dirty="0">
                <a:solidFill>
                  <a:srgbClr val="5EDCB0"/>
                </a:solidFill>
                <a:latin typeface="Segoe UI" pitchFamily="34" charset="0"/>
                <a:ea typeface="Segoe UI" pitchFamily="34" charset="-122"/>
                <a:cs typeface="Segoe UI" pitchFamily="34" charset="-120"/>
              </a:rPr>
              <a:t>Continue with Google</a:t>
            </a:r>
            <a:pPr rtl="1" algn="r" indent="0" marL="0">
              <a:lnSpc>
                <a:spcPct val="116000"/>
              </a:lnSpc>
              <a:buNone/>
            </a:pPr>
            <a:r>
              <a:rPr lang="ar-EG" sz="1100" dirty="0">
                <a:solidFill>
                  <a:srgbClr val="B9CBC6"/>
                </a:solidFill>
                <a:latin typeface="Segoe UI" pitchFamily="34" charset="0"/>
                <a:ea typeface="Segoe UI" pitchFamily="34" charset="-122"/>
                <a:cs typeface="Segoe UI" pitchFamily="34" charset="-120"/>
              </a:rPr>
              <a:t xml:space="preserve"> ← بوابة إكمال البيانات</a:t>
            </a:r>
            <a:endParaRPr lang="en-US" sz="1100" dirty="0"/>
          </a:p>
        </p:txBody>
      </p:sp>
      <p:sp>
        <p:nvSpPr>
          <p:cNvPr id="9" name="Text 7"/>
          <p:cNvSpPr/>
          <p:nvPr/>
        </p:nvSpPr>
        <p:spPr>
          <a:xfrm>
            <a:off x="8791727" y="1810512"/>
            <a:ext cx="274320" cy="1426464"/>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0" name="Shape 8"/>
          <p:cNvSpPr/>
          <p:nvPr/>
        </p:nvSpPr>
        <p:spPr>
          <a:xfrm>
            <a:off x="6233008" y="1810512"/>
            <a:ext cx="2558720" cy="1426464"/>
          </a:xfrm>
          <a:prstGeom prst="roundRect">
            <a:avLst>
              <a:gd name="adj" fmla="val 5769"/>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1" name="Text 9"/>
          <p:cNvSpPr/>
          <p:nvPr/>
        </p:nvSpPr>
        <p:spPr>
          <a:xfrm>
            <a:off x="8261375" y="1975104"/>
            <a:ext cx="365760" cy="365760"/>
          </a:xfrm>
          <a:prstGeom prst="roundRect">
            <a:avLst>
              <a:gd name="adj" fmla="val 50000"/>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٢</a:t>
            </a:r>
            <a:endParaRPr lang="en-US" sz="1150" dirty="0"/>
          </a:p>
        </p:txBody>
      </p:sp>
      <p:sp>
        <p:nvSpPr>
          <p:cNvPr id="12" name="Text 10"/>
          <p:cNvSpPr txBox="1"/>
          <p:nvPr/>
        </p:nvSpPr>
        <p:spPr>
          <a:xfrm>
            <a:off x="6452464" y="2432304"/>
            <a:ext cx="2119808" cy="640080"/>
          </a:xfrm>
          <a:prstGeom prst="rect">
            <a:avLst/>
          </a:prstGeom>
          <a:noFill/>
          <a:ln/>
        </p:spPr>
        <p:txBody>
          <a:bodyPr wrap="square" lIns="0" tIns="0" rIns="0" bIns="0" rtlCol="0" anchor="t"/>
          <a:lstStyle/>
          <a:p>
            <a:pPr rtl="1" algn="r" indent="0" marL="0">
              <a:lnSpc>
                <a:spcPct val="116000"/>
              </a:lnSpc>
              <a:buNone/>
            </a:pPr>
            <a:r>
              <a:rPr lang="ar-EG" sz="1100" b="1" dirty="0">
                <a:solidFill>
                  <a:srgbClr val="5EDCB0"/>
                </a:solidFill>
                <a:latin typeface="Segoe UI" pitchFamily="34" charset="0"/>
                <a:ea typeface="Segoe UI" pitchFamily="34" charset="-122"/>
                <a:cs typeface="Segoe UI" pitchFamily="34" charset="-120"/>
              </a:rPr>
              <a:t>جهة اتصال الطوارئ إجبارية</a:t>
            </a:r>
            <a:pPr rtl="1" algn="r" indent="0" marL="0">
              <a:lnSpc>
                <a:spcPct val="116000"/>
              </a:lnSpc>
              <a:buNone/>
            </a:pPr>
            <a:r>
              <a:rPr lang="ar-EG" sz="1100" dirty="0">
                <a:solidFill>
                  <a:srgbClr val="B9CBC6"/>
                </a:solidFill>
                <a:latin typeface="Segoe UI" pitchFamily="34" charset="0"/>
                <a:ea typeface="Segoe UI" pitchFamily="34" charset="-122"/>
                <a:cs typeface="Segoe UI" pitchFamily="34" charset="-120"/>
              </a:rPr>
              <a:t>، الباقي (تاريخ ميلاد / فصيلة دم / أمراض مزمنة) اختياري بتذكير</a:t>
            </a:r>
            <a:endParaRPr lang="en-US" sz="1100" dirty="0"/>
          </a:p>
        </p:txBody>
      </p:sp>
      <p:sp>
        <p:nvSpPr>
          <p:cNvPr id="13" name="Text 11"/>
          <p:cNvSpPr/>
          <p:nvPr/>
        </p:nvSpPr>
        <p:spPr>
          <a:xfrm>
            <a:off x="5958688" y="1810512"/>
            <a:ext cx="274320" cy="1426464"/>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4" name="Shape 12"/>
          <p:cNvSpPr/>
          <p:nvPr/>
        </p:nvSpPr>
        <p:spPr>
          <a:xfrm>
            <a:off x="3399968" y="1810512"/>
            <a:ext cx="2558720" cy="1426464"/>
          </a:xfrm>
          <a:prstGeom prst="roundRect">
            <a:avLst>
              <a:gd name="adj" fmla="val 5769"/>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5" name="Text 13"/>
          <p:cNvSpPr/>
          <p:nvPr/>
        </p:nvSpPr>
        <p:spPr>
          <a:xfrm>
            <a:off x="5428336" y="1975104"/>
            <a:ext cx="365760" cy="365760"/>
          </a:xfrm>
          <a:prstGeom prst="roundRect">
            <a:avLst>
              <a:gd name="adj" fmla="val 50000"/>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٣</a:t>
            </a:r>
            <a:endParaRPr lang="en-US" sz="1150" dirty="0"/>
          </a:p>
        </p:txBody>
      </p:sp>
      <p:sp>
        <p:nvSpPr>
          <p:cNvPr id="16" name="Text 14"/>
          <p:cNvSpPr txBox="1"/>
          <p:nvPr/>
        </p:nvSpPr>
        <p:spPr>
          <a:xfrm>
            <a:off x="3619424" y="2432304"/>
            <a:ext cx="2119808" cy="640080"/>
          </a:xfrm>
          <a:prstGeom prst="rect">
            <a:avLst/>
          </a:prstGeom>
          <a:noFill/>
          <a:ln/>
        </p:spPr>
        <p:txBody>
          <a:bodyPr wrap="square" lIns="0" tIns="0" rIns="0" bIns="0" rtlCol="0" anchor="t"/>
          <a:lstStyle/>
          <a:p>
            <a:pPr rtl="1" algn="r" indent="0" marL="0">
              <a:lnSpc>
                <a:spcPct val="116000"/>
              </a:lnSpc>
              <a:buNone/>
            </a:pPr>
            <a:r>
              <a:rPr lang="ar-EG" sz="1100" dirty="0">
                <a:solidFill>
                  <a:srgbClr val="B9CBC6"/>
                </a:solidFill>
                <a:latin typeface="Segoe UI" pitchFamily="34" charset="0"/>
                <a:ea typeface="Segoe UI" pitchFamily="34" charset="-122"/>
                <a:cs typeface="Segoe UI" pitchFamily="34" charset="-120"/>
              </a:rPr>
              <a:t>الشات: كتابة · صوت (</a:t>
            </a:r>
            <a:pPr rtl="1" algn="r" indent="0" marL="0">
              <a:lnSpc>
                <a:spcPct val="116000"/>
              </a:lnSpc>
              <a:buNone/>
            </a:pPr>
            <a:r>
              <a:rPr lang="en-US" sz="1100" dirty="0">
                <a:solidFill>
                  <a:srgbClr val="5EDCB0"/>
                </a:solidFill>
                <a:latin typeface="Segoe UI" pitchFamily="34" charset="0"/>
                <a:ea typeface="Segoe UI" pitchFamily="34" charset="-122"/>
                <a:cs typeface="Segoe UI" pitchFamily="34" charset="-120"/>
              </a:rPr>
              <a:t>ar-EG</a:t>
            </a:r>
            <a:pPr rtl="1" algn="r" indent="0" marL="0">
              <a:lnSpc>
                <a:spcPct val="116000"/>
              </a:lnSpc>
              <a:buNone/>
            </a:pPr>
            <a:r>
              <a:rPr lang="ar-EG" sz="1100" dirty="0">
                <a:solidFill>
                  <a:srgbClr val="B9CBC6"/>
                </a:solidFill>
                <a:latin typeface="Segoe UI" pitchFamily="34" charset="0"/>
                <a:ea typeface="Segoe UI" pitchFamily="34" charset="-122"/>
                <a:cs typeface="Segoe UI" pitchFamily="34" charset="-120"/>
              </a:rPr>
              <a:t xml:space="preserve">) · </a:t>
            </a:r>
            <a:pPr rtl="1" algn="r" indent="0" marL="0">
              <a:lnSpc>
                <a:spcPct val="116000"/>
              </a:lnSpc>
              <a:buNone/>
            </a:pPr>
            <a:r>
              <a:rPr lang="ar-EG" sz="1100" b="1" dirty="0">
                <a:solidFill>
                  <a:srgbClr val="5EDCB0"/>
                </a:solidFill>
                <a:latin typeface="Segoe UI" pitchFamily="34" charset="0"/>
                <a:ea typeface="Segoe UI" pitchFamily="34" charset="-122"/>
                <a:cs typeface="Segoe UI" pitchFamily="34" charset="-120"/>
              </a:rPr>
              <a:t>مكالمة حية</a:t>
            </a:r>
            <a:pPr rtl="1" algn="r" indent="0" marL="0">
              <a:lnSpc>
                <a:spcPct val="116000"/>
              </a:lnSpc>
              <a:buNone/>
            </a:pPr>
            <a:r>
              <a:rPr lang="ar-EG" sz="1100" dirty="0">
                <a:solidFill>
                  <a:srgbClr val="B9CBC6"/>
                </a:solidFill>
                <a:latin typeface="Segoe UI" pitchFamily="34" charset="0"/>
                <a:ea typeface="Segoe UI" pitchFamily="34" charset="-122"/>
                <a:cs typeface="Segoe UI" pitchFamily="34" charset="-120"/>
              </a:rPr>
              <a:t xml:space="preserve"> بصوت مصري ومقاطعة</a:t>
            </a:r>
            <a:endParaRPr lang="en-US" sz="1100" dirty="0"/>
          </a:p>
        </p:txBody>
      </p:sp>
      <p:sp>
        <p:nvSpPr>
          <p:cNvPr id="17" name="Text 15"/>
          <p:cNvSpPr/>
          <p:nvPr/>
        </p:nvSpPr>
        <p:spPr>
          <a:xfrm>
            <a:off x="3125648" y="1810512"/>
            <a:ext cx="274320" cy="1426464"/>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8" name="Shape 16"/>
          <p:cNvSpPr/>
          <p:nvPr/>
        </p:nvSpPr>
        <p:spPr>
          <a:xfrm>
            <a:off x="566928" y="1810512"/>
            <a:ext cx="2558720" cy="1426464"/>
          </a:xfrm>
          <a:prstGeom prst="roundRect">
            <a:avLst>
              <a:gd name="adj" fmla="val 5769"/>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9" name="Text 17"/>
          <p:cNvSpPr/>
          <p:nvPr/>
        </p:nvSpPr>
        <p:spPr>
          <a:xfrm>
            <a:off x="2595296" y="1975104"/>
            <a:ext cx="365760" cy="365760"/>
          </a:xfrm>
          <a:prstGeom prst="roundRect">
            <a:avLst>
              <a:gd name="adj" fmla="val 50000"/>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٤</a:t>
            </a:r>
            <a:endParaRPr lang="en-US" sz="1150" dirty="0"/>
          </a:p>
        </p:txBody>
      </p:sp>
      <p:sp>
        <p:nvSpPr>
          <p:cNvPr id="20" name="Text 18"/>
          <p:cNvSpPr txBox="1"/>
          <p:nvPr/>
        </p:nvSpPr>
        <p:spPr>
          <a:xfrm>
            <a:off x="786384" y="2432304"/>
            <a:ext cx="2119808" cy="640080"/>
          </a:xfrm>
          <a:prstGeom prst="rect">
            <a:avLst/>
          </a:prstGeom>
          <a:noFill/>
          <a:ln/>
        </p:spPr>
        <p:txBody>
          <a:bodyPr wrap="square" lIns="0" tIns="0" rIns="0" bIns="0" rtlCol="0" anchor="t"/>
          <a:lstStyle/>
          <a:p>
            <a:pPr rtl="1" algn="r" indent="0" marL="0">
              <a:lnSpc>
                <a:spcPct val="116000"/>
              </a:lnSpc>
              <a:buNone/>
            </a:pPr>
            <a:r>
              <a:rPr lang="ar-EG" sz="1100" dirty="0">
                <a:solidFill>
                  <a:srgbClr val="B9CBC6"/>
                </a:solidFill>
                <a:latin typeface="Segoe UI" pitchFamily="34" charset="0"/>
                <a:ea typeface="Segoe UI" pitchFamily="34" charset="-122"/>
                <a:cs typeface="Segoe UI" pitchFamily="34" charset="-120"/>
              </a:rPr>
              <a:t xml:space="preserve">كل ده متسجل: هيستوري المحادثات + </a:t>
            </a:r>
            <a:pPr rtl="1" algn="r" indent="0" marL="0">
              <a:lnSpc>
                <a:spcPct val="116000"/>
              </a:lnSpc>
              <a:buNone/>
            </a:pPr>
            <a:r>
              <a:rPr lang="en-US" sz="1100" dirty="0">
                <a:solidFill>
                  <a:srgbClr val="5EDCB0"/>
                </a:solidFill>
                <a:latin typeface="Segoe UI" pitchFamily="34" charset="0"/>
                <a:ea typeface="Segoe UI" pitchFamily="34" charset="-122"/>
                <a:cs typeface="Segoe UI" pitchFamily="34" charset="-120"/>
              </a:rPr>
              <a:t>/emergency-history</a:t>
            </a:r>
            <a:pPr rtl="1" algn="r" indent="0" marL="0">
              <a:lnSpc>
                <a:spcPct val="116000"/>
              </a:lnSpc>
              <a:buNone/>
            </a:pPr>
            <a:r>
              <a:rPr lang="ar-EG" sz="1100" dirty="0">
                <a:solidFill>
                  <a:srgbClr val="B9CBC6"/>
                </a:solidFill>
                <a:latin typeface="Segoe UI" pitchFamily="34" charset="0"/>
                <a:ea typeface="Segoe UI" pitchFamily="34" charset="-122"/>
                <a:cs typeface="Segoe UI" pitchFamily="34" charset="-120"/>
              </a:rPr>
              <a:t xml:space="preserve"> بالحالة والخطورة والنتيجة</a:t>
            </a:r>
            <a:endParaRPr lang="en-US" sz="1100" dirty="0"/>
          </a:p>
        </p:txBody>
      </p:sp>
      <p:sp>
        <p:nvSpPr>
          <p:cNvPr id="21" name="Text 19"/>
          <p:cNvSpPr txBox="1"/>
          <p:nvPr/>
        </p:nvSpPr>
        <p:spPr>
          <a:xfrm>
            <a:off x="566928" y="3401568"/>
            <a:ext cx="11057839" cy="256032"/>
          </a:xfrm>
          <a:prstGeom prst="rect">
            <a:avLst/>
          </a:prstGeom>
          <a:noFill/>
          <a:ln/>
        </p:spPr>
        <p:txBody>
          <a:bodyPr wrap="square" lIns="0" tIns="0" rIns="0" bIns="0" rtlCol="0" anchor="t"/>
          <a:lstStyle/>
          <a:p>
            <a:pPr rtl="1" algn="r" indent="0" marL="0">
              <a:lnSpc>
                <a:spcPct val="100000"/>
              </a:lnSpc>
              <a:buNone/>
            </a:pPr>
            <a:r>
              <a:rPr lang="ar-EG" sz="1150" b="1" dirty="0">
                <a:solidFill>
                  <a:srgbClr val="5EDCB0"/>
                </a:solidFill>
                <a:latin typeface="Segoe UI" pitchFamily="34" charset="0"/>
                <a:ea typeface="Segoe UI" pitchFamily="34" charset="-122"/>
                <a:cs typeface="Segoe UI" pitchFamily="34" charset="-120"/>
              </a:rPr>
              <a:t>الستوري بورد — بالثواني</a:t>
            </a:r>
            <a:endParaRPr lang="en-US" sz="1150" dirty="0"/>
          </a:p>
        </p:txBody>
      </p:sp>
      <p:sp>
        <p:nvSpPr>
          <p:cNvPr id="22" name="Shape 20"/>
          <p:cNvSpPr/>
          <p:nvPr/>
        </p:nvSpPr>
        <p:spPr>
          <a:xfrm>
            <a:off x="9066047" y="3730752"/>
            <a:ext cx="2558720" cy="2249424"/>
          </a:xfrm>
          <a:prstGeom prst="roundRect">
            <a:avLst>
              <a:gd name="adj" fmla="val 3659"/>
            </a:avLst>
          </a:prstGeom>
          <a:solidFill>
            <a:srgbClr val="0F5F45">
              <a:alpha val="40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3" name="Text 21"/>
          <p:cNvSpPr/>
          <p:nvPr/>
        </p:nvSpPr>
        <p:spPr>
          <a:xfrm>
            <a:off x="10436047" y="3931920"/>
            <a:ext cx="987552" cy="420624"/>
          </a:xfrm>
          <a:prstGeom prst="roundRect">
            <a:avLst>
              <a:gd name="adj" fmla="val 15217"/>
            </a:avLst>
          </a:prstGeom>
          <a:solidFill>
            <a:srgbClr val="19A878"/>
          </a:solidFill>
          <a:ln w="9525">
            <a:solidFill>
              <a:srgbClr val="19A878"/>
            </a:solidFill>
          </a:ln>
        </p:spPr>
        <p:txBody>
          <a:bodyPr wrap="square" lIns="0" tIns="0" rIns="0" bIns="0" rtlCol="0" anchor="ctr"/>
          <a:lstStyle/>
          <a:p>
            <a:pPr rtl="1" algn="ctr" indent="0" marL="0">
              <a:buNone/>
            </a:pPr>
            <a:r>
              <a:rPr lang="ar-EG" sz="1400" b="1" dirty="0">
                <a:solidFill>
                  <a:srgbClr val="06181A"/>
                </a:solidFill>
                <a:latin typeface="Segoe UI" pitchFamily="34" charset="0"/>
                <a:ea typeface="Segoe UI" pitchFamily="34" charset="-122"/>
                <a:cs typeface="Segoe UI" pitchFamily="34" charset="-120"/>
              </a:rPr>
              <a:t>٠:٠٠</a:t>
            </a:r>
            <a:endParaRPr lang="en-US" sz="1400" dirty="0"/>
          </a:p>
        </p:txBody>
      </p:sp>
      <p:sp>
        <p:nvSpPr>
          <p:cNvPr id="24" name="Text 22"/>
          <p:cNvSpPr txBox="1"/>
          <p:nvPr/>
        </p:nvSpPr>
        <p:spPr>
          <a:xfrm>
            <a:off x="9303791" y="4462272"/>
            <a:ext cx="2083232" cy="1316736"/>
          </a:xfrm>
          <a:prstGeom prst="rect">
            <a:avLst/>
          </a:prstGeom>
          <a:noFill/>
          <a:ln/>
        </p:spPr>
        <p:txBody>
          <a:bodyPr wrap="square" lIns="0" tIns="0" rIns="0" bIns="0" rtlCol="0" anchor="ctr"/>
          <a:lstStyle/>
          <a:p>
            <a:pPr rtl="1" algn="r" indent="0" marL="0">
              <a:lnSpc>
                <a:spcPct val="120000"/>
              </a:lnSpc>
              <a:buNone/>
            </a:pPr>
            <a:r>
              <a:rPr lang="ar-EG" sz="1200" dirty="0">
                <a:solidFill>
                  <a:srgbClr val="E8F1EE"/>
                </a:solidFill>
                <a:latin typeface="Segoe UI" pitchFamily="34" charset="0"/>
                <a:ea typeface="Segoe UI" pitchFamily="34" charset="-122"/>
                <a:cs typeface="Segoe UI" pitchFamily="34" charset="-120"/>
              </a:rPr>
              <a:t>«إيدي الشمال فيها تنميل وكلامي بقى تقيل»</a:t>
            </a:r>
            <a:endParaRPr lang="en-US" sz="1200" dirty="0"/>
          </a:p>
        </p:txBody>
      </p:sp>
      <p:sp>
        <p:nvSpPr>
          <p:cNvPr id="25" name="Text 23"/>
          <p:cNvSpPr/>
          <p:nvPr/>
        </p:nvSpPr>
        <p:spPr>
          <a:xfrm>
            <a:off x="8791727" y="3730752"/>
            <a:ext cx="274320" cy="2249424"/>
          </a:xfrm>
          <a:prstGeom prst="rect">
            <a:avLst/>
          </a:prstGeom>
          <a:noFill/>
          <a:ln/>
        </p:spPr>
        <p:txBody>
          <a:bodyPr wrap="square" lIns="0" tIns="0" rIns="0" bIns="0" rtlCol="0" anchor="ctr"/>
          <a:lstStyle/>
          <a:p>
            <a:pPr algn="ctr" indent="0" marL="0">
              <a:buNone/>
            </a:pPr>
            <a:r>
              <a:rPr lang="ar-EG" sz="1700" b="1" dirty="0">
                <a:solidFill>
                  <a:srgbClr val="8AA29D"/>
                </a:solidFill>
                <a:latin typeface="Segoe UI" pitchFamily="34" charset="0"/>
                <a:ea typeface="Segoe UI" pitchFamily="34" charset="-122"/>
                <a:cs typeface="Segoe UI" pitchFamily="34" charset="-120"/>
              </a:rPr>
              <a:t>←</a:t>
            </a:r>
            <a:endParaRPr lang="en-US" sz="1700" dirty="0"/>
          </a:p>
        </p:txBody>
      </p:sp>
      <p:sp>
        <p:nvSpPr>
          <p:cNvPr id="26" name="Shape 24"/>
          <p:cNvSpPr/>
          <p:nvPr/>
        </p:nvSpPr>
        <p:spPr>
          <a:xfrm>
            <a:off x="6233008" y="3730752"/>
            <a:ext cx="2558720" cy="2249424"/>
          </a:xfrm>
          <a:prstGeom prst="roundRect">
            <a:avLst>
              <a:gd name="adj" fmla="val 3659"/>
            </a:avLst>
          </a:prstGeom>
          <a:solidFill>
            <a:srgbClr val="0F5F45">
              <a:alpha val="40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7" name="Text 25"/>
          <p:cNvSpPr/>
          <p:nvPr/>
        </p:nvSpPr>
        <p:spPr>
          <a:xfrm>
            <a:off x="7603007" y="3931920"/>
            <a:ext cx="987552" cy="420624"/>
          </a:xfrm>
          <a:prstGeom prst="roundRect">
            <a:avLst>
              <a:gd name="adj" fmla="val 15217"/>
            </a:avLst>
          </a:prstGeom>
          <a:solidFill>
            <a:srgbClr val="19A878"/>
          </a:solidFill>
          <a:ln w="9525">
            <a:solidFill>
              <a:srgbClr val="19A878"/>
            </a:solidFill>
          </a:ln>
        </p:spPr>
        <p:txBody>
          <a:bodyPr wrap="square" lIns="0" tIns="0" rIns="0" bIns="0" rtlCol="0" anchor="ctr"/>
          <a:lstStyle/>
          <a:p>
            <a:pPr rtl="1" algn="ctr" indent="0" marL="0">
              <a:buNone/>
            </a:pPr>
            <a:r>
              <a:rPr lang="ar-EG" sz="1400" b="1" dirty="0">
                <a:solidFill>
                  <a:srgbClr val="06181A"/>
                </a:solidFill>
                <a:latin typeface="Segoe UI" pitchFamily="34" charset="0"/>
                <a:ea typeface="Segoe UI" pitchFamily="34" charset="-122"/>
                <a:cs typeface="Segoe UI" pitchFamily="34" charset="-120"/>
              </a:rPr>
              <a:t>٠:٠٣</a:t>
            </a:r>
            <a:endParaRPr lang="en-US" sz="1400" dirty="0"/>
          </a:p>
        </p:txBody>
      </p:sp>
      <p:sp>
        <p:nvSpPr>
          <p:cNvPr id="28" name="Text 26"/>
          <p:cNvSpPr txBox="1"/>
          <p:nvPr/>
        </p:nvSpPr>
        <p:spPr>
          <a:xfrm>
            <a:off x="6470752" y="4462272"/>
            <a:ext cx="2083232" cy="1316736"/>
          </a:xfrm>
          <a:prstGeom prst="rect">
            <a:avLst/>
          </a:prstGeom>
          <a:noFill/>
          <a:ln/>
        </p:spPr>
        <p:txBody>
          <a:bodyPr wrap="square" lIns="0" tIns="0" rIns="0" bIns="0" rtlCol="0" anchor="ctr"/>
          <a:lstStyle/>
          <a:p>
            <a:pPr rtl="1" algn="r" indent="0" marL="0">
              <a:lnSpc>
                <a:spcPct val="120000"/>
              </a:lnSpc>
              <a:buNone/>
            </a:pPr>
            <a:r>
              <a:rPr lang="ar-EG" sz="1200" dirty="0">
                <a:solidFill>
                  <a:srgbClr val="E8F1EE"/>
                </a:solidFill>
                <a:latin typeface="Segoe UI" pitchFamily="34" charset="0"/>
                <a:ea typeface="Segoe UI" pitchFamily="34" charset="-122"/>
                <a:cs typeface="Segoe UI" pitchFamily="34" charset="-120"/>
              </a:rPr>
              <a:t xml:space="preserve">رد بالمصري: نمط شبيه بعلامات الجلطة + </a:t>
            </a:r>
            <a:pPr rtl="1" algn="r" indent="0" marL="0">
              <a:lnSpc>
                <a:spcPct val="120000"/>
              </a:lnSpc>
              <a:buNone/>
            </a:pPr>
            <a:r>
              <a:rPr lang="ar-EG" sz="1200" b="1" dirty="0">
                <a:solidFill>
                  <a:srgbClr val="5EDCB0"/>
                </a:solidFill>
                <a:latin typeface="Segoe UI" pitchFamily="34" charset="0"/>
                <a:ea typeface="Segoe UI" pitchFamily="34" charset="-122"/>
                <a:cs typeface="Segoe UI" pitchFamily="34" charset="-120"/>
              </a:rPr>
              <a:t>اتصل ١٢٣</a:t>
            </a:r>
            <a:pPr rtl="1" algn="r" indent="0" marL="0">
              <a:lnSpc>
                <a:spcPct val="120000"/>
              </a:lnSpc>
              <a:buNone/>
            </a:pPr>
            <a:r>
              <a:rPr lang="ar-EG" sz="1200" dirty="0">
                <a:solidFill>
                  <a:srgbClr val="E8F1EE"/>
                </a:solidFill>
                <a:latin typeface="Segoe UI" pitchFamily="34" charset="0"/>
                <a:ea typeface="Segoe UI" pitchFamily="34" charset="-122"/>
                <a:cs typeface="Segoe UI" pitchFamily="34" charset="-120"/>
              </a:rPr>
              <a:t xml:space="preserve"> (من غير تشخيص جازم) + </a:t>
            </a:r>
            <a:pPr rtl="1" algn="r" indent="0" marL="0">
              <a:lnSpc>
                <a:spcPct val="120000"/>
              </a:lnSpc>
              <a:buNone/>
            </a:pPr>
            <a:r>
              <a:rPr lang="en-US" sz="1200" dirty="0">
                <a:solidFill>
                  <a:srgbClr val="E8F1EE"/>
                </a:solidFill>
                <a:latin typeface="Segoe UI" pitchFamily="34" charset="0"/>
                <a:ea typeface="Segoe UI" pitchFamily="34" charset="-122"/>
                <a:cs typeface="Segoe UI" pitchFamily="34" charset="-120"/>
              </a:rPr>
              <a:t>chips</a:t>
            </a:r>
            <a:pPr rtl="1" algn="r" indent="0" marL="0">
              <a:lnSpc>
                <a:spcPct val="120000"/>
              </a:lnSpc>
              <a:buNone/>
            </a:pPr>
            <a:r>
              <a:rPr lang="ar-EG" sz="1200" dirty="0">
                <a:solidFill>
                  <a:srgbClr val="E8F1EE"/>
                </a:solidFill>
                <a:latin typeface="Segoe UI" pitchFamily="34" charset="0"/>
                <a:ea typeface="Segoe UI" pitchFamily="34" charset="-122"/>
                <a:cs typeface="Segoe UI" pitchFamily="34" charset="-120"/>
              </a:rPr>
              <a:t xml:space="preserve"> مصادر</a:t>
            </a:r>
            <a:endParaRPr lang="en-US" sz="1200" dirty="0"/>
          </a:p>
        </p:txBody>
      </p:sp>
      <p:sp>
        <p:nvSpPr>
          <p:cNvPr id="29" name="Text 27"/>
          <p:cNvSpPr/>
          <p:nvPr/>
        </p:nvSpPr>
        <p:spPr>
          <a:xfrm>
            <a:off x="5958688" y="3730752"/>
            <a:ext cx="274320" cy="2249424"/>
          </a:xfrm>
          <a:prstGeom prst="rect">
            <a:avLst/>
          </a:prstGeom>
          <a:noFill/>
          <a:ln/>
        </p:spPr>
        <p:txBody>
          <a:bodyPr wrap="square" lIns="0" tIns="0" rIns="0" bIns="0" rtlCol="0" anchor="ctr"/>
          <a:lstStyle/>
          <a:p>
            <a:pPr algn="ctr" indent="0" marL="0">
              <a:buNone/>
            </a:pPr>
            <a:r>
              <a:rPr lang="ar-EG" sz="1700" b="1" dirty="0">
                <a:solidFill>
                  <a:srgbClr val="8AA29D"/>
                </a:solidFill>
                <a:latin typeface="Segoe UI" pitchFamily="34" charset="0"/>
                <a:ea typeface="Segoe UI" pitchFamily="34" charset="-122"/>
                <a:cs typeface="Segoe UI" pitchFamily="34" charset="-120"/>
              </a:rPr>
              <a:t>←</a:t>
            </a:r>
            <a:endParaRPr lang="en-US" sz="1700" dirty="0"/>
          </a:p>
        </p:txBody>
      </p:sp>
      <p:sp>
        <p:nvSpPr>
          <p:cNvPr id="30" name="Shape 28"/>
          <p:cNvSpPr/>
          <p:nvPr/>
        </p:nvSpPr>
        <p:spPr>
          <a:xfrm>
            <a:off x="3399968" y="3730752"/>
            <a:ext cx="2558720" cy="2249424"/>
          </a:xfrm>
          <a:prstGeom prst="roundRect">
            <a:avLst>
              <a:gd name="adj" fmla="val 3659"/>
            </a:avLst>
          </a:prstGeom>
          <a:solidFill>
            <a:srgbClr val="F59E0B">
              <a:alpha val="14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31" name="Text 29"/>
          <p:cNvSpPr/>
          <p:nvPr/>
        </p:nvSpPr>
        <p:spPr>
          <a:xfrm>
            <a:off x="4769968" y="3931920"/>
            <a:ext cx="987552" cy="420624"/>
          </a:xfrm>
          <a:prstGeom prst="roundRect">
            <a:avLst>
              <a:gd name="adj" fmla="val 15217"/>
            </a:avLst>
          </a:prstGeom>
          <a:solidFill>
            <a:srgbClr val="F59E0B"/>
          </a:solidFill>
          <a:ln w="9525">
            <a:solidFill>
              <a:srgbClr val="F59E0B"/>
            </a:solidFill>
          </a:ln>
        </p:spPr>
        <p:txBody>
          <a:bodyPr wrap="square" lIns="0" tIns="0" rIns="0" bIns="0" rtlCol="0" anchor="ctr"/>
          <a:lstStyle/>
          <a:p>
            <a:pPr rtl="1" algn="ctr" indent="0" marL="0">
              <a:buNone/>
            </a:pPr>
            <a:r>
              <a:rPr lang="ar-EG" sz="1400" b="1" dirty="0">
                <a:solidFill>
                  <a:srgbClr val="2A1A02"/>
                </a:solidFill>
                <a:latin typeface="Segoe UI" pitchFamily="34" charset="0"/>
                <a:ea typeface="Segoe UI" pitchFamily="34" charset="-122"/>
                <a:cs typeface="Segoe UI" pitchFamily="34" charset="-120"/>
              </a:rPr>
              <a:t>٠:٠٥</a:t>
            </a:r>
            <a:endParaRPr lang="en-US" sz="1400" dirty="0"/>
          </a:p>
        </p:txBody>
      </p:sp>
      <p:sp>
        <p:nvSpPr>
          <p:cNvPr id="32" name="Text 30"/>
          <p:cNvSpPr txBox="1"/>
          <p:nvPr/>
        </p:nvSpPr>
        <p:spPr>
          <a:xfrm>
            <a:off x="3637712" y="4462272"/>
            <a:ext cx="2083232" cy="1316736"/>
          </a:xfrm>
          <a:prstGeom prst="rect">
            <a:avLst/>
          </a:prstGeom>
          <a:noFill/>
          <a:ln/>
        </p:spPr>
        <p:txBody>
          <a:bodyPr wrap="square" lIns="0" tIns="0" rIns="0" bIns="0" rtlCol="0" anchor="ctr"/>
          <a:lstStyle/>
          <a:p>
            <a:pPr rtl="1" algn="r" indent="0" marL="0">
              <a:lnSpc>
                <a:spcPct val="120000"/>
              </a:lnSpc>
              <a:buNone/>
            </a:pPr>
            <a:r>
              <a:rPr lang="ar-EG" sz="1200" dirty="0">
                <a:solidFill>
                  <a:srgbClr val="E8F1EE"/>
                </a:solidFill>
                <a:latin typeface="Segoe UI" pitchFamily="34" charset="0"/>
                <a:ea typeface="Segoe UI" pitchFamily="34" charset="-122"/>
                <a:cs typeface="Segoe UI" pitchFamily="34" charset="-120"/>
              </a:rPr>
              <a:t xml:space="preserve">بانر أحمر </a:t>
            </a:r>
            <a:pPr rtl="1" algn="r" indent="0" marL="0">
              <a:lnSpc>
                <a:spcPct val="120000"/>
              </a:lnSpc>
              <a:buNone/>
            </a:pPr>
            <a:r>
              <a:rPr lang="en-US" sz="1200" dirty="0">
                <a:solidFill>
                  <a:srgbClr val="B9CBC6"/>
                </a:solidFill>
                <a:latin typeface="Segoe UI" pitchFamily="34" charset="0"/>
                <a:ea typeface="Segoe UI" pitchFamily="34" charset="-122"/>
                <a:cs typeface="Segoe UI" pitchFamily="34" charset="-120"/>
              </a:rPr>
              <a:t>emergency</a:t>
            </a:r>
            <a:pPr rtl="1" algn="r" indent="0" marL="0">
              <a:lnSpc>
                <a:spcPct val="120000"/>
              </a:lnSpc>
              <a:buNone/>
            </a:pPr>
            <a:r>
              <a:rPr lang="ar-EG" sz="1200" dirty="0">
                <a:solidFill>
                  <a:srgbClr val="E8F1EE"/>
                </a:solidFill>
                <a:latin typeface="Segoe UI" pitchFamily="34" charset="0"/>
                <a:ea typeface="Segoe UI" pitchFamily="34" charset="-122"/>
                <a:cs typeface="Segoe UI" pitchFamily="34" charset="-120"/>
              </a:rPr>
              <a:t xml:space="preserve"> + </a:t>
            </a:r>
            <a:pPr rtl="1" algn="r" indent="0" marL="0">
              <a:lnSpc>
                <a:spcPct val="120000"/>
              </a:lnSpc>
              <a:buNone/>
            </a:pPr>
            <a:r>
              <a:rPr lang="ar-EG" sz="1200" b="1" dirty="0">
                <a:solidFill>
                  <a:srgbClr val="FBC85E"/>
                </a:solidFill>
                <a:latin typeface="Segoe UI" pitchFamily="34" charset="0"/>
                <a:ea typeface="Segoe UI" pitchFamily="34" charset="-122"/>
                <a:cs typeface="Segoe UI" pitchFamily="34" charset="-120"/>
              </a:rPr>
              <a:t>عداد ٦٠ ثانية</a:t>
            </a:r>
            <a:pPr rtl="1" algn="r" indent="0" marL="0">
              <a:lnSpc>
                <a:spcPct val="120000"/>
              </a:lnSpc>
              <a:buNone/>
            </a:pPr>
            <a:r>
              <a:rPr lang="ar-EG" sz="1200" dirty="0">
                <a:solidFill>
                  <a:srgbClr val="E8F1EE"/>
                </a:solidFill>
                <a:latin typeface="Segoe UI" pitchFamily="34" charset="0"/>
                <a:ea typeface="Segoe UI" pitchFamily="34" charset="-122"/>
                <a:cs typeface="Segoe UI" pitchFamily="34" charset="-120"/>
              </a:rPr>
              <a:t xml:space="preserve"> + </a:t>
            </a:r>
            <a:pPr rtl="1" algn="r" indent="0" marL="0">
              <a:lnSpc>
                <a:spcPct val="120000"/>
              </a:lnSpc>
              <a:buNone/>
            </a:pPr>
            <a:r>
              <a:rPr lang="ar-EG" sz="1200" b="1" dirty="0">
                <a:solidFill>
                  <a:srgbClr val="FBC85E"/>
                </a:solidFill>
                <a:latin typeface="Segoe UI" pitchFamily="34" charset="0"/>
                <a:ea typeface="Segoe UI" pitchFamily="34" charset="-122"/>
                <a:cs typeface="Segoe UI" pitchFamily="34" charset="-120"/>
              </a:rPr>
              <a:t>سرينة واهتزاز</a:t>
            </a:r>
            <a:endParaRPr lang="en-US" sz="1200" dirty="0"/>
          </a:p>
        </p:txBody>
      </p:sp>
      <p:sp>
        <p:nvSpPr>
          <p:cNvPr id="33" name="Text 31"/>
          <p:cNvSpPr/>
          <p:nvPr/>
        </p:nvSpPr>
        <p:spPr>
          <a:xfrm>
            <a:off x="3125648" y="3730752"/>
            <a:ext cx="274320" cy="2249424"/>
          </a:xfrm>
          <a:prstGeom prst="rect">
            <a:avLst/>
          </a:prstGeom>
          <a:noFill/>
          <a:ln/>
        </p:spPr>
        <p:txBody>
          <a:bodyPr wrap="square" lIns="0" tIns="0" rIns="0" bIns="0" rtlCol="0" anchor="ctr"/>
          <a:lstStyle/>
          <a:p>
            <a:pPr algn="ctr" indent="0" marL="0">
              <a:buNone/>
            </a:pPr>
            <a:r>
              <a:rPr lang="ar-EG" sz="1700" b="1" dirty="0">
                <a:solidFill>
                  <a:srgbClr val="8AA29D"/>
                </a:solidFill>
                <a:latin typeface="Segoe UI" pitchFamily="34" charset="0"/>
                <a:ea typeface="Segoe UI" pitchFamily="34" charset="-122"/>
                <a:cs typeface="Segoe UI" pitchFamily="34" charset="-120"/>
              </a:rPr>
              <a:t>←</a:t>
            </a:r>
            <a:endParaRPr lang="en-US" sz="1700" dirty="0"/>
          </a:p>
        </p:txBody>
      </p:sp>
      <p:sp>
        <p:nvSpPr>
          <p:cNvPr id="34" name="Shape 32"/>
          <p:cNvSpPr/>
          <p:nvPr/>
        </p:nvSpPr>
        <p:spPr>
          <a:xfrm>
            <a:off x="566928" y="3730752"/>
            <a:ext cx="2558720" cy="2249424"/>
          </a:xfrm>
          <a:prstGeom prst="roundRect">
            <a:avLst>
              <a:gd name="adj" fmla="val 3659"/>
            </a:avLst>
          </a:prstGeom>
          <a:solidFill>
            <a:srgbClr val="D94B4B">
              <a:alpha val="14000"/>
            </a:srgbClr>
          </a:solidFill>
          <a:ln w="9525">
            <a:solidFill>
              <a:srgbClr val="5A3540"/>
            </a:solidFill>
            <a:prstDash val="solid"/>
          </a:ln>
          <a:effectLst>
            <a:outerShdw sx="100000" sy="100000" kx="0" ky="0" algn="bl" rotWithShape="0" blurRad="152400" dist="25400" dir="5400000">
              <a:srgbClr val="000000">
                <a:alpha val="30000"/>
              </a:srgbClr>
            </a:outerShdw>
          </a:effectLst>
        </p:spPr>
      </p:sp>
      <p:sp>
        <p:nvSpPr>
          <p:cNvPr id="35" name="Text 33"/>
          <p:cNvSpPr/>
          <p:nvPr/>
        </p:nvSpPr>
        <p:spPr>
          <a:xfrm>
            <a:off x="1936928" y="3931920"/>
            <a:ext cx="987552" cy="420624"/>
          </a:xfrm>
          <a:prstGeom prst="roundRect">
            <a:avLst>
              <a:gd name="adj" fmla="val 15217"/>
            </a:avLst>
          </a:prstGeom>
          <a:solidFill>
            <a:srgbClr val="D94B4B"/>
          </a:solidFill>
          <a:ln w="9525">
            <a:solidFill>
              <a:srgbClr val="D94B4B"/>
            </a:solidFill>
          </a:ln>
        </p:spPr>
        <p:txBody>
          <a:bodyPr wrap="square" lIns="0" tIns="0" rIns="0" bIns="0" rtlCol="0" anchor="ctr"/>
          <a:lstStyle/>
          <a:p>
            <a:pPr rtl="1" algn="ctr" indent="0" marL="0">
              <a:buNone/>
            </a:pPr>
            <a:r>
              <a:rPr lang="ar-EG" sz="1400" b="1" dirty="0">
                <a:solidFill>
                  <a:srgbClr val="FFF2F2"/>
                </a:solidFill>
                <a:latin typeface="Segoe UI" pitchFamily="34" charset="0"/>
                <a:ea typeface="Segoe UI" pitchFamily="34" charset="-122"/>
                <a:cs typeface="Segoe UI" pitchFamily="34" charset="-120"/>
              </a:rPr>
              <a:t>١:٠٥</a:t>
            </a:r>
            <a:endParaRPr lang="en-US" sz="1400" dirty="0"/>
          </a:p>
        </p:txBody>
      </p:sp>
      <p:sp>
        <p:nvSpPr>
          <p:cNvPr id="36" name="Text 34"/>
          <p:cNvSpPr txBox="1"/>
          <p:nvPr/>
        </p:nvSpPr>
        <p:spPr>
          <a:xfrm>
            <a:off x="804672" y="4462272"/>
            <a:ext cx="2083232" cy="1316736"/>
          </a:xfrm>
          <a:prstGeom prst="rect">
            <a:avLst/>
          </a:prstGeom>
          <a:noFill/>
          <a:ln/>
        </p:spPr>
        <p:txBody>
          <a:bodyPr wrap="square" lIns="0" tIns="0" rIns="0" bIns="0" rtlCol="0" anchor="ctr"/>
          <a:lstStyle/>
          <a:p>
            <a:pPr rtl="1" algn="r" indent="0" marL="0">
              <a:lnSpc>
                <a:spcPct val="120000"/>
              </a:lnSpc>
              <a:buNone/>
            </a:pPr>
            <a:r>
              <a:rPr lang="ar-EG" sz="1200" dirty="0">
                <a:solidFill>
                  <a:srgbClr val="E8F1EE"/>
                </a:solidFill>
                <a:latin typeface="Segoe UI" pitchFamily="34" charset="0"/>
                <a:ea typeface="Segoe UI" pitchFamily="34" charset="-122"/>
                <a:cs typeface="Segoe UI" pitchFamily="34" charset="-120"/>
              </a:rPr>
              <a:t xml:space="preserve">محدش رد ← كارت «جاري إبلاغ [جهة الاتصال] — [الرقم]» · أو «أنا بخير ✓» ← </a:t>
            </a:r>
            <a:pPr rtl="1" algn="r" indent="0" marL="0">
              <a:lnSpc>
                <a:spcPct val="120000"/>
              </a:lnSpc>
              <a:buNone/>
            </a:pPr>
            <a:r>
              <a:rPr lang="en-US" sz="1200" dirty="0">
                <a:solidFill>
                  <a:srgbClr val="E8F1EE"/>
                </a:solidFill>
                <a:latin typeface="Segoe UI" pitchFamily="34" charset="0"/>
                <a:ea typeface="Segoe UI" pitchFamily="34" charset="-122"/>
                <a:cs typeface="Segoe UI" pitchFamily="34" charset="-120"/>
              </a:rPr>
              <a:t>resolved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الحل</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المميزات — إيه اللي مبني وشغال</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١٠ / ١٨</a:t>
            </a:r>
            <a:endParaRPr lang="en-US" sz="950" dirty="0"/>
          </a:p>
        </p:txBody>
      </p:sp>
      <p:sp>
        <p:nvSpPr>
          <p:cNvPr id="5" name="Shape 3"/>
          <p:cNvSpPr/>
          <p:nvPr/>
        </p:nvSpPr>
        <p:spPr>
          <a:xfrm>
            <a:off x="8121701" y="1536192"/>
            <a:ext cx="3503066" cy="2103120"/>
          </a:xfrm>
          <a:prstGeom prst="roundRect">
            <a:avLst>
              <a:gd name="adj" fmla="val 3913"/>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6" name="Text 4"/>
          <p:cNvSpPr/>
          <p:nvPr/>
        </p:nvSpPr>
        <p:spPr>
          <a:xfrm>
            <a:off x="10143439" y="1755648"/>
            <a:ext cx="1280160" cy="420624"/>
          </a:xfrm>
          <a:prstGeom prst="roundRect">
            <a:avLst>
              <a:gd name="adj" fmla="val 15217"/>
            </a:avLst>
          </a:prstGeom>
          <a:solidFill>
            <a:srgbClr val="19A878"/>
          </a:solidFill>
          <a:ln w="9525">
            <a:solidFill>
              <a:srgbClr val="19A878"/>
            </a:solidFill>
          </a:ln>
        </p:spPr>
        <p:txBody>
          <a:bodyPr wrap="square" lIns="0" tIns="0" rIns="0" bIns="0" rtlCol="0" anchor="ctr"/>
          <a:lstStyle/>
          <a:p>
            <a:pPr rtl="1" algn="ctr" indent="0" marL="0">
              <a:buNone/>
            </a:pPr>
            <a:r>
              <a:rPr lang="ar-EG" sz="1300" b="1" dirty="0">
                <a:solidFill>
                  <a:srgbClr val="06181A"/>
                </a:solidFill>
                <a:latin typeface="Segoe UI" pitchFamily="34" charset="0"/>
                <a:ea typeface="Segoe UI" pitchFamily="34" charset="-122"/>
                <a:cs typeface="Segoe UI" pitchFamily="34" charset="-120"/>
              </a:rPr>
              <a:t>الذكاء</a:t>
            </a:r>
            <a:endParaRPr lang="en-US" sz="1300" dirty="0"/>
          </a:p>
        </p:txBody>
      </p:sp>
      <p:sp>
        <p:nvSpPr>
          <p:cNvPr id="7" name="Text 5"/>
          <p:cNvSpPr txBox="1"/>
          <p:nvPr/>
        </p:nvSpPr>
        <p:spPr>
          <a:xfrm>
            <a:off x="8377733" y="2322576"/>
            <a:ext cx="2991002" cy="1097280"/>
          </a:xfrm>
          <a:prstGeom prst="rect">
            <a:avLst/>
          </a:prstGeom>
          <a:noFill/>
          <a:ln/>
        </p:spPr>
        <p:txBody>
          <a:bodyPr wrap="square" lIns="0" tIns="0" rIns="0" bIns="0" rtlCol="0" anchor="t"/>
          <a:lstStyle/>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فرز محادثاتي بأسئلة متابعة</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a:t>
            </a:r>
            <a:pPr rtl="1" algn="r" indent="0" marL="0">
              <a:lnSpc>
                <a:spcPct val="130000"/>
              </a:lnSpc>
              <a:buNone/>
            </a:pPr>
            <a:r>
              <a:rPr lang="en-US" sz="1200" dirty="0">
                <a:solidFill>
                  <a:srgbClr val="B9CBC6"/>
                </a:solidFill>
                <a:latin typeface="Segoe UI" pitchFamily="34" charset="0"/>
                <a:ea typeface="Segoe UI" pitchFamily="34" charset="-122"/>
                <a:cs typeface="Segoe UI" pitchFamily="34" charset="-120"/>
              </a:rPr>
              <a:t>RAG</a:t>
            </a:r>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واسترجاع من مصادر</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a:t>
            </a:r>
            <a:pPr rtl="1" algn="r" indent="0" marL="0">
              <a:lnSpc>
                <a:spcPct val="130000"/>
              </a:lnSpc>
              <a:buNone/>
            </a:pPr>
            <a:r>
              <a:rPr lang="en-US" sz="1200" dirty="0">
                <a:solidFill>
                  <a:srgbClr val="B9CBC6"/>
                </a:solidFill>
                <a:latin typeface="Segoe UI" pitchFamily="34" charset="0"/>
                <a:ea typeface="Segoe UI" pitchFamily="34" charset="-122"/>
                <a:cs typeface="Segoe UI" pitchFamily="34" charset="-120"/>
              </a:rPr>
              <a:t>citations</a:t>
            </a:r>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لكل رد</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تصنيف خطورة</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رفض خارج النطاق</a:t>
            </a:r>
            <a:endParaRPr lang="en-US" sz="1200" dirty="0"/>
          </a:p>
        </p:txBody>
      </p:sp>
      <p:sp>
        <p:nvSpPr>
          <p:cNvPr id="8" name="Shape 6"/>
          <p:cNvSpPr/>
          <p:nvPr/>
        </p:nvSpPr>
        <p:spPr>
          <a:xfrm>
            <a:off x="4344314" y="1536192"/>
            <a:ext cx="3503066" cy="2103120"/>
          </a:xfrm>
          <a:prstGeom prst="roundRect">
            <a:avLst>
              <a:gd name="adj" fmla="val 3913"/>
            </a:avLst>
          </a:prstGeom>
          <a:solidFill>
            <a:srgbClr val="172B34">
              <a:alpha val="84000"/>
            </a:srgbClr>
          </a:solidFill>
          <a:ln w="9525">
            <a:solidFill>
              <a:srgbClr val="4A3038"/>
            </a:solidFill>
            <a:prstDash val="solid"/>
          </a:ln>
          <a:effectLst>
            <a:outerShdw sx="100000" sy="100000" kx="0" ky="0" algn="bl" rotWithShape="0" blurRad="152400" dist="25400" dir="5400000">
              <a:srgbClr val="000000">
                <a:alpha val="30000"/>
              </a:srgbClr>
            </a:outerShdw>
          </a:effectLst>
        </p:spPr>
      </p:sp>
      <p:sp>
        <p:nvSpPr>
          <p:cNvPr id="9" name="Text 7"/>
          <p:cNvSpPr/>
          <p:nvPr/>
        </p:nvSpPr>
        <p:spPr>
          <a:xfrm>
            <a:off x="6366053" y="1755648"/>
            <a:ext cx="1280160" cy="420624"/>
          </a:xfrm>
          <a:prstGeom prst="roundRect">
            <a:avLst>
              <a:gd name="adj" fmla="val 15217"/>
            </a:avLst>
          </a:prstGeom>
          <a:solidFill>
            <a:srgbClr val="D94B4B"/>
          </a:solidFill>
          <a:ln w="9525">
            <a:solidFill>
              <a:srgbClr val="D94B4B"/>
            </a:solidFill>
          </a:ln>
        </p:spPr>
        <p:txBody>
          <a:bodyPr wrap="square" lIns="0" tIns="0" rIns="0" bIns="0" rtlCol="0" anchor="ctr"/>
          <a:lstStyle/>
          <a:p>
            <a:pPr rtl="1" algn="ctr" indent="0" marL="0">
              <a:buNone/>
            </a:pPr>
            <a:r>
              <a:rPr lang="ar-EG" sz="1300" b="1" dirty="0">
                <a:solidFill>
                  <a:srgbClr val="FFF2F2"/>
                </a:solidFill>
                <a:latin typeface="Segoe UI" pitchFamily="34" charset="0"/>
                <a:ea typeface="Segoe UI" pitchFamily="34" charset="-122"/>
                <a:cs typeface="Segoe UI" pitchFamily="34" charset="-120"/>
              </a:rPr>
              <a:t>الطوارئ</a:t>
            </a:r>
            <a:endParaRPr lang="en-US" sz="1300" dirty="0"/>
          </a:p>
        </p:txBody>
      </p:sp>
      <p:sp>
        <p:nvSpPr>
          <p:cNvPr id="10" name="Text 8"/>
          <p:cNvSpPr txBox="1"/>
          <p:nvPr/>
        </p:nvSpPr>
        <p:spPr>
          <a:xfrm>
            <a:off x="4600346" y="2322576"/>
            <a:ext cx="2991002" cy="1097280"/>
          </a:xfrm>
          <a:prstGeom prst="rect">
            <a:avLst/>
          </a:prstGeom>
          <a:noFill/>
          <a:ln/>
        </p:spPr>
        <p:txBody>
          <a:bodyPr wrap="square" lIns="0" tIns="0" rIns="0" bIns="0" rtlCol="0" anchor="t"/>
          <a:lstStyle/>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بانر خطورة</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عداد ٦٠ ثانية</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سرينة + اهتزاز</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تصعيد لجهة الاتصال</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سجل أحداث كامل</a:t>
            </a:r>
            <a:endParaRPr lang="en-US" sz="1200" dirty="0"/>
          </a:p>
        </p:txBody>
      </p:sp>
      <p:sp>
        <p:nvSpPr>
          <p:cNvPr id="11" name="Shape 9"/>
          <p:cNvSpPr/>
          <p:nvPr/>
        </p:nvSpPr>
        <p:spPr>
          <a:xfrm>
            <a:off x="566928" y="1536192"/>
            <a:ext cx="3503066" cy="2103120"/>
          </a:xfrm>
          <a:prstGeom prst="roundRect">
            <a:avLst>
              <a:gd name="adj" fmla="val 3913"/>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2" name="Text 10"/>
          <p:cNvSpPr/>
          <p:nvPr/>
        </p:nvSpPr>
        <p:spPr>
          <a:xfrm>
            <a:off x="2588666" y="1755648"/>
            <a:ext cx="1280160" cy="420624"/>
          </a:xfrm>
          <a:prstGeom prst="roundRect">
            <a:avLst>
              <a:gd name="adj" fmla="val 15217"/>
            </a:avLst>
          </a:prstGeom>
          <a:solidFill>
            <a:srgbClr val="19A878"/>
          </a:solidFill>
          <a:ln w="9525">
            <a:solidFill>
              <a:srgbClr val="19A878"/>
            </a:solidFill>
          </a:ln>
        </p:spPr>
        <p:txBody>
          <a:bodyPr wrap="square" lIns="0" tIns="0" rIns="0" bIns="0" rtlCol="0" anchor="ctr"/>
          <a:lstStyle/>
          <a:p>
            <a:pPr rtl="1" algn="ctr" indent="0" marL="0">
              <a:buNone/>
            </a:pPr>
            <a:r>
              <a:rPr lang="ar-EG" sz="1300" b="1" dirty="0">
                <a:solidFill>
                  <a:srgbClr val="06181A"/>
                </a:solidFill>
                <a:latin typeface="Segoe UI" pitchFamily="34" charset="0"/>
                <a:ea typeface="Segoe UI" pitchFamily="34" charset="-122"/>
                <a:cs typeface="Segoe UI" pitchFamily="34" charset="-120"/>
              </a:rPr>
              <a:t>الصوت</a:t>
            </a:r>
            <a:endParaRPr lang="en-US" sz="1300" dirty="0"/>
          </a:p>
        </p:txBody>
      </p:sp>
      <p:sp>
        <p:nvSpPr>
          <p:cNvPr id="13" name="Text 11"/>
          <p:cNvSpPr txBox="1"/>
          <p:nvPr/>
        </p:nvSpPr>
        <p:spPr>
          <a:xfrm>
            <a:off x="822960" y="2322576"/>
            <a:ext cx="2991002" cy="1097280"/>
          </a:xfrm>
          <a:prstGeom prst="rect">
            <a:avLst/>
          </a:prstGeom>
          <a:noFill/>
          <a:ln/>
        </p:spPr>
        <p:txBody>
          <a:bodyPr wrap="square" lIns="0" tIns="0" rIns="0" bIns="0" rtlCol="0" anchor="t"/>
          <a:lstStyle/>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إدخال بالصوت </a:t>
            </a:r>
            <a:pPr rtl="1" algn="r" indent="0" marL="0">
              <a:lnSpc>
                <a:spcPct val="130000"/>
              </a:lnSpc>
              <a:buNone/>
            </a:pPr>
            <a:r>
              <a:rPr lang="en-US" sz="1200" dirty="0">
                <a:solidFill>
                  <a:srgbClr val="5EDCB0"/>
                </a:solidFill>
                <a:latin typeface="Segoe UI" pitchFamily="34" charset="0"/>
                <a:ea typeface="Segoe UI" pitchFamily="34" charset="-122"/>
                <a:cs typeface="Segoe UI" pitchFamily="34" charset="-120"/>
              </a:rPr>
              <a:t>ar-EG</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رد منطوق</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مكالمة حية بمقاطعة</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إعادة اتصال </a:t>
            </a:r>
            <a:pPr rtl="1" algn="r" indent="0" marL="0">
              <a:lnSpc>
                <a:spcPct val="130000"/>
              </a:lnSpc>
              <a:buNone/>
            </a:pPr>
            <a:r>
              <a:rPr lang="ar-EG" sz="1200" b="1" dirty="0">
                <a:solidFill>
                  <a:srgbClr val="FFFFFF"/>
                </a:solidFill>
                <a:latin typeface="Segoe UI" pitchFamily="34" charset="0"/>
                <a:ea typeface="Segoe UI" pitchFamily="34" charset="-122"/>
                <a:cs typeface="Segoe UI" pitchFamily="34" charset="-120"/>
              </a:rPr>
              <a:t>بالسياق</a:t>
            </a:r>
            <a:endParaRPr lang="en-US" sz="1200" dirty="0"/>
          </a:p>
        </p:txBody>
      </p:sp>
      <p:sp>
        <p:nvSpPr>
          <p:cNvPr id="14" name="Shape 12"/>
          <p:cNvSpPr/>
          <p:nvPr/>
        </p:nvSpPr>
        <p:spPr>
          <a:xfrm>
            <a:off x="8121701" y="3913632"/>
            <a:ext cx="3503066" cy="2103120"/>
          </a:xfrm>
          <a:prstGeom prst="roundRect">
            <a:avLst>
              <a:gd name="adj" fmla="val 3913"/>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5" name="Text 13"/>
          <p:cNvSpPr/>
          <p:nvPr/>
        </p:nvSpPr>
        <p:spPr>
          <a:xfrm>
            <a:off x="10143439" y="4133088"/>
            <a:ext cx="1280160" cy="420624"/>
          </a:xfrm>
          <a:prstGeom prst="roundRect">
            <a:avLst>
              <a:gd name="adj" fmla="val 15217"/>
            </a:avLst>
          </a:prstGeom>
          <a:solidFill>
            <a:srgbClr val="19A878"/>
          </a:solidFill>
          <a:ln w="9525">
            <a:solidFill>
              <a:srgbClr val="19A878"/>
            </a:solidFill>
          </a:ln>
        </p:spPr>
        <p:txBody>
          <a:bodyPr wrap="square" lIns="0" tIns="0" rIns="0" bIns="0" rtlCol="0" anchor="ctr"/>
          <a:lstStyle/>
          <a:p>
            <a:pPr rtl="1" algn="ctr" indent="0" marL="0">
              <a:buNone/>
            </a:pPr>
            <a:r>
              <a:rPr lang="ar-EG" sz="1300" b="1" dirty="0">
                <a:solidFill>
                  <a:srgbClr val="06181A"/>
                </a:solidFill>
                <a:latin typeface="Segoe UI" pitchFamily="34" charset="0"/>
                <a:ea typeface="Segoe UI" pitchFamily="34" charset="-122"/>
                <a:cs typeface="Segoe UI" pitchFamily="34" charset="-120"/>
              </a:rPr>
              <a:t>المنصة</a:t>
            </a:r>
            <a:endParaRPr lang="en-US" sz="1300" dirty="0"/>
          </a:p>
        </p:txBody>
      </p:sp>
      <p:sp>
        <p:nvSpPr>
          <p:cNvPr id="16" name="Text 14"/>
          <p:cNvSpPr txBox="1"/>
          <p:nvPr/>
        </p:nvSpPr>
        <p:spPr>
          <a:xfrm>
            <a:off x="8377733" y="4700016"/>
            <a:ext cx="2991002" cy="1097280"/>
          </a:xfrm>
          <a:prstGeom prst="rect">
            <a:avLst/>
          </a:prstGeom>
          <a:noFill/>
          <a:ln/>
        </p:spPr>
        <p:txBody>
          <a:bodyPr wrap="square" lIns="0" tIns="0" rIns="0" bIns="0" rtlCol="0" anchor="t"/>
          <a:lstStyle/>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واجهة عربي / إنجليزي</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دارك مود</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a:t>
            </a:r>
            <a:pPr rtl="1" algn="r" indent="0" marL="0">
              <a:lnSpc>
                <a:spcPct val="130000"/>
              </a:lnSpc>
              <a:buNone/>
            </a:pPr>
            <a:r>
              <a:rPr lang="en-US" sz="1200" dirty="0">
                <a:solidFill>
                  <a:srgbClr val="B9CBC6"/>
                </a:solidFill>
                <a:latin typeface="Segoe UI" pitchFamily="34" charset="0"/>
                <a:ea typeface="Segoe UI" pitchFamily="34" charset="-122"/>
                <a:cs typeface="Segoe UI" pitchFamily="34" charset="-120"/>
              </a:rPr>
              <a:t>Google Sign-In</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بروفايل طبي</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هيستوري محادثات</a:t>
            </a:r>
            <a:endParaRPr lang="en-US" sz="1200" dirty="0"/>
          </a:p>
        </p:txBody>
      </p:sp>
      <p:sp>
        <p:nvSpPr>
          <p:cNvPr id="17" name="Shape 15"/>
          <p:cNvSpPr/>
          <p:nvPr/>
        </p:nvSpPr>
        <p:spPr>
          <a:xfrm>
            <a:off x="4344314" y="3913632"/>
            <a:ext cx="3503066" cy="2103120"/>
          </a:xfrm>
          <a:prstGeom prst="roundRect">
            <a:avLst>
              <a:gd name="adj" fmla="val 3913"/>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8" name="Text 16"/>
          <p:cNvSpPr/>
          <p:nvPr/>
        </p:nvSpPr>
        <p:spPr>
          <a:xfrm>
            <a:off x="6366053" y="4133088"/>
            <a:ext cx="1280160" cy="420624"/>
          </a:xfrm>
          <a:prstGeom prst="roundRect">
            <a:avLst>
              <a:gd name="adj" fmla="val 15217"/>
            </a:avLst>
          </a:prstGeom>
          <a:solidFill>
            <a:srgbClr val="19A878"/>
          </a:solidFill>
          <a:ln w="9525">
            <a:solidFill>
              <a:srgbClr val="19A878"/>
            </a:solidFill>
          </a:ln>
        </p:spPr>
        <p:txBody>
          <a:bodyPr wrap="square" lIns="0" tIns="0" rIns="0" bIns="0" rtlCol="0" anchor="ctr"/>
          <a:lstStyle/>
          <a:p>
            <a:pPr rtl="1" algn="ctr" indent="0" marL="0">
              <a:buNone/>
            </a:pPr>
            <a:r>
              <a:rPr lang="ar-EG" sz="1300" b="1" dirty="0">
                <a:solidFill>
                  <a:srgbClr val="06181A"/>
                </a:solidFill>
                <a:latin typeface="Segoe UI" pitchFamily="34" charset="0"/>
                <a:ea typeface="Segoe UI" pitchFamily="34" charset="-122"/>
                <a:cs typeface="Segoe UI" pitchFamily="34" charset="-120"/>
              </a:rPr>
              <a:t>الوصول</a:t>
            </a:r>
            <a:endParaRPr lang="en-US" sz="1300" dirty="0"/>
          </a:p>
        </p:txBody>
      </p:sp>
      <p:sp>
        <p:nvSpPr>
          <p:cNvPr id="19" name="Text 17"/>
          <p:cNvSpPr txBox="1"/>
          <p:nvPr/>
        </p:nvSpPr>
        <p:spPr>
          <a:xfrm>
            <a:off x="4600346" y="4700016"/>
            <a:ext cx="2991002" cy="1097280"/>
          </a:xfrm>
          <a:prstGeom prst="rect">
            <a:avLst/>
          </a:prstGeom>
          <a:noFill/>
          <a:ln/>
        </p:spPr>
        <p:txBody>
          <a:bodyPr wrap="square" lIns="0" tIns="0" rIns="0" bIns="0" rtlCol="0" anchor="t"/>
          <a:lstStyle/>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لينك ويب</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من غير تحميل</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من غير متجر تطبيقات</a:t>
            </a:r>
            <a:endParaRPr lang="en-US" sz="1200" dirty="0"/>
          </a:p>
        </p:txBody>
      </p:sp>
      <p:sp>
        <p:nvSpPr>
          <p:cNvPr id="20" name="Shape 18"/>
          <p:cNvSpPr/>
          <p:nvPr/>
        </p:nvSpPr>
        <p:spPr>
          <a:xfrm>
            <a:off x="566928" y="3913632"/>
            <a:ext cx="3503066" cy="2103120"/>
          </a:xfrm>
          <a:prstGeom prst="roundRect">
            <a:avLst>
              <a:gd name="adj" fmla="val 3913"/>
            </a:avLst>
          </a:prstGeom>
          <a:solidFill>
            <a:srgbClr val="172B34">
              <a:alpha val="84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21" name="Text 19"/>
          <p:cNvSpPr/>
          <p:nvPr/>
        </p:nvSpPr>
        <p:spPr>
          <a:xfrm>
            <a:off x="2588666" y="4133088"/>
            <a:ext cx="1280160" cy="420624"/>
          </a:xfrm>
          <a:prstGeom prst="roundRect">
            <a:avLst>
              <a:gd name="adj" fmla="val 15217"/>
            </a:avLst>
          </a:prstGeom>
          <a:solidFill>
            <a:srgbClr val="F59E0B"/>
          </a:solidFill>
          <a:ln w="9525">
            <a:solidFill>
              <a:srgbClr val="F59E0B"/>
            </a:solidFill>
          </a:ln>
        </p:spPr>
        <p:txBody>
          <a:bodyPr wrap="square" lIns="0" tIns="0" rIns="0" bIns="0" rtlCol="0" anchor="ctr"/>
          <a:lstStyle/>
          <a:p>
            <a:pPr rtl="1" algn="ctr" indent="0" marL="0">
              <a:buNone/>
            </a:pPr>
            <a:r>
              <a:rPr lang="ar-EG" sz="1300" b="1" dirty="0">
                <a:solidFill>
                  <a:srgbClr val="2A1A02"/>
                </a:solidFill>
                <a:latin typeface="Segoe UI" pitchFamily="34" charset="0"/>
                <a:ea typeface="Segoe UI" pitchFamily="34" charset="-122"/>
                <a:cs typeface="Segoe UI" pitchFamily="34" charset="-120"/>
              </a:rPr>
              <a:t>الأمان</a:t>
            </a:r>
            <a:endParaRPr lang="en-US" sz="1300" dirty="0"/>
          </a:p>
        </p:txBody>
      </p:sp>
      <p:sp>
        <p:nvSpPr>
          <p:cNvPr id="22" name="Text 20"/>
          <p:cNvSpPr txBox="1"/>
          <p:nvPr/>
        </p:nvSpPr>
        <p:spPr>
          <a:xfrm>
            <a:off x="822960" y="4700016"/>
            <a:ext cx="2991002" cy="1097280"/>
          </a:xfrm>
          <a:prstGeom prst="rect">
            <a:avLst/>
          </a:prstGeom>
          <a:noFill/>
          <a:ln/>
        </p:spPr>
        <p:txBody>
          <a:bodyPr wrap="square" lIns="0" tIns="0" rIns="0" bIns="0" rtlCol="0" anchor="t"/>
          <a:lstStyle/>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ممنوع التشخيص الجازم</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a:t>
            </a:r>
            <a:pPr rtl="1" algn="r" indent="0" marL="0">
              <a:lnSpc>
                <a:spcPct val="130000"/>
              </a:lnSpc>
              <a:buNone/>
            </a:pPr>
            <a:r>
              <a:rPr lang="en-US" sz="1200" dirty="0">
                <a:solidFill>
                  <a:srgbClr val="B9CBC6"/>
                </a:solidFill>
                <a:latin typeface="Segoe UI" pitchFamily="34" charset="0"/>
                <a:ea typeface="Segoe UI" pitchFamily="34" charset="-122"/>
                <a:cs typeface="Segoe UI" pitchFamily="34" charset="-120"/>
              </a:rPr>
              <a:t>fallback</a:t>
            </a:r>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آمن بدل رسالة خطأ</a:t>
            </a:r>
            <a:endParaRPr lang="en-US" sz="1200" dirty="0"/>
          </a:p>
          <a:p>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a:t>
            </a:r>
            <a:pPr rtl="1" algn="r" indent="0" marL="0">
              <a:lnSpc>
                <a:spcPct val="130000"/>
              </a:lnSpc>
              <a:buNone/>
            </a:pPr>
            <a:r>
              <a:rPr lang="ar-EG" sz="1200" b="1" dirty="0">
                <a:solidFill>
                  <a:srgbClr val="FFFFFF"/>
                </a:solidFill>
                <a:latin typeface="Segoe UI" pitchFamily="34" charset="0"/>
                <a:ea typeface="Segoe UI" pitchFamily="34" charset="-122"/>
                <a:cs typeface="Segoe UI" pitchFamily="34" charset="-120"/>
              </a:rPr>
              <a:t>١٢٣</a:t>
            </a:r>
            <a:pPr rtl="1" algn="r" indent="0" marL="0">
              <a:lnSpc>
                <a:spcPct val="130000"/>
              </a:lnSpc>
              <a:buNone/>
            </a:pPr>
            <a:r>
              <a:rPr lang="ar-EG" sz="1200" dirty="0">
                <a:solidFill>
                  <a:srgbClr val="B9CBC6"/>
                </a:solidFill>
                <a:latin typeface="Segoe UI" pitchFamily="34" charset="0"/>
                <a:ea typeface="Segoe UI" pitchFamily="34" charset="-122"/>
                <a:cs typeface="Segoe UI" pitchFamily="34" charset="-120"/>
              </a:rPr>
              <a:t xml:space="preserve"> في أي علامة خطر</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السوق</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المنافسون — خريطة السوق (٢٠٢٥–٢٠٢٦)</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١١ / ١٨</a:t>
            </a:r>
            <a:endParaRPr lang="en-US" sz="950" dirty="0"/>
          </a:p>
        </p:txBody>
      </p:sp>
      <p:sp>
        <p:nvSpPr>
          <p:cNvPr id="5" name="Shape 3"/>
          <p:cNvSpPr/>
          <p:nvPr/>
        </p:nvSpPr>
        <p:spPr>
          <a:xfrm>
            <a:off x="6233008" y="1536192"/>
            <a:ext cx="5391760"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6" name="Text 4"/>
          <p:cNvSpPr txBox="1"/>
          <p:nvPr/>
        </p:nvSpPr>
        <p:spPr>
          <a:xfrm>
            <a:off x="8107528" y="1755648"/>
            <a:ext cx="3242920" cy="329184"/>
          </a:xfrm>
          <a:prstGeom prst="rect">
            <a:avLst/>
          </a:prstGeom>
          <a:noFill/>
          <a:ln/>
        </p:spPr>
        <p:txBody>
          <a:bodyPr wrap="square" lIns="0" tIns="0" rIns="0" bIns="0" rtlCol="0" anchor="t"/>
          <a:lstStyle/>
          <a:p>
            <a:pPr algn="r" indent="0" marL="0">
              <a:buNone/>
            </a:pPr>
            <a:r>
              <a:rPr lang="en-US" sz="1600" b="1" dirty="0">
                <a:solidFill>
                  <a:srgbClr val="FFFFFF"/>
                </a:solidFill>
                <a:latin typeface="Segoe UI" pitchFamily="34" charset="0"/>
                <a:ea typeface="Segoe UI" pitchFamily="34" charset="-122"/>
                <a:cs typeface="Segoe UI" pitchFamily="34" charset="-120"/>
              </a:rPr>
              <a:t>Ada Health</a:t>
            </a:r>
            <a:endParaRPr lang="en-US" sz="1600" dirty="0"/>
          </a:p>
        </p:txBody>
      </p:sp>
      <p:sp>
        <p:nvSpPr>
          <p:cNvPr id="7" name="Text 5"/>
          <p:cNvSpPr/>
          <p:nvPr/>
        </p:nvSpPr>
        <p:spPr>
          <a:xfrm>
            <a:off x="6507328" y="1773936"/>
            <a:ext cx="1463040" cy="310896"/>
          </a:xfrm>
          <a:prstGeom prst="roundRect">
            <a:avLst>
              <a:gd name="adj" fmla="val 20588"/>
            </a:avLst>
          </a:prstGeom>
          <a:solidFill>
            <a:srgbClr val="18323A"/>
          </a:solidFill>
          <a:ln w="9525">
            <a:solidFill>
              <a:srgbClr val="2C464F"/>
            </a:solidFill>
          </a:ln>
        </p:spPr>
        <p:txBody>
          <a:bodyPr wrap="square" lIns="0" tIns="0" rIns="0" bIns="0" rtlCol="0" anchor="ctr"/>
          <a:lstStyle/>
          <a:p>
            <a:pPr rtl="1" algn="ctr" indent="0" marL="0">
              <a:buNone/>
            </a:pPr>
            <a:r>
              <a:rPr lang="ar-EG" sz="1000" dirty="0">
                <a:solidFill>
                  <a:srgbClr val="5EDCB0"/>
                </a:solidFill>
                <a:latin typeface="Segoe UI" pitchFamily="34" charset="0"/>
                <a:ea typeface="Segoe UI" pitchFamily="34" charset="-122"/>
                <a:cs typeface="Segoe UI" pitchFamily="34" charset="-120"/>
              </a:rPr>
              <a:t>ألمانيا</a:t>
            </a:r>
            <a:endParaRPr lang="en-US" sz="1000" dirty="0"/>
          </a:p>
        </p:txBody>
      </p:sp>
      <p:sp>
        <p:nvSpPr>
          <p:cNvPr id="8" name="Text 6"/>
          <p:cNvSpPr txBox="1"/>
          <p:nvPr/>
        </p:nvSpPr>
        <p:spPr>
          <a:xfrm>
            <a:off x="6507328" y="2176272"/>
            <a:ext cx="4843120" cy="487680"/>
          </a:xfrm>
          <a:prstGeom prst="rect">
            <a:avLst/>
          </a:prstGeom>
          <a:noFill/>
          <a:ln/>
        </p:spPr>
        <p:txBody>
          <a:bodyPr wrap="square" lIns="0" tIns="0" rIns="0" bIns="0" rtlCol="0" anchor="ctr"/>
          <a:lstStyle/>
          <a:p>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 xml:space="preserve">فاحص أعراض مجاني — </a:t>
            </a:r>
            <a:pPr rtl="1" algn="r" indent="0" marL="0">
              <a:lnSpc>
                <a:spcPct val="118000"/>
              </a:lnSpc>
              <a:buNone/>
            </a:pPr>
            <a:r>
              <a:rPr lang="ar-EG" sz="1250" b="1" dirty="0">
                <a:solidFill>
                  <a:srgbClr val="FFFFFF"/>
                </a:solidFill>
                <a:latin typeface="Segoe UI" pitchFamily="34" charset="0"/>
                <a:ea typeface="Segoe UI" pitchFamily="34" charset="-122"/>
                <a:cs typeface="Segoe UI" pitchFamily="34" charset="-120"/>
              </a:rPr>
              <a:t>٧ لغات، مفيش عربي</a:t>
            </a:r>
            <a:endParaRPr lang="en-US" sz="1250" dirty="0"/>
          </a:p>
        </p:txBody>
      </p:sp>
      <p:sp>
        <p:nvSpPr>
          <p:cNvPr id="9" name="Shape 7"/>
          <p:cNvSpPr/>
          <p:nvPr/>
        </p:nvSpPr>
        <p:spPr>
          <a:xfrm>
            <a:off x="566928" y="1536192"/>
            <a:ext cx="5391760"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0" name="Text 8"/>
          <p:cNvSpPr txBox="1"/>
          <p:nvPr/>
        </p:nvSpPr>
        <p:spPr>
          <a:xfrm>
            <a:off x="2441448" y="1755648"/>
            <a:ext cx="3242920" cy="329184"/>
          </a:xfrm>
          <a:prstGeom prst="rect">
            <a:avLst/>
          </a:prstGeom>
          <a:noFill/>
          <a:ln/>
        </p:spPr>
        <p:txBody>
          <a:bodyPr wrap="square" lIns="0" tIns="0" rIns="0" bIns="0" rtlCol="0" anchor="t"/>
          <a:lstStyle/>
          <a:p>
            <a:pPr algn="r" indent="0" marL="0">
              <a:buNone/>
            </a:pPr>
            <a:r>
              <a:rPr lang="en-US" sz="1600" b="1" dirty="0">
                <a:solidFill>
                  <a:srgbClr val="FFFFFF"/>
                </a:solidFill>
                <a:latin typeface="Segoe UI" pitchFamily="34" charset="0"/>
                <a:ea typeface="Segoe UI" pitchFamily="34" charset="-122"/>
                <a:cs typeface="Segoe UI" pitchFamily="34" charset="-120"/>
              </a:rPr>
              <a:t>K Health</a:t>
            </a:r>
            <a:endParaRPr lang="en-US" sz="1600" dirty="0"/>
          </a:p>
        </p:txBody>
      </p:sp>
      <p:sp>
        <p:nvSpPr>
          <p:cNvPr id="11" name="Text 9"/>
          <p:cNvSpPr/>
          <p:nvPr/>
        </p:nvSpPr>
        <p:spPr>
          <a:xfrm>
            <a:off x="841248" y="1773936"/>
            <a:ext cx="1463040" cy="310896"/>
          </a:xfrm>
          <a:prstGeom prst="roundRect">
            <a:avLst>
              <a:gd name="adj" fmla="val 20588"/>
            </a:avLst>
          </a:prstGeom>
          <a:solidFill>
            <a:srgbClr val="18323A"/>
          </a:solidFill>
          <a:ln w="9525">
            <a:solidFill>
              <a:srgbClr val="2C464F"/>
            </a:solidFill>
          </a:ln>
        </p:spPr>
        <p:txBody>
          <a:bodyPr wrap="square" lIns="0" tIns="0" rIns="0" bIns="0" rtlCol="0" anchor="ctr"/>
          <a:lstStyle/>
          <a:p>
            <a:pPr rtl="1" algn="ctr" indent="0" marL="0">
              <a:buNone/>
            </a:pPr>
            <a:r>
              <a:rPr lang="ar-EG" sz="1000" dirty="0">
                <a:solidFill>
                  <a:srgbClr val="5EDCB0"/>
                </a:solidFill>
                <a:latin typeface="Segoe UI" pitchFamily="34" charset="0"/>
                <a:ea typeface="Segoe UI" pitchFamily="34" charset="-122"/>
                <a:cs typeface="Segoe UI" pitchFamily="34" charset="-120"/>
              </a:rPr>
              <a:t>أمريكا</a:t>
            </a:r>
            <a:endParaRPr lang="en-US" sz="1000" dirty="0"/>
          </a:p>
        </p:txBody>
      </p:sp>
      <p:sp>
        <p:nvSpPr>
          <p:cNvPr id="12" name="Text 10"/>
          <p:cNvSpPr txBox="1"/>
          <p:nvPr/>
        </p:nvSpPr>
        <p:spPr>
          <a:xfrm>
            <a:off x="841248" y="2176272"/>
            <a:ext cx="4843120" cy="487680"/>
          </a:xfrm>
          <a:prstGeom prst="rect">
            <a:avLst/>
          </a:prstGeom>
          <a:noFill/>
          <a:ln/>
        </p:spPr>
        <p:txBody>
          <a:bodyPr wrap="square" lIns="0" tIns="0" rIns="0" bIns="0" rtlCol="0" anchor="ctr"/>
          <a:lstStyle/>
          <a:p>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 xml:space="preserve">مساعد </a:t>
            </a:r>
            <a:pPr rtl="1" algn="r" indent="0" marL="0">
              <a:lnSpc>
                <a:spcPct val="118000"/>
              </a:lnSpc>
              <a:buNone/>
            </a:pPr>
            <a:r>
              <a:rPr lang="en-US" sz="1250" dirty="0">
                <a:solidFill>
                  <a:srgbClr val="B9CBC6"/>
                </a:solidFill>
                <a:latin typeface="Segoe UI" pitchFamily="34" charset="0"/>
                <a:ea typeface="Segoe UI" pitchFamily="34" charset="-122"/>
                <a:cs typeface="Segoe UI" pitchFamily="34" charset="-120"/>
              </a:rPr>
              <a:t>AI +</a:t>
            </a:r>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 xml:space="preserve"> دكاترة حقيقيين — </a:t>
            </a:r>
            <a:pPr rtl="1" algn="r" indent="0" marL="0">
              <a:lnSpc>
                <a:spcPct val="118000"/>
              </a:lnSpc>
              <a:buNone/>
            </a:pPr>
            <a:r>
              <a:rPr lang="ar-EG" sz="1250" b="1" dirty="0">
                <a:solidFill>
                  <a:srgbClr val="FFFFFF"/>
                </a:solidFill>
                <a:latin typeface="Segoe UI" pitchFamily="34" charset="0"/>
                <a:ea typeface="Segoe UI" pitchFamily="34" charset="-122"/>
                <a:cs typeface="Segoe UI" pitchFamily="34" charset="-120"/>
              </a:rPr>
              <a:t>$٤٩/شهر</a:t>
            </a:r>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 xml:space="preserve">، </a:t>
            </a:r>
            <a:pPr rtl="1" algn="r" indent="0" marL="0">
              <a:lnSpc>
                <a:spcPct val="118000"/>
              </a:lnSpc>
              <a:buNone/>
            </a:pPr>
            <a:r>
              <a:rPr lang="ar-EG" sz="1250" b="1" dirty="0">
                <a:solidFill>
                  <a:srgbClr val="FFFFFF"/>
                </a:solidFill>
                <a:latin typeface="Segoe UI" pitchFamily="34" charset="0"/>
                <a:ea typeface="Segoe UI" pitchFamily="34" charset="-122"/>
                <a:cs typeface="Segoe UI" pitchFamily="34" charset="-120"/>
              </a:rPr>
              <a:t>٤٨ ولاية أمريكية بس</a:t>
            </a:r>
            <a:endParaRPr lang="en-US" sz="1250" dirty="0"/>
          </a:p>
        </p:txBody>
      </p:sp>
      <p:sp>
        <p:nvSpPr>
          <p:cNvPr id="13" name="Shape 11"/>
          <p:cNvSpPr/>
          <p:nvPr/>
        </p:nvSpPr>
        <p:spPr>
          <a:xfrm>
            <a:off x="6233008" y="3102864"/>
            <a:ext cx="5391760"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4" name="Text 12"/>
          <p:cNvSpPr txBox="1"/>
          <p:nvPr/>
        </p:nvSpPr>
        <p:spPr>
          <a:xfrm>
            <a:off x="8107528" y="3322320"/>
            <a:ext cx="3242920" cy="329184"/>
          </a:xfrm>
          <a:prstGeom prst="rect">
            <a:avLst/>
          </a:prstGeom>
          <a:noFill/>
          <a:ln/>
        </p:spPr>
        <p:txBody>
          <a:bodyPr wrap="square" lIns="0" tIns="0" rIns="0" bIns="0" rtlCol="0" anchor="t"/>
          <a:lstStyle/>
          <a:p>
            <a:pPr algn="r" indent="0" marL="0">
              <a:buNone/>
            </a:pPr>
            <a:r>
              <a:rPr lang="en-US" sz="1600" b="1" dirty="0">
                <a:solidFill>
                  <a:srgbClr val="FFFFFF"/>
                </a:solidFill>
                <a:latin typeface="Segoe UI" pitchFamily="34" charset="0"/>
                <a:ea typeface="Segoe UI" pitchFamily="34" charset="-122"/>
                <a:cs typeface="Segoe UI" pitchFamily="34" charset="-120"/>
              </a:rPr>
              <a:t>Buoy Health</a:t>
            </a:r>
            <a:endParaRPr lang="en-US" sz="1600" dirty="0"/>
          </a:p>
        </p:txBody>
      </p:sp>
      <p:sp>
        <p:nvSpPr>
          <p:cNvPr id="15" name="Text 13"/>
          <p:cNvSpPr/>
          <p:nvPr/>
        </p:nvSpPr>
        <p:spPr>
          <a:xfrm>
            <a:off x="6507328" y="3340608"/>
            <a:ext cx="1463040" cy="310896"/>
          </a:xfrm>
          <a:prstGeom prst="roundRect">
            <a:avLst>
              <a:gd name="adj" fmla="val 20588"/>
            </a:avLst>
          </a:prstGeom>
          <a:solidFill>
            <a:srgbClr val="18323A"/>
          </a:solidFill>
          <a:ln w="9525">
            <a:solidFill>
              <a:srgbClr val="2C464F"/>
            </a:solidFill>
          </a:ln>
        </p:spPr>
        <p:txBody>
          <a:bodyPr wrap="square" lIns="0" tIns="0" rIns="0" bIns="0" rtlCol="0" anchor="ctr"/>
          <a:lstStyle/>
          <a:p>
            <a:pPr rtl="1" algn="ctr" indent="0" marL="0">
              <a:buNone/>
            </a:pPr>
            <a:r>
              <a:rPr lang="ar-EG" sz="1000" dirty="0">
                <a:solidFill>
                  <a:srgbClr val="5EDCB0"/>
                </a:solidFill>
                <a:latin typeface="Segoe UI" pitchFamily="34" charset="0"/>
                <a:ea typeface="Segoe UI" pitchFamily="34" charset="-122"/>
                <a:cs typeface="Segoe UI" pitchFamily="34" charset="-120"/>
              </a:rPr>
              <a:t>أمريكا</a:t>
            </a:r>
            <a:endParaRPr lang="en-US" sz="1000" dirty="0"/>
          </a:p>
        </p:txBody>
      </p:sp>
      <p:sp>
        <p:nvSpPr>
          <p:cNvPr id="16" name="Text 14"/>
          <p:cNvSpPr txBox="1"/>
          <p:nvPr/>
        </p:nvSpPr>
        <p:spPr>
          <a:xfrm>
            <a:off x="6507328" y="3742944"/>
            <a:ext cx="4843120" cy="487680"/>
          </a:xfrm>
          <a:prstGeom prst="rect">
            <a:avLst/>
          </a:prstGeom>
          <a:noFill/>
          <a:ln/>
        </p:spPr>
        <p:txBody>
          <a:bodyPr wrap="square" lIns="0" tIns="0" rIns="0" bIns="0" rtlCol="0" anchor="ctr"/>
          <a:lstStyle/>
          <a:p>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فاحص أعراض بالإنجليزي — موجّه للشركات وأنظمة الرعاية</a:t>
            </a:r>
            <a:endParaRPr lang="en-US" sz="1250" dirty="0"/>
          </a:p>
        </p:txBody>
      </p:sp>
      <p:sp>
        <p:nvSpPr>
          <p:cNvPr id="17" name="Shape 15"/>
          <p:cNvSpPr/>
          <p:nvPr/>
        </p:nvSpPr>
        <p:spPr>
          <a:xfrm>
            <a:off x="566928" y="3102864"/>
            <a:ext cx="5391760"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8" name="Text 16"/>
          <p:cNvSpPr txBox="1"/>
          <p:nvPr/>
        </p:nvSpPr>
        <p:spPr>
          <a:xfrm>
            <a:off x="2441448" y="3322320"/>
            <a:ext cx="3242920" cy="329184"/>
          </a:xfrm>
          <a:prstGeom prst="rect">
            <a:avLst/>
          </a:prstGeom>
          <a:noFill/>
          <a:ln/>
        </p:spPr>
        <p:txBody>
          <a:bodyPr wrap="square" lIns="0" tIns="0" rIns="0" bIns="0" rtlCol="0" anchor="t"/>
          <a:lstStyle/>
          <a:p>
            <a:pPr algn="r" indent="0" marL="0">
              <a:buNone/>
            </a:pPr>
            <a:r>
              <a:rPr lang="en-US" sz="1600" b="1" dirty="0">
                <a:solidFill>
                  <a:srgbClr val="FFFFFF"/>
                </a:solidFill>
                <a:latin typeface="Segoe UI" pitchFamily="34" charset="0"/>
                <a:ea typeface="Segoe UI" pitchFamily="34" charset="-122"/>
                <a:cs typeface="Segoe UI" pitchFamily="34" charset="-120"/>
              </a:rPr>
              <a:t>WebMD Symptom Checker</a:t>
            </a:r>
            <a:endParaRPr lang="en-US" sz="1600" dirty="0"/>
          </a:p>
        </p:txBody>
      </p:sp>
      <p:sp>
        <p:nvSpPr>
          <p:cNvPr id="19" name="Text 17"/>
          <p:cNvSpPr/>
          <p:nvPr/>
        </p:nvSpPr>
        <p:spPr>
          <a:xfrm>
            <a:off x="841248" y="3340608"/>
            <a:ext cx="1463040" cy="310896"/>
          </a:xfrm>
          <a:prstGeom prst="roundRect">
            <a:avLst>
              <a:gd name="adj" fmla="val 20588"/>
            </a:avLst>
          </a:prstGeom>
          <a:solidFill>
            <a:srgbClr val="18323A"/>
          </a:solidFill>
          <a:ln w="9525">
            <a:solidFill>
              <a:srgbClr val="2C464F"/>
            </a:solidFill>
          </a:ln>
        </p:spPr>
        <p:txBody>
          <a:bodyPr wrap="square" lIns="0" tIns="0" rIns="0" bIns="0" rtlCol="0" anchor="ctr"/>
          <a:lstStyle/>
          <a:p>
            <a:pPr rtl="1" algn="ctr" indent="0" marL="0">
              <a:buNone/>
            </a:pPr>
            <a:r>
              <a:rPr lang="ar-EG" sz="1000" dirty="0">
                <a:solidFill>
                  <a:srgbClr val="5EDCB0"/>
                </a:solidFill>
                <a:latin typeface="Segoe UI" pitchFamily="34" charset="0"/>
                <a:ea typeface="Segoe UI" pitchFamily="34" charset="-122"/>
                <a:cs typeface="Segoe UI" pitchFamily="34" charset="-120"/>
              </a:rPr>
              <a:t>عالمي</a:t>
            </a:r>
            <a:endParaRPr lang="en-US" sz="1000" dirty="0"/>
          </a:p>
        </p:txBody>
      </p:sp>
      <p:sp>
        <p:nvSpPr>
          <p:cNvPr id="20" name="Text 18"/>
          <p:cNvSpPr txBox="1"/>
          <p:nvPr/>
        </p:nvSpPr>
        <p:spPr>
          <a:xfrm>
            <a:off x="841248" y="3742944"/>
            <a:ext cx="4843120" cy="487680"/>
          </a:xfrm>
          <a:prstGeom prst="rect">
            <a:avLst/>
          </a:prstGeom>
          <a:noFill/>
          <a:ln/>
        </p:spPr>
        <p:txBody>
          <a:bodyPr wrap="square" lIns="0" tIns="0" rIns="0" bIns="0" rtlCol="0" anchor="ctr"/>
          <a:lstStyle/>
          <a:p>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 xml:space="preserve">أداة ويب مجانية بخريطة جسم — </a:t>
            </a:r>
            <a:pPr rtl="1" algn="r" indent="0" marL="0">
              <a:lnSpc>
                <a:spcPct val="118000"/>
              </a:lnSpc>
              <a:buNone/>
            </a:pPr>
            <a:r>
              <a:rPr lang="ar-EG" sz="1250" b="1" dirty="0">
                <a:solidFill>
                  <a:srgbClr val="FFFFFF"/>
                </a:solidFill>
                <a:latin typeface="Segoe UI" pitchFamily="34" charset="0"/>
                <a:ea typeface="Segoe UI" pitchFamily="34" charset="-122"/>
                <a:cs typeface="Segoe UI" pitchFamily="34" charset="-120"/>
              </a:rPr>
              <a:t>من غير مصادر تحت النتيجة</a:t>
            </a:r>
            <a:endParaRPr lang="en-US" sz="1250" dirty="0"/>
          </a:p>
        </p:txBody>
      </p:sp>
      <p:sp>
        <p:nvSpPr>
          <p:cNvPr id="21" name="Shape 19"/>
          <p:cNvSpPr/>
          <p:nvPr/>
        </p:nvSpPr>
        <p:spPr>
          <a:xfrm>
            <a:off x="6233008" y="4669536"/>
            <a:ext cx="5391760"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2" name="Text 20"/>
          <p:cNvSpPr txBox="1"/>
          <p:nvPr/>
        </p:nvSpPr>
        <p:spPr>
          <a:xfrm>
            <a:off x="8107528" y="4888992"/>
            <a:ext cx="3242920" cy="329184"/>
          </a:xfrm>
          <a:prstGeom prst="rect">
            <a:avLst/>
          </a:prstGeom>
          <a:noFill/>
          <a:ln/>
        </p:spPr>
        <p:txBody>
          <a:bodyPr wrap="square" lIns="0" tIns="0" rIns="0" bIns="0" rtlCol="0" anchor="t"/>
          <a:lstStyle/>
          <a:p>
            <a:pPr algn="r" indent="0" marL="0">
              <a:buNone/>
            </a:pPr>
            <a:r>
              <a:rPr lang="en-US" sz="1600" b="1" dirty="0">
                <a:solidFill>
                  <a:srgbClr val="FFFFFF"/>
                </a:solidFill>
                <a:latin typeface="Segoe UI" pitchFamily="34" charset="0"/>
                <a:ea typeface="Segoe UI" pitchFamily="34" charset="-122"/>
                <a:cs typeface="Segoe UI" pitchFamily="34" charset="-120"/>
              </a:rPr>
              <a:t>Altibbi / SINA</a:t>
            </a:r>
            <a:endParaRPr lang="en-US" sz="1600" dirty="0"/>
          </a:p>
        </p:txBody>
      </p:sp>
      <p:sp>
        <p:nvSpPr>
          <p:cNvPr id="23" name="Text 21"/>
          <p:cNvSpPr/>
          <p:nvPr/>
        </p:nvSpPr>
        <p:spPr>
          <a:xfrm>
            <a:off x="6507328" y="4907280"/>
            <a:ext cx="1463040" cy="310896"/>
          </a:xfrm>
          <a:prstGeom prst="roundRect">
            <a:avLst>
              <a:gd name="adj" fmla="val 20588"/>
            </a:avLst>
          </a:prstGeom>
          <a:solidFill>
            <a:srgbClr val="18323A"/>
          </a:solidFill>
          <a:ln w="9525">
            <a:solidFill>
              <a:srgbClr val="2C464F"/>
            </a:solidFill>
          </a:ln>
        </p:spPr>
        <p:txBody>
          <a:bodyPr wrap="square" lIns="0" tIns="0" rIns="0" bIns="0" rtlCol="0" anchor="ctr"/>
          <a:lstStyle/>
          <a:p>
            <a:pPr rtl="1" algn="ctr" indent="0" marL="0">
              <a:buNone/>
            </a:pPr>
            <a:r>
              <a:rPr lang="ar-EG" sz="1000" dirty="0">
                <a:solidFill>
                  <a:srgbClr val="5EDCB0"/>
                </a:solidFill>
                <a:latin typeface="Segoe UI" pitchFamily="34" charset="0"/>
                <a:ea typeface="Segoe UI" pitchFamily="34" charset="-122"/>
                <a:cs typeface="Segoe UI" pitchFamily="34" charset="-120"/>
              </a:rPr>
              <a:t xml:space="preserve">الأردن · </a:t>
            </a:r>
            <a:pPr rtl="1" algn="ctr" indent="0" marL="0">
              <a:buNone/>
            </a:pPr>
            <a:r>
              <a:rPr lang="en-US" sz="1000" dirty="0">
                <a:solidFill>
                  <a:srgbClr val="5EDCB0"/>
                </a:solidFill>
                <a:latin typeface="Segoe UI" pitchFamily="34" charset="0"/>
                <a:ea typeface="Segoe UI" pitchFamily="34" charset="-122"/>
                <a:cs typeface="Segoe UI" pitchFamily="34" charset="-120"/>
              </a:rPr>
              <a:t>MENA</a:t>
            </a:r>
            <a:endParaRPr lang="en-US" sz="1000" dirty="0"/>
          </a:p>
        </p:txBody>
      </p:sp>
      <p:sp>
        <p:nvSpPr>
          <p:cNvPr id="24" name="Text 22"/>
          <p:cNvSpPr txBox="1"/>
          <p:nvPr/>
        </p:nvSpPr>
        <p:spPr>
          <a:xfrm>
            <a:off x="6507328" y="5309616"/>
            <a:ext cx="4843120" cy="487680"/>
          </a:xfrm>
          <a:prstGeom prst="rect">
            <a:avLst/>
          </a:prstGeom>
          <a:noFill/>
          <a:ln/>
        </p:spPr>
        <p:txBody>
          <a:bodyPr wrap="square" lIns="0" tIns="0" rIns="0" bIns="0" rtlCol="0" anchor="ctr"/>
          <a:lstStyle/>
          <a:p>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 xml:space="preserve">أقوى منافس عربي: مساعد </a:t>
            </a:r>
            <a:pPr rtl="1" algn="r" indent="0" marL="0">
              <a:lnSpc>
                <a:spcPct val="118000"/>
              </a:lnSpc>
              <a:buNone/>
            </a:pPr>
            <a:r>
              <a:rPr lang="en-US" sz="1250" dirty="0">
                <a:solidFill>
                  <a:srgbClr val="B9CBC6"/>
                </a:solidFill>
                <a:latin typeface="Segoe UI" pitchFamily="34" charset="0"/>
                <a:ea typeface="Segoe UI" pitchFamily="34" charset="-122"/>
                <a:cs typeface="Segoe UI" pitchFamily="34" charset="-120"/>
              </a:rPr>
              <a:t>AI</a:t>
            </a:r>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 xml:space="preserve"> عربي + دكاترة بالمكالمة</a:t>
            </a:r>
            <a:endParaRPr lang="en-US" sz="1250" dirty="0"/>
          </a:p>
        </p:txBody>
      </p:sp>
      <p:sp>
        <p:nvSpPr>
          <p:cNvPr id="25" name="Shape 23"/>
          <p:cNvSpPr/>
          <p:nvPr/>
        </p:nvSpPr>
        <p:spPr>
          <a:xfrm>
            <a:off x="566928" y="4669536"/>
            <a:ext cx="5391760" cy="1347216"/>
          </a:xfrm>
          <a:prstGeom prst="roundRect">
            <a:avLst>
              <a:gd name="adj" fmla="val 6109"/>
            </a:avLst>
          </a:prstGeom>
          <a:solidFill>
            <a:srgbClr val="172B34">
              <a:alpha val="8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6" name="Text 24"/>
          <p:cNvSpPr txBox="1"/>
          <p:nvPr/>
        </p:nvSpPr>
        <p:spPr>
          <a:xfrm>
            <a:off x="2441448" y="4888992"/>
            <a:ext cx="3242920" cy="329184"/>
          </a:xfrm>
          <a:prstGeom prst="rect">
            <a:avLst/>
          </a:prstGeom>
          <a:noFill/>
          <a:ln/>
        </p:spPr>
        <p:txBody>
          <a:bodyPr wrap="square" lIns="0" tIns="0" rIns="0" bIns="0" rtlCol="0" anchor="t"/>
          <a:lstStyle/>
          <a:p>
            <a:pPr algn="r" indent="0" marL="0">
              <a:buNone/>
            </a:pPr>
            <a:r>
              <a:rPr lang="en-US" sz="1600" b="1" dirty="0">
                <a:solidFill>
                  <a:srgbClr val="FFFFFF"/>
                </a:solidFill>
                <a:latin typeface="Segoe UI" pitchFamily="34" charset="0"/>
                <a:ea typeface="Segoe UI" pitchFamily="34" charset="-122"/>
                <a:cs typeface="Segoe UI" pitchFamily="34" charset="-120"/>
              </a:rPr>
              <a:t>Vezeeta</a:t>
            </a:r>
            <a:endParaRPr lang="en-US" sz="1600" dirty="0"/>
          </a:p>
        </p:txBody>
      </p:sp>
      <p:sp>
        <p:nvSpPr>
          <p:cNvPr id="27" name="Text 25"/>
          <p:cNvSpPr/>
          <p:nvPr/>
        </p:nvSpPr>
        <p:spPr>
          <a:xfrm>
            <a:off x="841248" y="4907280"/>
            <a:ext cx="1463040" cy="310896"/>
          </a:xfrm>
          <a:prstGeom prst="roundRect">
            <a:avLst>
              <a:gd name="adj" fmla="val 20588"/>
            </a:avLst>
          </a:prstGeom>
          <a:solidFill>
            <a:srgbClr val="18323A"/>
          </a:solidFill>
          <a:ln w="9525">
            <a:solidFill>
              <a:srgbClr val="2C464F"/>
            </a:solidFill>
          </a:ln>
        </p:spPr>
        <p:txBody>
          <a:bodyPr wrap="square" lIns="0" tIns="0" rIns="0" bIns="0" rtlCol="0" anchor="ctr"/>
          <a:lstStyle/>
          <a:p>
            <a:pPr rtl="1" algn="ctr" indent="0" marL="0">
              <a:buNone/>
            </a:pPr>
            <a:r>
              <a:rPr lang="ar-EG" sz="1000" dirty="0">
                <a:solidFill>
                  <a:srgbClr val="5EDCB0"/>
                </a:solidFill>
                <a:latin typeface="Segoe UI" pitchFamily="34" charset="0"/>
                <a:ea typeface="Segoe UI" pitchFamily="34" charset="-122"/>
                <a:cs typeface="Segoe UI" pitchFamily="34" charset="-120"/>
              </a:rPr>
              <a:t>مصر</a:t>
            </a:r>
            <a:endParaRPr lang="en-US" sz="1000" dirty="0"/>
          </a:p>
        </p:txBody>
      </p:sp>
      <p:sp>
        <p:nvSpPr>
          <p:cNvPr id="28" name="Text 26"/>
          <p:cNvSpPr txBox="1"/>
          <p:nvPr/>
        </p:nvSpPr>
        <p:spPr>
          <a:xfrm>
            <a:off x="841248" y="5309616"/>
            <a:ext cx="4843120" cy="487680"/>
          </a:xfrm>
          <a:prstGeom prst="rect">
            <a:avLst/>
          </a:prstGeom>
          <a:noFill/>
          <a:ln/>
        </p:spPr>
        <p:txBody>
          <a:bodyPr wrap="square" lIns="0" tIns="0" rIns="0" bIns="0" rtlCol="0" anchor="ctr"/>
          <a:lstStyle/>
          <a:p>
            <a:pPr rtl="1" algn="r" indent="0" marL="0">
              <a:lnSpc>
                <a:spcPct val="118000"/>
              </a:lnSpc>
              <a:buNone/>
            </a:pPr>
            <a:r>
              <a:rPr lang="ar-EG" sz="1250" dirty="0">
                <a:solidFill>
                  <a:srgbClr val="B9CBC6"/>
                </a:solidFill>
                <a:latin typeface="Segoe UI" pitchFamily="34" charset="0"/>
                <a:ea typeface="Segoe UI" pitchFamily="34" charset="-122"/>
                <a:cs typeface="Segoe UI" pitchFamily="34" charset="-120"/>
              </a:rPr>
              <a:t xml:space="preserve">حجز وتليكونسلتيشن وصيدلية — </a:t>
            </a:r>
            <a:pPr rtl="1" algn="r" indent="0" marL="0">
              <a:lnSpc>
                <a:spcPct val="118000"/>
              </a:lnSpc>
              <a:buNone/>
            </a:pPr>
            <a:r>
              <a:rPr lang="ar-EG" sz="1250" b="1" dirty="0">
                <a:solidFill>
                  <a:srgbClr val="FFFFFF"/>
                </a:solidFill>
                <a:latin typeface="Segoe UI" pitchFamily="34" charset="0"/>
                <a:ea typeface="Segoe UI" pitchFamily="34" charset="-122"/>
                <a:cs typeface="Segoe UI" pitchFamily="34" charset="-120"/>
              </a:rPr>
              <a:t xml:space="preserve">مفيش فرز </a:t>
            </a:r>
            <a:pPr rtl="1" algn="r" indent="0" marL="0">
              <a:lnSpc>
                <a:spcPct val="118000"/>
              </a:lnSpc>
              <a:buNone/>
            </a:pPr>
            <a:r>
              <a:rPr lang="en-US" sz="1250" b="1" dirty="0">
                <a:solidFill>
                  <a:srgbClr val="FFFFFF"/>
                </a:solidFill>
                <a:latin typeface="Segoe UI" pitchFamily="34" charset="0"/>
                <a:ea typeface="Segoe UI" pitchFamily="34" charset="-122"/>
                <a:cs typeface="Segoe UI" pitchFamily="34" charset="-120"/>
              </a:rPr>
              <a:t>AI</a:t>
            </a:r>
            <a:pPr rtl="1" algn="r" indent="0" marL="0">
              <a:lnSpc>
                <a:spcPct val="118000"/>
              </a:lnSpc>
              <a:buNone/>
            </a:pPr>
            <a:r>
              <a:rPr lang="ar-EG" sz="1250" b="1" dirty="0">
                <a:solidFill>
                  <a:srgbClr val="FFFFFF"/>
                </a:solidFill>
                <a:latin typeface="Segoe UI" pitchFamily="34" charset="0"/>
                <a:ea typeface="Segoe UI" pitchFamily="34" charset="-122"/>
                <a:cs typeface="Segoe UI" pitchFamily="34" charset="-120"/>
              </a:rPr>
              <a:t xml:space="preserve"> ولا طوارئ</a:t>
            </a:r>
            <a:endParaRPr lang="en-US" sz="1250" dirty="0"/>
          </a:p>
        </p:txBody>
      </p:sp>
      <p:sp>
        <p:nvSpPr>
          <p:cNvPr id="29" name="Text 27"/>
          <p:cNvSpPr txBox="1"/>
          <p:nvPr/>
        </p:nvSpPr>
        <p:spPr>
          <a:xfrm>
            <a:off x="2304288" y="6309360"/>
            <a:ext cx="9320479" cy="347472"/>
          </a:xfrm>
          <a:prstGeom prst="rect">
            <a:avLst/>
          </a:prstGeom>
          <a:noFill/>
          <a:ln/>
        </p:spPr>
        <p:txBody>
          <a:bodyPr wrap="square" lIns="0" tIns="0" rIns="0" bIns="0" rtlCol="0" anchor="ctr"/>
          <a:lstStyle/>
          <a:p>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المصادر: المواقع الرسمية للشركات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Tracxn</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LinkedIn</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Wikipedia</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تم الاطلاع أغسطس ٢٠٢٦</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السوق</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مصفوفة المقارنة</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١٢ / ١٨</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1280160"/>
                <a:gridCol w="2066544"/>
                <a:gridCol w="2395728"/>
                <a:gridCol w="1874520"/>
                <a:gridCol w="1572768"/>
                <a:gridCol w="1874520"/>
              </a:tblGrid>
              <a:tr h="530352">
                <a:tc>
                  <a:txBody>
                    <a:bodyPr/>
                    <a:lstStyle/>
                    <a:p>
                      <a:pPr rtl="1" algn="ctr" indent="0" marL="0">
                        <a:buNone/>
                      </a:pPr>
                      <a:r>
                        <a:rPr lang="ar-EG" sz="1100" b="1" dirty="0">
                          <a:solidFill>
                            <a:srgbClr val="5EDCB0"/>
                          </a:solidFill>
                          <a:latin typeface="Segoe UI" pitchFamily="34" charset="0"/>
                          <a:ea typeface="Segoe UI" pitchFamily="34" charset="-122"/>
                          <a:cs typeface="Segoe UI" pitchFamily="34" charset="-120"/>
                        </a:rPr>
                        <a:t>السعر</a:t>
                      </a:r>
                      <a:endParaRPr lang="en-US" sz="1100" dirty="0">
                        <a:latin typeface="Segoe UI" charset="0"/>
                        <a:ea typeface="Segoe UI" charset="0"/>
                        <a:cs typeface="Segoe UI" charset="0"/>
                      </a:endParaRPr>
                    </a:p>
                  </a:txBody>
                  <a:tcPr marL="76200" marR="762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242B"/>
                    </a:solidFill>
                  </a:tcPr>
                </a:tc>
                <a:tc>
                  <a:txBody>
                    <a:bodyPr/>
                    <a:lstStyle/>
                    <a:p>
                      <a:pPr rtl="1" algn="ctr" indent="0" marL="0">
                        <a:buNone/>
                      </a:pPr>
                      <a:r>
                        <a:rPr lang="ar-EG" sz="1100" b="1" dirty="0">
                          <a:solidFill>
                            <a:srgbClr val="5EDCB0"/>
                          </a:solidFill>
                          <a:latin typeface="Segoe UI" pitchFamily="34" charset="0"/>
                          <a:ea typeface="Segoe UI" pitchFamily="34" charset="-122"/>
                          <a:cs typeface="Segoe UI" pitchFamily="34" charset="-120"/>
                        </a:rPr>
                        <a:t>مصادر تحت كل رد</a:t>
                      </a:r>
                      <a:endParaRPr lang="en-US" sz="1100" dirty="0">
                        <a:latin typeface="Segoe UI" charset="0"/>
                        <a:ea typeface="Segoe UI" charset="0"/>
                        <a:cs typeface="Segoe UI" charset="0"/>
                      </a:endParaRPr>
                    </a:p>
                  </a:txBody>
                  <a:tcPr marL="76200" marR="762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242B"/>
                    </a:solidFill>
                  </a:tcPr>
                </a:tc>
                <a:tc>
                  <a:txBody>
                    <a:bodyPr/>
                    <a:lstStyle/>
                    <a:p>
                      <a:pPr rtl="1" algn="ctr" indent="0" marL="0">
                        <a:buNone/>
                      </a:pPr>
                      <a:r>
                        <a:rPr lang="ar-EG" sz="1100" b="1" dirty="0">
                          <a:solidFill>
                            <a:srgbClr val="5EDCB0"/>
                          </a:solidFill>
                          <a:latin typeface="Segoe UI" pitchFamily="34" charset="0"/>
                          <a:ea typeface="Segoe UI" pitchFamily="34" charset="-122"/>
                          <a:cs typeface="Segoe UI" pitchFamily="34" charset="-120"/>
                        </a:rPr>
                        <a:t>تصعيد لجهة اتصال شخصية</a:t>
                      </a:r>
                      <a:endParaRPr lang="en-US" sz="1100" dirty="0">
                        <a:latin typeface="Segoe UI" charset="0"/>
                        <a:ea typeface="Segoe UI" charset="0"/>
                        <a:cs typeface="Segoe UI" charset="0"/>
                      </a:endParaRPr>
                    </a:p>
                  </a:txBody>
                  <a:tcPr marL="76200" marR="762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242B"/>
                    </a:solidFill>
                  </a:tcPr>
                </a:tc>
                <a:tc>
                  <a:txBody>
                    <a:bodyPr/>
                    <a:lstStyle/>
                    <a:p>
                      <a:pPr rtl="1" algn="ctr" indent="0" marL="0">
                        <a:buNone/>
                      </a:pPr>
                      <a:r>
                        <a:rPr lang="ar-EG" sz="1100" b="1" dirty="0">
                          <a:solidFill>
                            <a:srgbClr val="5EDCB0"/>
                          </a:solidFill>
                          <a:latin typeface="Segoe UI" pitchFamily="34" charset="0"/>
                          <a:ea typeface="Segoe UI" pitchFamily="34" charset="-122"/>
                          <a:cs typeface="Segoe UI" pitchFamily="34" charset="-120"/>
                        </a:rPr>
                        <a:t>صوت / مكالمة حية</a:t>
                      </a:r>
                      <a:endParaRPr lang="en-US" sz="1100" dirty="0">
                        <a:latin typeface="Segoe UI" charset="0"/>
                        <a:ea typeface="Segoe UI" charset="0"/>
                        <a:cs typeface="Segoe UI" charset="0"/>
                      </a:endParaRPr>
                    </a:p>
                  </a:txBody>
                  <a:tcPr marL="76200" marR="762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242B"/>
                    </a:solidFill>
                  </a:tcPr>
                </a:tc>
                <a:tc>
                  <a:txBody>
                    <a:bodyPr/>
                    <a:lstStyle/>
                    <a:p>
                      <a:pPr rtl="1" algn="ctr" indent="0" marL="0">
                        <a:buNone/>
                      </a:pPr>
                      <a:r>
                        <a:rPr lang="ar-EG" sz="1100" b="1" dirty="0">
                          <a:solidFill>
                            <a:srgbClr val="5EDCB0"/>
                          </a:solidFill>
                          <a:latin typeface="Segoe UI" pitchFamily="34" charset="0"/>
                          <a:ea typeface="Segoe UI" pitchFamily="34" charset="-122"/>
                          <a:cs typeface="Segoe UI" pitchFamily="34" charset="-120"/>
                        </a:rPr>
                        <a:t>لهجة مصرية</a:t>
                      </a:r>
                      <a:endParaRPr lang="en-US" sz="1100" dirty="0">
                        <a:latin typeface="Segoe UI" charset="0"/>
                        <a:ea typeface="Segoe UI" charset="0"/>
                        <a:cs typeface="Segoe UI" charset="0"/>
                      </a:endParaRPr>
                    </a:p>
                  </a:txBody>
                  <a:tcPr marL="76200" marR="762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242B"/>
                    </a:solidFill>
                  </a:tcPr>
                </a:tc>
                <a:tc>
                  <a:txBody>
                    <a:bodyPr/>
                    <a:lstStyle/>
                    <a:p>
                      <a:pPr rtl="1" algn="r" indent="0" marL="0">
                        <a:buNone/>
                      </a:pPr>
                      <a:endParaRPr lang="en-US" sz="1100" dirty="0">
                        <a:latin typeface="Segoe UI" charset="0"/>
                        <a:ea typeface="Segoe UI" charset="0"/>
                        <a:cs typeface="Segoe UI" charset="0"/>
                      </a:endParaRPr>
                    </a:p>
                  </a:txBody>
                  <a:tcPr marL="76200" marR="762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242B"/>
                    </a:solidFill>
                  </a:tcPr>
                </a:tc>
              </a:tr>
              <a:tr h="498348">
                <a:tc>
                  <a:txBody>
                    <a:bodyPr/>
                    <a:lstStyle/>
                    <a:p>
                      <a:pPr rtl="1" algn="ctr" indent="0" marL="0">
                        <a:buNone/>
                      </a:pPr>
                      <a:r>
                        <a:rPr lang="ar-EG" sz="950" dirty="0">
                          <a:solidFill>
                            <a:srgbClr val="E8F1EE"/>
                          </a:solidFill>
                          <a:latin typeface="Segoe UI" pitchFamily="34" charset="0"/>
                          <a:ea typeface="Segoe UI" pitchFamily="34" charset="-122"/>
                          <a:cs typeface="Segoe UI" pitchFamily="34" charset="-120"/>
                        </a:rPr>
                        <a:t>مجاني الآن</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3026"/>
                    </a:solidFill>
                  </a:tcPr>
                </a:tc>
                <a:tc>
                  <a:txBody>
                    <a:bodyPr/>
                    <a:lstStyle/>
                    <a:p>
                      <a:pPr rtl="1" algn="ctr" indent="0" marL="0">
                        <a:buNone/>
                      </a:pPr>
                      <a:r>
                        <a:rPr lang="ar-EG" sz="1300" b="1" dirty="0">
                          <a:solidFill>
                            <a:srgbClr val="5EDCB0"/>
                          </a:solidFill>
                          <a:latin typeface="Segoe UI" pitchFamily="34" charset="0"/>
                          <a:ea typeface="Segoe UI" pitchFamily="34" charset="-122"/>
                          <a:cs typeface="Segoe UI" pitchFamily="34" charset="-120"/>
                        </a:rPr>
                        <a:t xml:space="preserve">✓ </a:t>
                      </a:r>
                      <a:pPr rtl="1" algn="ctr" indent="0" marL="0">
                        <a:buNone/>
                      </a:pPr>
                      <a:r>
                        <a:rPr lang="en-US" sz="950" dirty="0">
                          <a:solidFill>
                            <a:srgbClr val="E8F1EE"/>
                          </a:solidFill>
                          <a:latin typeface="Segoe UI" pitchFamily="34" charset="0"/>
                          <a:ea typeface="Segoe UI" pitchFamily="34" charset="-122"/>
                          <a:cs typeface="Segoe UI" pitchFamily="34" charset="-120"/>
                        </a:rPr>
                        <a:t>chips</a:t>
                      </a:r>
                      <a:pPr rtl="1" algn="ctr" indent="0" marL="0">
                        <a:buNone/>
                      </a:pPr>
                      <a:r>
                        <a:rPr lang="ar-EG" sz="950" dirty="0">
                          <a:solidFill>
                            <a:srgbClr val="E8F1EE"/>
                          </a:solidFill>
                          <a:latin typeface="Segoe UI" pitchFamily="34" charset="0"/>
                          <a:ea typeface="Segoe UI" pitchFamily="34" charset="-122"/>
                          <a:cs typeface="Segoe UI" pitchFamily="34" charset="-120"/>
                        </a:rPr>
                        <a:t xml:space="preserve"> بلينكات</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3026"/>
                    </a:solidFill>
                  </a:tcPr>
                </a:tc>
                <a:tc>
                  <a:txBody>
                    <a:bodyPr/>
                    <a:lstStyle/>
                    <a:p>
                      <a:pPr rtl="1" algn="ctr" indent="0" marL="0">
                        <a:buNone/>
                      </a:pPr>
                      <a:r>
                        <a:rPr lang="ar-EG" sz="1300" b="1" dirty="0">
                          <a:solidFill>
                            <a:srgbClr val="5EDCB0"/>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E8F1EE"/>
                          </a:solidFill>
                          <a:latin typeface="Segoe UI" pitchFamily="34" charset="0"/>
                          <a:ea typeface="Segoe UI" pitchFamily="34" charset="-122"/>
                          <a:cs typeface="Segoe UI" pitchFamily="34" charset="-120"/>
                        </a:rPr>
                        <a:t>عداد ← سرينة ← إبلاغ (محاكاة)</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3026"/>
                    </a:solidFill>
                  </a:tcPr>
                </a:tc>
                <a:tc>
                  <a:txBody>
                    <a:bodyPr/>
                    <a:lstStyle/>
                    <a:p>
                      <a:pPr rtl="1" algn="ctr" indent="0" marL="0">
                        <a:buNone/>
                      </a:pPr>
                      <a:r>
                        <a:rPr lang="ar-EG" sz="1300" b="1" dirty="0">
                          <a:solidFill>
                            <a:srgbClr val="5EDCB0"/>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E8F1EE"/>
                          </a:solidFill>
                          <a:latin typeface="Segoe UI" pitchFamily="34" charset="0"/>
                          <a:ea typeface="Segoe UI" pitchFamily="34" charset="-122"/>
                          <a:cs typeface="Segoe UI" pitchFamily="34" charset="-120"/>
                        </a:rPr>
                        <a:t>صوت + مكالمة حية</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3026"/>
                    </a:solidFill>
                  </a:tcPr>
                </a:tc>
                <a:tc>
                  <a:txBody>
                    <a:bodyPr/>
                    <a:lstStyle/>
                    <a:p>
                      <a:pPr rtl="1" algn="ctr" indent="0" marL="0">
                        <a:buNone/>
                      </a:pPr>
                      <a:r>
                        <a:rPr lang="ar-EG" sz="1300" b="1" dirty="0">
                          <a:solidFill>
                            <a:srgbClr val="5EDCB0"/>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E8F1EE"/>
                          </a:solidFill>
                          <a:latin typeface="Segoe UI" pitchFamily="34" charset="0"/>
                          <a:ea typeface="Segoe UI" pitchFamily="34" charset="-122"/>
                          <a:cs typeface="Segoe UI" pitchFamily="34" charset="-120"/>
                        </a:rPr>
                        <a:t>افتراضي</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3026"/>
                    </a:solidFill>
                  </a:tcPr>
                </a:tc>
                <a:tc>
                  <a:txBody>
                    <a:bodyPr/>
                    <a:lstStyle/>
                    <a:p>
                      <a:pPr algn="r" indent="0" marL="0">
                        <a:buNone/>
                      </a:pPr>
                      <a:r>
                        <a:rPr lang="en-US" sz="1150" b="1" dirty="0">
                          <a:solidFill>
                            <a:srgbClr val="5EDCB0"/>
                          </a:solidFill>
                          <a:latin typeface="Segoe UI" pitchFamily="34" charset="0"/>
                          <a:ea typeface="Segoe UI" pitchFamily="34" charset="-122"/>
                          <a:cs typeface="Segoe UI" pitchFamily="34" charset="-120"/>
                        </a:rPr>
                        <a:t>NajdaAI</a:t>
                      </a:r>
                      <a:endParaRPr lang="en-US" sz="1000" dirty="0">
                        <a:latin typeface="Segoe UI" charset="0"/>
                        <a:ea typeface="Segoe UI" charset="0"/>
                        <a:cs typeface="Segoe UI" charset="0"/>
                      </a:endParaRPr>
                    </a:p>
                  </a:txBody>
                  <a:tcPr marL="101600" marR="1016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13026"/>
                    </a:solidFill>
                  </a:tcPr>
                </a:tc>
              </a:tr>
              <a:tr h="498348">
                <a:tc>
                  <a:txBody>
                    <a:bodyPr/>
                    <a:lstStyle/>
                    <a:p>
                      <a:pPr rtl="1" algn="ctr" indent="0" marL="0">
                        <a:buNone/>
                      </a:pPr>
                      <a:r>
                        <a:rPr lang="ar-EG" sz="950" dirty="0">
                          <a:solidFill>
                            <a:srgbClr val="B9CBC6"/>
                          </a:solidFill>
                          <a:latin typeface="Segoe UI" pitchFamily="34" charset="0"/>
                          <a:ea typeface="Segoe UI" pitchFamily="34" charset="-122"/>
                          <a:cs typeface="Segoe UI" pitchFamily="34" charset="-120"/>
                        </a:rPr>
                        <a:t>مجاني</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BC85E"/>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 xml:space="preserve">«أدلة إكلينيكية» من غير </a:t>
                      </a:r>
                      <a:pPr rtl="1" algn="ctr" indent="0" marL="0">
                        <a:buNone/>
                      </a:pPr>
                      <a:r>
                        <a:rPr lang="en-US" sz="950" dirty="0">
                          <a:solidFill>
                            <a:srgbClr val="B9CBC6"/>
                          </a:solidFill>
                          <a:latin typeface="Segoe UI" pitchFamily="34" charset="0"/>
                          <a:ea typeface="Segoe UI" pitchFamily="34" charset="-122"/>
                          <a:cs typeface="Segoe UI" pitchFamily="34" charset="-120"/>
                        </a:rPr>
                        <a:t>chips</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مفيش عربي</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algn="r" indent="0" marL="0">
                        <a:buNone/>
                      </a:pPr>
                      <a:r>
                        <a:rPr lang="en-US" sz="1150" b="1" dirty="0">
                          <a:solidFill>
                            <a:srgbClr val="E8F1EE"/>
                          </a:solidFill>
                          <a:latin typeface="Segoe UI" pitchFamily="34" charset="0"/>
                          <a:ea typeface="Segoe UI" pitchFamily="34" charset="-122"/>
                          <a:cs typeface="Segoe UI" pitchFamily="34" charset="-120"/>
                        </a:rPr>
                        <a:t>Ada Health</a:t>
                      </a:r>
                      <a:endParaRPr lang="en-US" sz="1000" dirty="0">
                        <a:latin typeface="Segoe UI" charset="0"/>
                        <a:ea typeface="Segoe UI" charset="0"/>
                        <a:cs typeface="Segoe UI" charset="0"/>
                      </a:endParaRPr>
                    </a:p>
                  </a:txBody>
                  <a:tcPr marL="101600" marR="1016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r>
              <a:tr h="498348">
                <a:tc>
                  <a:txBody>
                    <a:bodyPr/>
                    <a:lstStyle/>
                    <a:p>
                      <a:pPr rtl="1" algn="ctr" indent="0" marL="0">
                        <a:buNone/>
                      </a:pPr>
                      <a:r>
                        <a:rPr lang="ar-EG" sz="950" dirty="0">
                          <a:solidFill>
                            <a:srgbClr val="B9CBC6"/>
                          </a:solidFill>
                          <a:latin typeface="Segoe UI" pitchFamily="34" charset="0"/>
                          <a:ea typeface="Segoe UI" pitchFamily="34" charset="-122"/>
                          <a:cs typeface="Segoe UI" pitchFamily="34" charset="-120"/>
                        </a:rPr>
                        <a:t>~$٤٩/شهر</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BC85E"/>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نصي + دكاترة</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algn="r" indent="0" marL="0">
                        <a:buNone/>
                      </a:pPr>
                      <a:r>
                        <a:rPr lang="en-US" sz="1150" b="1" dirty="0">
                          <a:solidFill>
                            <a:srgbClr val="E8F1EE"/>
                          </a:solidFill>
                          <a:latin typeface="Segoe UI" pitchFamily="34" charset="0"/>
                          <a:ea typeface="Segoe UI" pitchFamily="34" charset="-122"/>
                          <a:cs typeface="Segoe UI" pitchFamily="34" charset="-120"/>
                        </a:rPr>
                        <a:t>K Health</a:t>
                      </a:r>
                      <a:endParaRPr lang="en-US" sz="1000" dirty="0">
                        <a:latin typeface="Segoe UI" charset="0"/>
                        <a:ea typeface="Segoe UI" charset="0"/>
                        <a:cs typeface="Segoe UI" charset="0"/>
                      </a:endParaRPr>
                    </a:p>
                  </a:txBody>
                  <a:tcPr marL="101600" marR="1016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r>
              <a:tr h="498348">
                <a:tc>
                  <a:txBody>
                    <a:bodyPr/>
                    <a:lstStyle/>
                    <a:p>
                      <a:pPr rtl="1" algn="ctr" indent="0" marL="0">
                        <a:buNone/>
                      </a:pPr>
                      <a:r>
                        <a:rPr lang="ar-EG" sz="950" dirty="0">
                          <a:solidFill>
                            <a:srgbClr val="B9CBC6"/>
                          </a:solidFill>
                          <a:latin typeface="Segoe UI" pitchFamily="34" charset="0"/>
                          <a:ea typeface="Segoe UI" pitchFamily="34" charset="-122"/>
                          <a:cs typeface="Segoe UI" pitchFamily="34" charset="-120"/>
                        </a:rPr>
                        <a:t>حسب المتاح المعلن</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BC85E"/>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محتوى مراجَع إكلينيكيًا</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algn="r" indent="0" marL="0">
                        <a:buNone/>
                      </a:pPr>
                      <a:r>
                        <a:rPr lang="en-US" sz="1150" b="1" dirty="0">
                          <a:solidFill>
                            <a:srgbClr val="E8F1EE"/>
                          </a:solidFill>
                          <a:latin typeface="Segoe UI" pitchFamily="34" charset="0"/>
                          <a:ea typeface="Segoe UI" pitchFamily="34" charset="-122"/>
                          <a:cs typeface="Segoe UI" pitchFamily="34" charset="-120"/>
                        </a:rPr>
                        <a:t>Buoy Health</a:t>
                      </a:r>
                      <a:endParaRPr lang="en-US" sz="1000" dirty="0">
                        <a:latin typeface="Segoe UI" charset="0"/>
                        <a:ea typeface="Segoe UI" charset="0"/>
                        <a:cs typeface="Segoe UI" charset="0"/>
                      </a:endParaRPr>
                    </a:p>
                  </a:txBody>
                  <a:tcPr marL="101600" marR="1016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r>
              <a:tr h="498348">
                <a:tc>
                  <a:txBody>
                    <a:bodyPr/>
                    <a:lstStyle/>
                    <a:p>
                      <a:pPr rtl="1" algn="ctr" indent="0" marL="0">
                        <a:buNone/>
                      </a:pPr>
                      <a:r>
                        <a:rPr lang="ar-EG" sz="950" dirty="0">
                          <a:solidFill>
                            <a:srgbClr val="B9CBC6"/>
                          </a:solidFill>
                          <a:latin typeface="Segoe UI" pitchFamily="34" charset="0"/>
                          <a:ea typeface="Segoe UI" pitchFamily="34" charset="-122"/>
                          <a:cs typeface="Segoe UI" pitchFamily="34" charset="-120"/>
                        </a:rPr>
                        <a:t>مجاني</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algn="r" indent="0" marL="0">
                        <a:buNone/>
                      </a:pPr>
                      <a:r>
                        <a:rPr lang="en-US" sz="1150" b="1" dirty="0">
                          <a:solidFill>
                            <a:srgbClr val="E8F1EE"/>
                          </a:solidFill>
                          <a:latin typeface="Segoe UI" pitchFamily="34" charset="0"/>
                          <a:ea typeface="Segoe UI" pitchFamily="34" charset="-122"/>
                          <a:cs typeface="Segoe UI" pitchFamily="34" charset="-120"/>
                        </a:rPr>
                        <a:t>WebMD Checker</a:t>
                      </a:r>
                      <a:endParaRPr lang="en-US" sz="1000" dirty="0">
                        <a:latin typeface="Segoe UI" charset="0"/>
                        <a:ea typeface="Segoe UI" charset="0"/>
                        <a:cs typeface="Segoe UI" charset="0"/>
                      </a:endParaRPr>
                    </a:p>
                  </a:txBody>
                  <a:tcPr marL="101600" marR="1016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r>
              <a:tr h="498348">
                <a:tc>
                  <a:txBody>
                    <a:bodyPr/>
                    <a:lstStyle/>
                    <a:p>
                      <a:pPr rtl="1" algn="ctr" indent="0" marL="0">
                        <a:buNone/>
                      </a:pPr>
                      <a:r>
                        <a:rPr lang="ar-EG" sz="950" dirty="0">
                          <a:solidFill>
                            <a:srgbClr val="B9CBC6"/>
                          </a:solidFill>
                          <a:latin typeface="Segoe UI" pitchFamily="34" charset="0"/>
                          <a:ea typeface="Segoe UI" pitchFamily="34" charset="-122"/>
                          <a:cs typeface="Segoe UI" pitchFamily="34" charset="-120"/>
                        </a:rPr>
                        <a:t>اشتراك (حسب السوق)</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BC85E"/>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 xml:space="preserve">محتوى </a:t>
                      </a:r>
                      <a:pPr rtl="1" algn="ctr" indent="0" marL="0">
                        <a:buNone/>
                      </a:pPr>
                      <a:r>
                        <a:rPr lang="en-US" sz="950" dirty="0">
                          <a:solidFill>
                            <a:srgbClr val="B9CBC6"/>
                          </a:solidFill>
                          <a:latin typeface="Segoe UI" pitchFamily="34" charset="0"/>
                          <a:ea typeface="Segoe UI" pitchFamily="34" charset="-122"/>
                          <a:cs typeface="Segoe UI" pitchFamily="34" charset="-120"/>
                        </a:rPr>
                        <a:t>Altibbi</a:t>
                      </a:r>
                      <a:pPr rtl="1" algn="ctr" indent="0" marL="0">
                        <a:buNone/>
                      </a:pPr>
                      <a:r>
                        <a:rPr lang="ar-EG" sz="950" dirty="0">
                          <a:solidFill>
                            <a:srgbClr val="B9CBC6"/>
                          </a:solidFill>
                          <a:latin typeface="Segoe UI" pitchFamily="34" charset="0"/>
                          <a:ea typeface="Segoe UI" pitchFamily="34" charset="-122"/>
                          <a:cs typeface="Segoe UI" pitchFamily="34" charset="-120"/>
                        </a:rPr>
                        <a:t xml:space="preserve"> الخاص</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5EDCB0"/>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مكالمة مع دكتور</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BC85E"/>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عربي مع لهجات</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algn="r" indent="0" marL="0">
                        <a:buNone/>
                      </a:pPr>
                      <a:r>
                        <a:rPr lang="en-US" sz="1150" b="1" dirty="0">
                          <a:solidFill>
                            <a:srgbClr val="E8F1EE"/>
                          </a:solidFill>
                          <a:latin typeface="Segoe UI" pitchFamily="34" charset="0"/>
                          <a:ea typeface="Segoe UI" pitchFamily="34" charset="-122"/>
                          <a:cs typeface="Segoe UI" pitchFamily="34" charset="-120"/>
                        </a:rPr>
                        <a:t>Altibbi / SINA</a:t>
                      </a:r>
                      <a:endParaRPr lang="en-US" sz="1000" dirty="0">
                        <a:latin typeface="Segoe UI" charset="0"/>
                        <a:ea typeface="Segoe UI" charset="0"/>
                        <a:cs typeface="Segoe UI" charset="0"/>
                      </a:endParaRPr>
                    </a:p>
                  </a:txBody>
                  <a:tcPr marL="101600" marR="1016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r>
              <a:tr h="498348">
                <a:tc>
                  <a:txBody>
                    <a:bodyPr/>
                    <a:lstStyle/>
                    <a:p>
                      <a:pPr rtl="1" algn="ctr" indent="0" marL="0">
                        <a:buNone/>
                      </a:pPr>
                      <a:r>
                        <a:rPr lang="ar-EG" sz="950" dirty="0">
                          <a:solidFill>
                            <a:srgbClr val="B9CBC6"/>
                          </a:solidFill>
                          <a:latin typeface="Segoe UI" pitchFamily="34" charset="0"/>
                          <a:ea typeface="Segoe UI" pitchFamily="34" charset="-122"/>
                          <a:cs typeface="Segoe UI" pitchFamily="34" charset="-120"/>
                        </a:rPr>
                        <a:t>لكل استشارة</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مش أداة فرز</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79191"/>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5EDCB0"/>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مكالمة مع دكتور</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rtl="1" algn="ctr" indent="0" marL="0">
                        <a:buNone/>
                      </a:pPr>
                      <a:r>
                        <a:rPr lang="ar-EG" sz="1300" b="1" dirty="0">
                          <a:solidFill>
                            <a:srgbClr val="FBC85E"/>
                          </a:solidFill>
                          <a:latin typeface="Segoe UI" pitchFamily="34" charset="0"/>
                          <a:ea typeface="Segoe UI" pitchFamily="34" charset="-122"/>
                          <a:cs typeface="Segoe UI" pitchFamily="34" charset="-120"/>
                        </a:rPr>
                        <a:t xml:space="preserve">⚠ </a:t>
                      </a:r>
                      <a:pPr rtl="1" algn="ctr" indent="0" marL="0">
                        <a:buNone/>
                      </a:pPr>
                      <a:r>
                        <a:rPr lang="ar-EG" sz="950" dirty="0">
                          <a:solidFill>
                            <a:srgbClr val="B9CBC6"/>
                          </a:solidFill>
                          <a:latin typeface="Segoe UI" pitchFamily="34" charset="0"/>
                          <a:ea typeface="Segoe UI" pitchFamily="34" charset="-122"/>
                          <a:cs typeface="Segoe UI" pitchFamily="34" charset="-120"/>
                        </a:rPr>
                        <a:t>واجهة عربي</a:t>
                      </a:r>
                      <a:endParaRPr lang="en-US" sz="1000" dirty="0">
                        <a:latin typeface="Segoe UI" charset="0"/>
                        <a:ea typeface="Segoe UI" charset="0"/>
                        <a:cs typeface="Segoe UI" charset="0"/>
                      </a:endParaRPr>
                    </a:p>
                  </a:txBody>
                  <a:tcPr marL="63500" marR="635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c>
                  <a:txBody>
                    <a:bodyPr/>
                    <a:lstStyle/>
                    <a:p>
                      <a:pPr algn="r" indent="0" marL="0">
                        <a:buNone/>
                      </a:pPr>
                      <a:r>
                        <a:rPr lang="en-US" sz="1150" b="1" dirty="0">
                          <a:solidFill>
                            <a:srgbClr val="E8F1EE"/>
                          </a:solidFill>
                          <a:latin typeface="Segoe UI" pitchFamily="34" charset="0"/>
                          <a:ea typeface="Segoe UI" pitchFamily="34" charset="-122"/>
                          <a:cs typeface="Segoe UI" pitchFamily="34" charset="-120"/>
                        </a:rPr>
                        <a:t>Vezeeta</a:t>
                      </a:r>
                      <a:endParaRPr lang="en-US" sz="1000" dirty="0">
                        <a:latin typeface="Segoe UI" charset="0"/>
                        <a:ea typeface="Segoe UI" charset="0"/>
                        <a:cs typeface="Segoe UI" charset="0"/>
                      </a:endParaRPr>
                    </a:p>
                  </a:txBody>
                  <a:tcPr marL="101600" marR="101600" marT="25400" marB="25400" anchor="ctr">
                    <a:lnL w="12700" cap="flat" cmpd="sng" algn="ctr">
                      <a:solidFill>
                        <a:srgbClr val="243A42"/>
                      </a:solidFill>
                      <a:prstDash val="solid"/>
                      <a:round/>
                      <a:headEnd type="none" w="med" len="med"/>
                      <a:tailEnd type="none" w="med" len="med"/>
                    </a:lnL>
                    <a:lnR w="12700" cap="flat" cmpd="sng" algn="ctr">
                      <a:solidFill>
                        <a:srgbClr val="243A42"/>
                      </a:solidFill>
                      <a:prstDash val="solid"/>
                      <a:round/>
                      <a:headEnd type="none" w="med" len="med"/>
                      <a:tailEnd type="none" w="med" len="med"/>
                    </a:lnR>
                    <a:lnT w="12700" cap="flat" cmpd="sng" algn="ctr">
                      <a:solidFill>
                        <a:srgbClr val="243A42"/>
                      </a:solidFill>
                      <a:prstDash val="solid"/>
                      <a:round/>
                      <a:headEnd type="none" w="med" len="med"/>
                      <a:tailEnd type="none" w="med" len="med"/>
                    </a:lnT>
                    <a:lnB w="12700" cap="flat" cmpd="sng" algn="ctr">
                      <a:solidFill>
                        <a:srgbClr val="243A42"/>
                      </a:solidFill>
                      <a:prstDash val="solid"/>
                      <a:round/>
                      <a:headEnd type="none" w="med" len="med"/>
                      <a:tailEnd type="none" w="med" len="med"/>
                    </a:lnB>
                    <a:solidFill>
                      <a:srgbClr val="13242A"/>
                    </a:solidFill>
                  </a:tcPr>
                </a:tc>
              </a:tr>
            </a:tbl>
          </a:graphicData>
        </a:graphic>
      </p:graphicFrame>
      <p:sp>
        <p:nvSpPr>
          <p:cNvPr id="6" name="Text 3"/>
          <p:cNvSpPr txBox="1"/>
          <p:nvPr/>
        </p:nvSpPr>
        <p:spPr>
          <a:xfrm>
            <a:off x="2304288" y="5724144"/>
            <a:ext cx="9320479" cy="822960"/>
          </a:xfrm>
          <a:prstGeom prst="rect">
            <a:avLst/>
          </a:prstGeom>
          <a:noFill/>
          <a:ln/>
        </p:spPr>
        <p:txBody>
          <a:bodyPr wrap="square" lIns="0" tIns="0" rIns="0" bIns="0" rtlCol="0" anchor="t"/>
          <a:lstStyle/>
          <a:p>
            <a:pPr rtl="1" algn="r" indent="0" marL="0">
              <a:lnSpc>
                <a:spcPct val="120000"/>
              </a:lnSpc>
              <a:buNone/>
            </a:pPr>
            <a:r>
              <a:rPr lang="ar-EG" sz="900" dirty="0">
                <a:solidFill>
                  <a:srgbClr val="8AA29D"/>
                </a:solidFill>
                <a:latin typeface="Segoe UI" pitchFamily="34" charset="0"/>
                <a:ea typeface="Segoe UI" pitchFamily="34" charset="-122"/>
                <a:cs typeface="Segoe UI" pitchFamily="34" charset="-120"/>
              </a:rPr>
              <a:t xml:space="preserve">كل الخانات مبنية على </a:t>
            </a:r>
            <a:pPr rtl="1" algn="r" indent="0" marL="0">
              <a:lnSpc>
                <a:spcPct val="120000"/>
              </a:lnSpc>
              <a:buNone/>
            </a:pPr>
            <a:r>
              <a:rPr lang="ar-EG" sz="900" b="1" dirty="0">
                <a:solidFill>
                  <a:srgbClr val="B9CBC6"/>
                </a:solidFill>
                <a:latin typeface="Segoe UI" pitchFamily="34" charset="0"/>
                <a:ea typeface="Segoe UI" pitchFamily="34" charset="-122"/>
                <a:cs typeface="Segoe UI" pitchFamily="34" charset="-120"/>
              </a:rPr>
              <a:t>المعلن على مواقع الشركات وقت الكتابة (أغسطس ٢٠٢٦)</a:t>
            </a:r>
            <a:pPr rtl="1" algn="r" indent="0" marL="0">
              <a:lnSpc>
                <a:spcPct val="120000"/>
              </a:lnSpc>
              <a:buNone/>
            </a:pPr>
            <a:r>
              <a:rPr lang="ar-EG" sz="900" dirty="0">
                <a:solidFill>
                  <a:srgbClr val="8AA29D"/>
                </a:solidFill>
                <a:latin typeface="Segoe UI" pitchFamily="34" charset="0"/>
                <a:ea typeface="Segoe UI" pitchFamily="34" charset="-122"/>
                <a:cs typeface="Segoe UI" pitchFamily="34" charset="-120"/>
              </a:rPr>
              <a:t xml:space="preserve"> — مش على اختبار داخلي. أي خانة بعلامة </a:t>
            </a:r>
            <a:pPr rtl="1" algn="r" indent="0" marL="0">
              <a:lnSpc>
                <a:spcPct val="120000"/>
              </a:lnSpc>
              <a:buNone/>
            </a:pPr>
            <a:r>
              <a:rPr lang="ar-EG" sz="900" b="1" dirty="0">
                <a:solidFill>
                  <a:srgbClr val="B9CBC6"/>
                </a:solidFill>
                <a:latin typeface="Segoe UI" pitchFamily="34" charset="0"/>
                <a:ea typeface="Segoe UI" pitchFamily="34" charset="-122"/>
                <a:cs typeface="Segoe UI" pitchFamily="34" charset="-120"/>
              </a:rPr>
              <a:t>⚠</a:t>
            </a:r>
            <a:pPr rtl="1" algn="r" indent="0" marL="0">
              <a:lnSpc>
                <a:spcPct val="120000"/>
              </a:lnSpc>
              <a:buNone/>
            </a:pPr>
            <a:r>
              <a:rPr lang="ar-EG" sz="900" dirty="0">
                <a:solidFill>
                  <a:srgbClr val="8AA29D"/>
                </a:solidFill>
                <a:latin typeface="Segoe UI" pitchFamily="34" charset="0"/>
                <a:ea typeface="Segoe UI" pitchFamily="34" charset="-122"/>
                <a:cs typeface="Segoe UI" pitchFamily="34" charset="-120"/>
              </a:rPr>
              <a:t xml:space="preserve"> معناها «حسب المتاح المعلن». تسعير </a:t>
            </a:r>
            <a:pPr rtl="1" algn="r" indent="0" marL="0">
              <a:lnSpc>
                <a:spcPct val="120000"/>
              </a:lnSpc>
              <a:buNone/>
            </a:pPr>
            <a:r>
              <a:rPr lang="en-US" sz="900" dirty="0">
                <a:solidFill>
                  <a:srgbClr val="8AA29D"/>
                </a:solidFill>
                <a:latin typeface="Segoe UI" pitchFamily="34" charset="0"/>
                <a:ea typeface="Segoe UI" pitchFamily="34" charset="-122"/>
                <a:cs typeface="Segoe UI" pitchFamily="34" charset="-120"/>
              </a:rPr>
              <a:t>Altibbi</a:t>
            </a:r>
            <a:pPr rtl="1" algn="r" indent="0" marL="0">
              <a:lnSpc>
                <a:spcPct val="120000"/>
              </a:lnSpc>
              <a:buNone/>
            </a:pPr>
            <a:r>
              <a:rPr lang="ar-EG" sz="900" dirty="0">
                <a:solidFill>
                  <a:srgbClr val="8AA29D"/>
                </a:solidFill>
                <a:latin typeface="Segoe UI" pitchFamily="34" charset="0"/>
                <a:ea typeface="Segoe UI" pitchFamily="34" charset="-122"/>
                <a:cs typeface="Segoe UI" pitchFamily="34" charset="-120"/>
              </a:rPr>
              <a:t xml:space="preserve"> و</a:t>
            </a:r>
            <a:pPr rtl="1" algn="r" indent="0" marL="0">
              <a:lnSpc>
                <a:spcPct val="120000"/>
              </a:lnSpc>
              <a:buNone/>
            </a:pPr>
            <a:r>
              <a:rPr lang="en-US" sz="900" dirty="0">
                <a:solidFill>
                  <a:srgbClr val="8AA29D"/>
                </a:solidFill>
                <a:latin typeface="Segoe UI" pitchFamily="34" charset="0"/>
                <a:ea typeface="Segoe UI" pitchFamily="34" charset="-122"/>
                <a:cs typeface="Segoe UI" pitchFamily="34" charset="-120"/>
              </a:rPr>
              <a:t>Vezeeta</a:t>
            </a:r>
            <a:pPr rtl="1" algn="r" indent="0" marL="0">
              <a:lnSpc>
                <a:spcPct val="120000"/>
              </a:lnSpc>
              <a:buNone/>
            </a:pPr>
            <a:r>
              <a:rPr lang="ar-EG" sz="900" dirty="0">
                <a:solidFill>
                  <a:srgbClr val="8AA29D"/>
                </a:solidFill>
                <a:latin typeface="Segoe UI" pitchFamily="34" charset="0"/>
                <a:ea typeface="Segoe UI" pitchFamily="34" charset="-122"/>
                <a:cs typeface="Segoe UI" pitchFamily="34" charset="-120"/>
              </a:rPr>
              <a:t xml:space="preserve"> بيختلف من سوق لسوق — مذكور كنموذج مش كرقم. </a:t>
            </a:r>
            <a:pPr rtl="1" algn="r" indent="0" marL="0">
              <a:lnSpc>
                <a:spcPct val="120000"/>
              </a:lnSpc>
              <a:buNone/>
            </a:pPr>
            <a:r>
              <a:rPr lang="en-US" sz="900" dirty="0">
                <a:solidFill>
                  <a:srgbClr val="8AA29D"/>
                </a:solidFill>
                <a:latin typeface="Segoe UI" pitchFamily="34" charset="0"/>
                <a:ea typeface="Segoe UI" pitchFamily="34" charset="-122"/>
                <a:cs typeface="Segoe UI" pitchFamily="34" charset="-120"/>
              </a:rPr>
              <a:t>K Health</a:t>
            </a:r>
            <a:pPr rtl="1" algn="r" indent="0" marL="0">
              <a:lnSpc>
                <a:spcPct val="120000"/>
              </a:lnSpc>
              <a:buNone/>
            </a:pPr>
            <a:r>
              <a:rPr lang="ar-EG" sz="900" dirty="0">
                <a:solidFill>
                  <a:srgbClr val="8AA29D"/>
                </a:solidFill>
                <a:latin typeface="Segoe UI" pitchFamily="34" charset="0"/>
                <a:ea typeface="Segoe UI" pitchFamily="34" charset="-122"/>
                <a:cs typeface="Segoe UI" pitchFamily="34" charset="-120"/>
              </a:rPr>
              <a:t xml:space="preserve"> و</a:t>
            </a:r>
            <a:pPr rtl="1" algn="r" indent="0" marL="0">
              <a:lnSpc>
                <a:spcPct val="120000"/>
              </a:lnSpc>
              <a:buNone/>
            </a:pPr>
            <a:r>
              <a:rPr lang="en-US" sz="900" dirty="0">
                <a:solidFill>
                  <a:srgbClr val="8AA29D"/>
                </a:solidFill>
                <a:latin typeface="Segoe UI" pitchFamily="34" charset="0"/>
                <a:ea typeface="Segoe UI" pitchFamily="34" charset="-122"/>
                <a:cs typeface="Segoe UI" pitchFamily="34" charset="-120"/>
              </a:rPr>
              <a:t>Buoy</a:t>
            </a:r>
            <a:pPr rtl="1" algn="r" indent="0" marL="0">
              <a:lnSpc>
                <a:spcPct val="120000"/>
              </a:lnSpc>
              <a:buNone/>
            </a:pPr>
            <a:r>
              <a:rPr lang="ar-EG" sz="900" dirty="0">
                <a:solidFill>
                  <a:srgbClr val="8AA29D"/>
                </a:solidFill>
                <a:latin typeface="Segoe UI" pitchFamily="34" charset="0"/>
                <a:ea typeface="Segoe UI" pitchFamily="34" charset="-122"/>
                <a:cs typeface="Segoe UI" pitchFamily="34" charset="-120"/>
              </a:rPr>
              <a:t xml:space="preserve"> أمريكيين، فالمقارنة معاهم </a:t>
            </a:r>
            <a:pPr rtl="1" algn="r" indent="0" marL="0">
              <a:lnSpc>
                <a:spcPct val="120000"/>
              </a:lnSpc>
              <a:buNone/>
            </a:pPr>
            <a:r>
              <a:rPr lang="ar-EG" sz="900" b="1" dirty="0">
                <a:solidFill>
                  <a:srgbClr val="B9CBC6"/>
                </a:solidFill>
                <a:latin typeface="Segoe UI" pitchFamily="34" charset="0"/>
                <a:ea typeface="Segoe UI" pitchFamily="34" charset="-122"/>
                <a:cs typeface="Segoe UI" pitchFamily="34" charset="-120"/>
              </a:rPr>
              <a:t>معمارية مش سوقية</a:t>
            </a:r>
            <a:pPr rtl="1" algn="r" indent="0" marL="0">
              <a:lnSpc>
                <a:spcPct val="120000"/>
              </a:lnSpc>
              <a:buNone/>
            </a:pPr>
            <a:r>
              <a:rPr lang="ar-EG" sz="900" dirty="0">
                <a:solidFill>
                  <a:srgbClr val="8AA29D"/>
                </a:solidFill>
                <a:latin typeface="Segoe UI" pitchFamily="34" charset="0"/>
                <a:ea typeface="Segoe UI" pitchFamily="34" charset="-122"/>
                <a:cs typeface="Segoe UI" pitchFamily="34" charset="-120"/>
              </a:rPr>
              <a: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السوق</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التمايز — فين إحنا مختلفين فعلًا</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١٣ / ١٨</a:t>
            </a:r>
            <a:endParaRPr lang="en-US" sz="950" dirty="0"/>
          </a:p>
        </p:txBody>
      </p:sp>
      <p:sp>
        <p:nvSpPr>
          <p:cNvPr id="5" name="Shape 3"/>
          <p:cNvSpPr/>
          <p:nvPr/>
        </p:nvSpPr>
        <p:spPr>
          <a:xfrm>
            <a:off x="566928" y="1536192"/>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6" name="Text 4"/>
          <p:cNvSpPr/>
          <p:nvPr/>
        </p:nvSpPr>
        <p:spPr>
          <a:xfrm>
            <a:off x="10966399" y="1640586"/>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300" b="1" dirty="0">
                <a:solidFill>
                  <a:srgbClr val="06181A"/>
                </a:solidFill>
                <a:latin typeface="Segoe UI" pitchFamily="34" charset="0"/>
                <a:ea typeface="Segoe UI" pitchFamily="34" charset="-122"/>
                <a:cs typeface="Segoe UI" pitchFamily="34" charset="-120"/>
              </a:rPr>
              <a:t>١</a:t>
            </a:r>
            <a:endParaRPr lang="en-US" sz="1300" dirty="0"/>
          </a:p>
        </p:txBody>
      </p:sp>
      <p:sp>
        <p:nvSpPr>
          <p:cNvPr id="7" name="Text 5"/>
          <p:cNvSpPr txBox="1"/>
          <p:nvPr/>
        </p:nvSpPr>
        <p:spPr>
          <a:xfrm>
            <a:off x="8607247" y="1536192"/>
            <a:ext cx="22128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5EDCB0"/>
                </a:solidFill>
                <a:latin typeface="Segoe UI" pitchFamily="34" charset="0"/>
                <a:ea typeface="Segoe UI" pitchFamily="34" charset="-122"/>
                <a:cs typeface="Segoe UI" pitchFamily="34" charset="-120"/>
              </a:rPr>
              <a:t>محور ١ — الطوارئ أولًا</a:t>
            </a:r>
            <a:endParaRPr lang="en-US" sz="1350" dirty="0"/>
          </a:p>
        </p:txBody>
      </p:sp>
      <p:sp>
        <p:nvSpPr>
          <p:cNvPr id="8" name="Text 6"/>
          <p:cNvSpPr txBox="1"/>
          <p:nvPr/>
        </p:nvSpPr>
        <p:spPr>
          <a:xfrm>
            <a:off x="841248" y="1536192"/>
            <a:ext cx="77659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كل التطبيقات بتنتهي بـ«روح لدكتور» — إحنا </a:t>
            </a:r>
            <a:pPr rtl="1" algn="r" indent="0" marL="0">
              <a:lnSpc>
                <a:spcPct val="110000"/>
              </a:lnSpc>
              <a:buNone/>
            </a:pPr>
            <a:r>
              <a:rPr lang="ar-EG" sz="1300" b="1" dirty="0">
                <a:solidFill>
                  <a:srgbClr val="FFFFFF"/>
                </a:solidFill>
                <a:latin typeface="Segoe UI" pitchFamily="34" charset="0"/>
                <a:ea typeface="Segoe UI" pitchFamily="34" charset="-122"/>
                <a:cs typeface="Segoe UI" pitchFamily="34" charset="-120"/>
              </a:rPr>
              <a:t>بنبدأ عداد</a:t>
            </a:r>
            <a:endParaRPr lang="en-US" sz="1300" dirty="0"/>
          </a:p>
        </p:txBody>
      </p:sp>
      <p:sp>
        <p:nvSpPr>
          <p:cNvPr id="9" name="Shape 7"/>
          <p:cNvSpPr/>
          <p:nvPr/>
        </p:nvSpPr>
        <p:spPr>
          <a:xfrm>
            <a:off x="566928" y="2302764"/>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0" name="Text 8"/>
          <p:cNvSpPr/>
          <p:nvPr/>
        </p:nvSpPr>
        <p:spPr>
          <a:xfrm>
            <a:off x="10966399" y="2407158"/>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300" b="1" dirty="0">
                <a:solidFill>
                  <a:srgbClr val="06181A"/>
                </a:solidFill>
                <a:latin typeface="Segoe UI" pitchFamily="34" charset="0"/>
                <a:ea typeface="Segoe UI" pitchFamily="34" charset="-122"/>
                <a:cs typeface="Segoe UI" pitchFamily="34" charset="-120"/>
              </a:rPr>
              <a:t>٢</a:t>
            </a:r>
            <a:endParaRPr lang="en-US" sz="1300" dirty="0"/>
          </a:p>
        </p:txBody>
      </p:sp>
      <p:sp>
        <p:nvSpPr>
          <p:cNvPr id="11" name="Text 9"/>
          <p:cNvSpPr txBox="1"/>
          <p:nvPr/>
        </p:nvSpPr>
        <p:spPr>
          <a:xfrm>
            <a:off x="8607247" y="2302764"/>
            <a:ext cx="22128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5EDCB0"/>
                </a:solidFill>
                <a:latin typeface="Segoe UI" pitchFamily="34" charset="0"/>
                <a:ea typeface="Segoe UI" pitchFamily="34" charset="-122"/>
                <a:cs typeface="Segoe UI" pitchFamily="34" charset="-120"/>
              </a:rPr>
              <a:t>محور ٢ — اللهجة</a:t>
            </a:r>
            <a:endParaRPr lang="en-US" sz="1350" dirty="0"/>
          </a:p>
        </p:txBody>
      </p:sp>
      <p:sp>
        <p:nvSpPr>
          <p:cNvPr id="12" name="Text 10"/>
          <p:cNvSpPr txBox="1"/>
          <p:nvPr/>
        </p:nvSpPr>
        <p:spPr>
          <a:xfrm>
            <a:off x="841248" y="2302764"/>
            <a:ext cx="77659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المستخدم بيكتب «بقى تقيل» و«عرقان برد» — النظام </a:t>
            </a:r>
            <a:pPr rtl="1" algn="r" indent="0" marL="0">
              <a:lnSpc>
                <a:spcPct val="110000"/>
              </a:lnSpc>
              <a:buNone/>
            </a:pPr>
            <a:r>
              <a:rPr lang="ar-EG" sz="1300" b="1" dirty="0">
                <a:solidFill>
                  <a:srgbClr val="FFFFFF"/>
                </a:solidFill>
                <a:latin typeface="Segoe UI" pitchFamily="34" charset="0"/>
                <a:ea typeface="Segoe UI" pitchFamily="34" charset="-122"/>
                <a:cs typeface="Segoe UI" pitchFamily="34" charset="-120"/>
              </a:rPr>
              <a:t>فاهمها من غير ترجمة</a:t>
            </a:r>
            <a:endParaRPr lang="en-US" sz="1300" dirty="0"/>
          </a:p>
        </p:txBody>
      </p:sp>
      <p:sp>
        <p:nvSpPr>
          <p:cNvPr id="13" name="Shape 11"/>
          <p:cNvSpPr/>
          <p:nvPr/>
        </p:nvSpPr>
        <p:spPr>
          <a:xfrm>
            <a:off x="566928" y="3069336"/>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4" name="Text 12"/>
          <p:cNvSpPr/>
          <p:nvPr/>
        </p:nvSpPr>
        <p:spPr>
          <a:xfrm>
            <a:off x="10966399" y="3173730"/>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300" b="1" dirty="0">
                <a:solidFill>
                  <a:srgbClr val="06181A"/>
                </a:solidFill>
                <a:latin typeface="Segoe UI" pitchFamily="34" charset="0"/>
                <a:ea typeface="Segoe UI" pitchFamily="34" charset="-122"/>
                <a:cs typeface="Segoe UI" pitchFamily="34" charset="-120"/>
              </a:rPr>
              <a:t>٣</a:t>
            </a:r>
            <a:endParaRPr lang="en-US" sz="1300" dirty="0"/>
          </a:p>
        </p:txBody>
      </p:sp>
      <p:sp>
        <p:nvSpPr>
          <p:cNvPr id="15" name="Text 13"/>
          <p:cNvSpPr txBox="1"/>
          <p:nvPr/>
        </p:nvSpPr>
        <p:spPr>
          <a:xfrm>
            <a:off x="8607247" y="3069336"/>
            <a:ext cx="22128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5EDCB0"/>
                </a:solidFill>
                <a:latin typeface="Segoe UI" pitchFamily="34" charset="0"/>
                <a:ea typeface="Segoe UI" pitchFamily="34" charset="-122"/>
                <a:cs typeface="Segoe UI" pitchFamily="34" charset="-120"/>
              </a:rPr>
              <a:t>محور ٣ — الصوت</a:t>
            </a:r>
            <a:endParaRPr lang="en-US" sz="1350" dirty="0"/>
          </a:p>
        </p:txBody>
      </p:sp>
      <p:sp>
        <p:nvSpPr>
          <p:cNvPr id="16" name="Text 14"/>
          <p:cNvSpPr txBox="1"/>
          <p:nvPr/>
        </p:nvSpPr>
        <p:spPr>
          <a:xfrm>
            <a:off x="841248" y="3069336"/>
            <a:ext cx="77659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واحد بيتخض أو إيده مخدرة </a:t>
            </a:r>
            <a:pPr rtl="1" algn="r" indent="0" marL="0">
              <a:lnSpc>
                <a:spcPct val="110000"/>
              </a:lnSpc>
              <a:buNone/>
            </a:pPr>
            <a:r>
              <a:rPr lang="ar-EG" sz="1300" b="1" dirty="0">
                <a:solidFill>
                  <a:srgbClr val="FFFFFF"/>
                </a:solidFill>
                <a:latin typeface="Segoe UI" pitchFamily="34" charset="0"/>
                <a:ea typeface="Segoe UI" pitchFamily="34" charset="-122"/>
                <a:cs typeface="Segoe UI" pitchFamily="34" charset="-120"/>
              </a:rPr>
              <a:t>مش هيكتب</a:t>
            </a:r>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 — يقدر يتكلم أو يعمل مكالمة</a:t>
            </a:r>
            <a:endParaRPr lang="en-US" sz="1300" dirty="0"/>
          </a:p>
        </p:txBody>
      </p:sp>
      <p:sp>
        <p:nvSpPr>
          <p:cNvPr id="17" name="Shape 15"/>
          <p:cNvSpPr/>
          <p:nvPr/>
        </p:nvSpPr>
        <p:spPr>
          <a:xfrm>
            <a:off x="566928" y="3835908"/>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8" name="Text 16"/>
          <p:cNvSpPr/>
          <p:nvPr/>
        </p:nvSpPr>
        <p:spPr>
          <a:xfrm>
            <a:off x="10966399" y="3940302"/>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300" b="1" dirty="0">
                <a:solidFill>
                  <a:srgbClr val="06181A"/>
                </a:solidFill>
                <a:latin typeface="Segoe UI" pitchFamily="34" charset="0"/>
                <a:ea typeface="Segoe UI" pitchFamily="34" charset="-122"/>
                <a:cs typeface="Segoe UI" pitchFamily="34" charset="-120"/>
              </a:rPr>
              <a:t>٤</a:t>
            </a:r>
            <a:endParaRPr lang="en-US" sz="1300" dirty="0"/>
          </a:p>
        </p:txBody>
      </p:sp>
      <p:sp>
        <p:nvSpPr>
          <p:cNvPr id="19" name="Text 17"/>
          <p:cNvSpPr txBox="1"/>
          <p:nvPr/>
        </p:nvSpPr>
        <p:spPr>
          <a:xfrm>
            <a:off x="8607247" y="3835908"/>
            <a:ext cx="22128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5EDCB0"/>
                </a:solidFill>
                <a:latin typeface="Segoe UI" pitchFamily="34" charset="0"/>
                <a:ea typeface="Segoe UI" pitchFamily="34" charset="-122"/>
                <a:cs typeface="Segoe UI" pitchFamily="34" charset="-120"/>
              </a:rPr>
              <a:t>محور ٤ — الشفافية</a:t>
            </a:r>
            <a:endParaRPr lang="en-US" sz="1350" dirty="0"/>
          </a:p>
        </p:txBody>
      </p:sp>
      <p:sp>
        <p:nvSpPr>
          <p:cNvPr id="20" name="Text 18"/>
          <p:cNvSpPr txBox="1"/>
          <p:nvPr/>
        </p:nvSpPr>
        <p:spPr>
          <a:xfrm>
            <a:off x="841248" y="3835908"/>
            <a:ext cx="77659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كل رد بمصدره ولينكه — و</a:t>
            </a:r>
            <a:pPr rtl="1" algn="r" indent="0" marL="0">
              <a:lnSpc>
                <a:spcPct val="110000"/>
              </a:lnSpc>
              <a:buNone/>
            </a:pPr>
            <a:r>
              <a:rPr lang="ar-EG" sz="1300" b="1" dirty="0">
                <a:solidFill>
                  <a:srgbClr val="FFFFFF"/>
                </a:solidFill>
                <a:latin typeface="Segoe UI" pitchFamily="34" charset="0"/>
                <a:ea typeface="Segoe UI" pitchFamily="34" charset="-122"/>
                <a:cs typeface="Segoe UI" pitchFamily="34" charset="-120"/>
              </a:rPr>
              <a:t>بيرفض بدل ما يخمّن</a:t>
            </a:r>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 لو بره النطاق</a:t>
            </a:r>
            <a:endParaRPr lang="en-US" sz="1300" dirty="0"/>
          </a:p>
        </p:txBody>
      </p:sp>
      <p:sp>
        <p:nvSpPr>
          <p:cNvPr id="21" name="Shape 19"/>
          <p:cNvSpPr/>
          <p:nvPr/>
        </p:nvSpPr>
        <p:spPr>
          <a:xfrm>
            <a:off x="566928" y="4602480"/>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2" name="Text 20"/>
          <p:cNvSpPr/>
          <p:nvPr/>
        </p:nvSpPr>
        <p:spPr>
          <a:xfrm>
            <a:off x="10966399" y="4706874"/>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300" b="1" dirty="0">
                <a:solidFill>
                  <a:srgbClr val="06181A"/>
                </a:solidFill>
                <a:latin typeface="Segoe UI" pitchFamily="34" charset="0"/>
                <a:ea typeface="Segoe UI" pitchFamily="34" charset="-122"/>
                <a:cs typeface="Segoe UI" pitchFamily="34" charset="-120"/>
              </a:rPr>
              <a:t>٥</a:t>
            </a:r>
            <a:endParaRPr lang="en-US" sz="1300" dirty="0"/>
          </a:p>
        </p:txBody>
      </p:sp>
      <p:sp>
        <p:nvSpPr>
          <p:cNvPr id="23" name="Text 21"/>
          <p:cNvSpPr txBox="1"/>
          <p:nvPr/>
        </p:nvSpPr>
        <p:spPr>
          <a:xfrm>
            <a:off x="8607247" y="4602480"/>
            <a:ext cx="22128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5EDCB0"/>
                </a:solidFill>
                <a:latin typeface="Segoe UI" pitchFamily="34" charset="0"/>
                <a:ea typeface="Segoe UI" pitchFamily="34" charset="-122"/>
                <a:cs typeface="Segoe UI" pitchFamily="34" charset="-120"/>
              </a:rPr>
              <a:t>محور ٥ — الوصول</a:t>
            </a:r>
            <a:endParaRPr lang="en-US" sz="1350" dirty="0"/>
          </a:p>
        </p:txBody>
      </p:sp>
      <p:sp>
        <p:nvSpPr>
          <p:cNvPr id="24" name="Text 22"/>
          <p:cNvSpPr txBox="1"/>
          <p:nvPr/>
        </p:nvSpPr>
        <p:spPr>
          <a:xfrm>
            <a:off x="841248" y="4602480"/>
            <a:ext cx="77659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لينك ويب — من غير تحميل، مهم لهاتف قديم أو مساحة مليانة</a:t>
            </a:r>
            <a:endParaRPr lang="en-US" sz="1300" dirty="0"/>
          </a:p>
        </p:txBody>
      </p:sp>
      <p:sp>
        <p:nvSpPr>
          <p:cNvPr id="25" name="Shape 23"/>
          <p:cNvSpPr/>
          <p:nvPr/>
        </p:nvSpPr>
        <p:spPr>
          <a:xfrm>
            <a:off x="566928" y="5369052"/>
            <a:ext cx="11057839" cy="647700"/>
          </a:xfrm>
          <a:prstGeom prst="roundRect">
            <a:avLst>
              <a:gd name="adj" fmla="val 12706"/>
            </a:avLst>
          </a:prstGeom>
          <a:solidFill>
            <a:srgbClr val="D94B4B">
              <a:alpha val="16000"/>
            </a:srgbClr>
          </a:solidFill>
          <a:ln w="9525">
            <a:solidFill>
              <a:srgbClr val="5A3540"/>
            </a:solidFill>
            <a:prstDash val="solid"/>
          </a:ln>
          <a:effectLst>
            <a:outerShdw sx="100000" sy="100000" kx="0" ky="0" algn="bl" rotWithShape="0" blurRad="152400" dist="25400" dir="5400000">
              <a:srgbClr val="000000">
                <a:alpha val="30000"/>
              </a:srgbClr>
            </a:outerShdw>
          </a:effectLst>
        </p:spPr>
      </p:sp>
      <p:sp>
        <p:nvSpPr>
          <p:cNvPr id="26" name="Text 24"/>
          <p:cNvSpPr/>
          <p:nvPr/>
        </p:nvSpPr>
        <p:spPr>
          <a:xfrm>
            <a:off x="10966399" y="5473446"/>
            <a:ext cx="438912" cy="438912"/>
          </a:xfrm>
          <a:prstGeom prst="roundRect">
            <a:avLst>
              <a:gd name="adj" fmla="val 50000"/>
            </a:avLst>
          </a:prstGeom>
          <a:solidFill>
            <a:srgbClr val="D94B4B"/>
          </a:solidFill>
          <a:ln w="9525">
            <a:solidFill>
              <a:srgbClr val="D94B4B"/>
            </a:solidFill>
          </a:ln>
        </p:spPr>
        <p:txBody>
          <a:bodyPr wrap="square" lIns="0" tIns="0" rIns="0" bIns="0" rtlCol="0" anchor="ctr"/>
          <a:lstStyle/>
          <a:p>
            <a:pPr algn="ctr" indent="0" marL="0">
              <a:buNone/>
            </a:pPr>
            <a:r>
              <a:rPr lang="ar-EG" sz="1500" b="1" dirty="0">
                <a:solidFill>
                  <a:srgbClr val="FFF2F2"/>
                </a:solidFill>
                <a:latin typeface="Segoe UI" pitchFamily="34" charset="0"/>
                <a:ea typeface="Segoe UI" pitchFamily="34" charset="-122"/>
                <a:cs typeface="Segoe UI" pitchFamily="34" charset="-120"/>
              </a:rPr>
              <a:t>!</a:t>
            </a:r>
            <a:endParaRPr lang="en-US" sz="1500" dirty="0"/>
          </a:p>
        </p:txBody>
      </p:sp>
      <p:sp>
        <p:nvSpPr>
          <p:cNvPr id="27" name="Text 25"/>
          <p:cNvSpPr txBox="1"/>
          <p:nvPr/>
        </p:nvSpPr>
        <p:spPr>
          <a:xfrm>
            <a:off x="8607247" y="5369052"/>
            <a:ext cx="22128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F79191"/>
                </a:solidFill>
                <a:latin typeface="Segoe UI" pitchFamily="34" charset="0"/>
                <a:ea typeface="Segoe UI" pitchFamily="34" charset="-122"/>
                <a:cs typeface="Segoe UI" pitchFamily="34" charset="-120"/>
              </a:rPr>
              <a:t>حدودنا بصراحة</a:t>
            </a:r>
            <a:endParaRPr lang="en-US" sz="1350" dirty="0"/>
          </a:p>
        </p:txBody>
      </p:sp>
      <p:sp>
        <p:nvSpPr>
          <p:cNvPr id="28" name="Text 26"/>
          <p:cNvSpPr txBox="1"/>
          <p:nvPr/>
        </p:nvSpPr>
        <p:spPr>
          <a:xfrm>
            <a:off x="841248" y="5369052"/>
            <a:ext cx="77659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E8F1EE"/>
                </a:solidFill>
                <a:latin typeface="Segoe UI" pitchFamily="34" charset="0"/>
                <a:ea typeface="Segoe UI" pitchFamily="34" charset="-122"/>
                <a:cs typeface="Segoe UI" pitchFamily="34" charset="-120"/>
              </a:rPr>
              <a:t xml:space="preserve">إحنا </a:t>
            </a:r>
            <a:pPr rtl="1" algn="r" indent="0" marL="0">
              <a:lnSpc>
                <a:spcPct val="110000"/>
              </a:lnSpc>
              <a:buNone/>
            </a:pPr>
            <a:r>
              <a:rPr lang="ar-EG" sz="1300" b="1" dirty="0">
                <a:solidFill>
                  <a:srgbClr val="FFFFFF"/>
                </a:solidFill>
                <a:latin typeface="Segoe UI" pitchFamily="34" charset="0"/>
                <a:ea typeface="Segoe UI" pitchFamily="34" charset="-122"/>
                <a:cs typeface="Segoe UI" pitchFamily="34" charset="-120"/>
              </a:rPr>
              <a:t>مش بديل عن دكتور</a:t>
            </a:r>
            <a:pPr rtl="1" algn="r" indent="0" marL="0">
              <a:lnSpc>
                <a:spcPct val="110000"/>
              </a:lnSpc>
              <a:buNone/>
            </a:pPr>
            <a:r>
              <a:rPr lang="ar-EG" sz="1300" dirty="0">
                <a:solidFill>
                  <a:srgbClr val="E8F1EE"/>
                </a:solidFill>
                <a:latin typeface="Segoe UI" pitchFamily="34" charset="0"/>
                <a:ea typeface="Segoe UI" pitchFamily="34" charset="-122"/>
                <a:cs typeface="Segoe UI" pitchFamily="34" charset="-120"/>
              </a:rPr>
              <a:t xml:space="preserve"> ولا عن الإسعاف — إحنا </a:t>
            </a:r>
            <a:pPr rtl="1" algn="r" indent="0" marL="0">
              <a:lnSpc>
                <a:spcPct val="110000"/>
              </a:lnSpc>
              <a:buNone/>
            </a:pPr>
            <a:r>
              <a:rPr lang="ar-EG" sz="1300" b="1" dirty="0">
                <a:solidFill>
                  <a:srgbClr val="FFFFFF"/>
                </a:solidFill>
                <a:latin typeface="Segoe UI" pitchFamily="34" charset="0"/>
                <a:ea typeface="Segoe UI" pitchFamily="34" charset="-122"/>
                <a:cs typeface="Segoe UI" pitchFamily="34" charset="-120"/>
              </a:rPr>
              <a:t>الدقيقة اللي قبلهم</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النمو</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خطة الإطلاق — مصر الأول</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١٤ / ١٨</a:t>
            </a:r>
            <a:endParaRPr lang="en-US" sz="950" dirty="0"/>
          </a:p>
        </p:txBody>
      </p:sp>
      <p:sp>
        <p:nvSpPr>
          <p:cNvPr id="5" name="Shape 3"/>
          <p:cNvSpPr/>
          <p:nvPr/>
        </p:nvSpPr>
        <p:spPr>
          <a:xfrm>
            <a:off x="8378647" y="1536192"/>
            <a:ext cx="3246120" cy="4480560"/>
          </a:xfrm>
          <a:prstGeom prst="roundRect">
            <a:avLst>
              <a:gd name="adj" fmla="val 2535"/>
            </a:avLst>
          </a:prstGeom>
          <a:solidFill>
            <a:srgbClr val="0F5F45">
              <a:alpha val="40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6" name="Text 4"/>
          <p:cNvSpPr txBox="1"/>
          <p:nvPr/>
        </p:nvSpPr>
        <p:spPr>
          <a:xfrm>
            <a:off x="8652967" y="1847088"/>
            <a:ext cx="2697480" cy="292608"/>
          </a:xfrm>
          <a:prstGeom prst="rect">
            <a:avLst/>
          </a:prstGeom>
          <a:noFill/>
          <a:ln/>
        </p:spPr>
        <p:txBody>
          <a:bodyPr wrap="square" lIns="0" tIns="0" rIns="0" bIns="0" rtlCol="0" anchor="t"/>
          <a:lstStyle/>
          <a:p>
            <a:pPr rtl="1" algn="r" indent="0" marL="0">
              <a:lnSpc>
                <a:spcPct val="100000"/>
              </a:lnSpc>
              <a:buNone/>
            </a:pPr>
            <a:r>
              <a:rPr lang="ar-EG" sz="1250" b="1" dirty="0">
                <a:solidFill>
                  <a:srgbClr val="5EDCB0"/>
                </a:solidFill>
                <a:latin typeface="Segoe UI" pitchFamily="34" charset="0"/>
                <a:ea typeface="Segoe UI" pitchFamily="34" charset="-122"/>
                <a:cs typeface="Segoe UI" pitchFamily="34" charset="-120"/>
              </a:rPr>
              <a:t>السوق جاهز تقنيًا</a:t>
            </a:r>
            <a:endParaRPr lang="en-US" sz="1250" dirty="0"/>
          </a:p>
        </p:txBody>
      </p:sp>
      <p:sp>
        <p:nvSpPr>
          <p:cNvPr id="7" name="Text 5"/>
          <p:cNvSpPr txBox="1"/>
          <p:nvPr/>
        </p:nvSpPr>
        <p:spPr>
          <a:xfrm>
            <a:off x="8652967" y="2249424"/>
            <a:ext cx="2697480" cy="786384"/>
          </a:xfrm>
          <a:prstGeom prst="rect">
            <a:avLst/>
          </a:prstGeom>
          <a:noFill/>
          <a:ln/>
        </p:spPr>
        <p:txBody>
          <a:bodyPr wrap="square" lIns="0" tIns="0" rIns="0" bIns="0" rtlCol="0" anchor="t"/>
          <a:lstStyle/>
          <a:p>
            <a:pPr rtl="1" algn="r" indent="0" marL="0">
              <a:lnSpc>
                <a:spcPct val="100000"/>
              </a:lnSpc>
              <a:buNone/>
            </a:pPr>
            <a:r>
              <a:rPr lang="ar-EG" sz="4000" b="1" dirty="0">
                <a:solidFill>
                  <a:srgbClr val="FFFFFF"/>
                </a:solidFill>
                <a:latin typeface="Segoe UI" pitchFamily="34" charset="0"/>
                <a:ea typeface="Segoe UI" pitchFamily="34" charset="-122"/>
                <a:cs typeface="Segoe UI" pitchFamily="34" charset="-120"/>
              </a:rPr>
              <a:t>٩٨٫٢ مليون</a:t>
            </a:r>
            <a:endParaRPr lang="en-US" sz="4000" dirty="0"/>
          </a:p>
        </p:txBody>
      </p:sp>
      <p:sp>
        <p:nvSpPr>
          <p:cNvPr id="8" name="Text 6"/>
          <p:cNvSpPr txBox="1"/>
          <p:nvPr/>
        </p:nvSpPr>
        <p:spPr>
          <a:xfrm>
            <a:off x="8652967" y="3072384"/>
            <a:ext cx="2697480" cy="347472"/>
          </a:xfrm>
          <a:prstGeom prst="rect">
            <a:avLst/>
          </a:prstGeom>
          <a:noFill/>
          <a:ln/>
        </p:spPr>
        <p:txBody>
          <a:bodyPr wrap="square" lIns="0" tIns="0" rIns="0" bIns="0" rtlCol="0" anchor="t"/>
          <a:lstStyle/>
          <a:p>
            <a:pPr rtl="1" algn="r" indent="0" marL="0">
              <a:lnSpc>
                <a:spcPct val="100000"/>
              </a:lnSpc>
              <a:buNone/>
            </a:pPr>
            <a:r>
              <a:rPr lang="ar-EG" sz="1500" dirty="0">
                <a:solidFill>
                  <a:srgbClr val="B9CBC6"/>
                </a:solidFill>
                <a:latin typeface="Segoe UI" pitchFamily="34" charset="0"/>
                <a:ea typeface="Segoe UI" pitchFamily="34" charset="-122"/>
                <a:cs typeface="Segoe UI" pitchFamily="34" charset="-120"/>
              </a:rPr>
              <a:t>مستخدم إنترنت في مصر</a:t>
            </a:r>
            <a:endParaRPr lang="en-US" sz="1500" dirty="0"/>
          </a:p>
        </p:txBody>
      </p:sp>
      <p:sp>
        <p:nvSpPr>
          <p:cNvPr id="9" name="Text 7"/>
          <p:cNvSpPr/>
          <p:nvPr/>
        </p:nvSpPr>
        <p:spPr>
          <a:xfrm>
            <a:off x="8652967" y="3511296"/>
            <a:ext cx="2697480" cy="530352"/>
          </a:xfrm>
          <a:prstGeom prst="roundRect">
            <a:avLst>
              <a:gd name="adj" fmla="val 12069"/>
            </a:avLst>
          </a:prstGeom>
          <a:solidFill>
            <a:srgbClr val="19A878"/>
          </a:solidFill>
          <a:ln w="9525">
            <a:solidFill>
              <a:srgbClr val="19A878"/>
            </a:solidFill>
          </a:ln>
        </p:spPr>
        <p:txBody>
          <a:bodyPr wrap="square" lIns="0" tIns="0" rIns="0" bIns="0" rtlCol="0" anchor="ctr"/>
          <a:lstStyle/>
          <a:p>
            <a:pPr rtl="1" algn="ctr" indent="0" marL="0">
              <a:buNone/>
            </a:pPr>
            <a:r>
              <a:rPr lang="ar-EG" sz="1200" b="1" dirty="0">
                <a:solidFill>
                  <a:srgbClr val="06181A"/>
                </a:solidFill>
                <a:latin typeface="Segoe UI" pitchFamily="34" charset="0"/>
                <a:ea typeface="Segoe UI" pitchFamily="34" charset="-122"/>
                <a:cs typeface="Segoe UI" pitchFamily="34" charset="-120"/>
              </a:rPr>
              <a:t>٨٢٫٧٪ من السكان — أكتوبر ٢٠٢٥</a:t>
            </a:r>
            <a:endParaRPr lang="en-US" sz="1200" dirty="0"/>
          </a:p>
        </p:txBody>
      </p:sp>
      <p:sp>
        <p:nvSpPr>
          <p:cNvPr id="10" name="Text 8"/>
          <p:cNvSpPr txBox="1"/>
          <p:nvPr/>
        </p:nvSpPr>
        <p:spPr>
          <a:xfrm>
            <a:off x="8652967" y="4242816"/>
            <a:ext cx="2697480" cy="1005840"/>
          </a:xfrm>
          <a:prstGeom prst="rect">
            <a:avLst/>
          </a:prstGeom>
          <a:noFill/>
          <a:ln/>
        </p:spPr>
        <p:txBody>
          <a:bodyPr wrap="square" lIns="0" tIns="0" rIns="0" bIns="0" rtlCol="0" anchor="t"/>
          <a:lstStyle/>
          <a:p>
            <a:pPr rtl="1" algn="r" indent="0" marL="0">
              <a:lnSpc>
                <a:spcPct val="120000"/>
              </a:lnSpc>
              <a:buNone/>
            </a:pPr>
            <a:r>
              <a:rPr lang="ar-EG" sz="1300" b="1" dirty="0">
                <a:solidFill>
                  <a:srgbClr val="5EDCB0"/>
                </a:solidFill>
                <a:latin typeface="Segoe UI" pitchFamily="34" charset="0"/>
                <a:ea typeface="Segoe UI" pitchFamily="34" charset="-122"/>
                <a:cs typeface="Segoe UI" pitchFamily="34" charset="-120"/>
              </a:rPr>
              <a:t>لينك ويب مش تطبيق</a:t>
            </a:r>
            <a:pPr rtl="1" algn="r" indent="0" marL="0">
              <a:lnSpc>
                <a:spcPct val="120000"/>
              </a:lnSpc>
              <a:buNone/>
            </a:pPr>
            <a:r>
              <a:rPr lang="ar-EG" sz="1300" dirty="0">
                <a:solidFill>
                  <a:srgbClr val="E8F1EE"/>
                </a:solidFill>
                <a:latin typeface="Segoe UI" pitchFamily="34" charset="0"/>
                <a:ea typeface="Segoe UI" pitchFamily="34" charset="-122"/>
                <a:cs typeface="Segoe UI" pitchFamily="34" charset="-120"/>
              </a:rPr>
              <a:t xml:space="preserve"> = صفر احتكاك: مفيش تحميل، مفيش مساحة، يشتغل على أي موبايل</a:t>
            </a:r>
            <a:endParaRPr lang="en-US" sz="1300" dirty="0"/>
          </a:p>
        </p:txBody>
      </p:sp>
      <p:sp>
        <p:nvSpPr>
          <p:cNvPr id="11" name="Text 9"/>
          <p:cNvSpPr txBox="1"/>
          <p:nvPr/>
        </p:nvSpPr>
        <p:spPr>
          <a:xfrm>
            <a:off x="8652967" y="5285232"/>
            <a:ext cx="2697480" cy="640080"/>
          </a:xfrm>
          <a:prstGeom prst="rect">
            <a:avLst/>
          </a:prstGeom>
          <a:noFill/>
          <a:ln/>
        </p:spPr>
        <p:txBody>
          <a:bodyPr wrap="square" lIns="0" tIns="0" rIns="0" bIns="0" rtlCol="0" anchor="t"/>
          <a:lstStyle/>
          <a:p>
            <a:pPr rtl="1" algn="r" indent="0" marL="0">
              <a:lnSpc>
                <a:spcPct val="116000"/>
              </a:lnSpc>
              <a:buNone/>
            </a:pPr>
            <a:r>
              <a:rPr lang="ar-EG" sz="1100" dirty="0">
                <a:solidFill>
                  <a:srgbClr val="8AA29D"/>
                </a:solidFill>
                <a:latin typeface="Segoe UI" pitchFamily="34" charset="0"/>
                <a:ea typeface="Segoe UI" pitchFamily="34" charset="-122"/>
                <a:cs typeface="Segoe UI" pitchFamily="34" charset="-120"/>
              </a:rPr>
              <a:t>أكتر من ٨ من كل ١٠ مصريين على الإنترنت — البنية موجودة، الناقص هو الأداة</a:t>
            </a:r>
            <a:endParaRPr lang="en-US" sz="1100" dirty="0"/>
          </a:p>
        </p:txBody>
      </p:sp>
      <p:sp>
        <p:nvSpPr>
          <p:cNvPr id="12" name="Shape 10"/>
          <p:cNvSpPr/>
          <p:nvPr/>
        </p:nvSpPr>
        <p:spPr>
          <a:xfrm>
            <a:off x="4463644" y="1536192"/>
            <a:ext cx="3640684" cy="1347216"/>
          </a:xfrm>
          <a:prstGeom prst="roundRect">
            <a:avLst>
              <a:gd name="adj" fmla="val 6109"/>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3" name="Text 11"/>
          <p:cNvSpPr txBox="1"/>
          <p:nvPr/>
        </p:nvSpPr>
        <p:spPr>
          <a:xfrm>
            <a:off x="4701388" y="1719072"/>
            <a:ext cx="3165196" cy="292608"/>
          </a:xfrm>
          <a:prstGeom prst="rect">
            <a:avLst/>
          </a:prstGeom>
          <a:noFill/>
          <a:ln/>
        </p:spPr>
        <p:txBody>
          <a:bodyPr wrap="square" lIns="0" tIns="0" rIns="0" bIns="0" rtlCol="0" anchor="t"/>
          <a:lstStyle/>
          <a:p>
            <a:pPr rtl="1" algn="r" indent="0" marL="0">
              <a:lnSpc>
                <a:spcPct val="100000"/>
              </a:lnSpc>
              <a:buNone/>
            </a:pPr>
            <a:r>
              <a:rPr lang="ar-EG" sz="1300" b="1" dirty="0">
                <a:solidFill>
                  <a:srgbClr val="FFFFFF"/>
                </a:solidFill>
                <a:latin typeface="Segoe UI" pitchFamily="34" charset="0"/>
                <a:ea typeface="Segoe UI" pitchFamily="34" charset="-122"/>
                <a:cs typeface="Segoe UI" pitchFamily="34" charset="-120"/>
              </a:rPr>
              <a:t>شراكات توعية</a:t>
            </a:r>
            <a:endParaRPr lang="en-US" sz="1300" dirty="0"/>
          </a:p>
        </p:txBody>
      </p:sp>
      <p:sp>
        <p:nvSpPr>
          <p:cNvPr id="14" name="Text 12"/>
          <p:cNvSpPr txBox="1"/>
          <p:nvPr/>
        </p:nvSpPr>
        <p:spPr>
          <a:xfrm>
            <a:off x="4701388" y="2066544"/>
            <a:ext cx="3165196" cy="615696"/>
          </a:xfrm>
          <a:prstGeom prst="rect">
            <a:avLst/>
          </a:prstGeom>
          <a:noFill/>
          <a:ln/>
        </p:spPr>
        <p:txBody>
          <a:bodyPr wrap="square" lIns="0" tIns="0" rIns="0" bIns="0" rtlCol="0" anchor="t"/>
          <a:lstStyle/>
          <a:p>
            <a:pPr rtl="1" algn="r" indent="0" marL="0">
              <a:lnSpc>
                <a:spcPct val="118000"/>
              </a:lnSpc>
              <a:buNone/>
            </a:pPr>
            <a:r>
              <a:rPr lang="ar-EG" sz="1150" dirty="0">
                <a:solidFill>
                  <a:srgbClr val="B9CBC6"/>
                </a:solidFill>
                <a:latin typeface="Segoe UI" pitchFamily="34" charset="0"/>
                <a:ea typeface="Segoe UI" pitchFamily="34" charset="-122"/>
                <a:cs typeface="Segoe UI" pitchFamily="34" charset="-120"/>
              </a:rPr>
              <a:t xml:space="preserve">مع هيئة الإسعاف والمستشفيات الجامعية — ندخل </a:t>
            </a:r>
            <a:pPr rtl="1" algn="r" indent="0" marL="0">
              <a:lnSpc>
                <a:spcPct val="118000"/>
              </a:lnSpc>
              <a:buNone/>
            </a:pPr>
            <a:r>
              <a:rPr lang="ar-EG" sz="1150" b="1" dirty="0">
                <a:solidFill>
                  <a:srgbClr val="5EDCB0"/>
                </a:solidFill>
                <a:latin typeface="Segoe UI" pitchFamily="34" charset="0"/>
                <a:ea typeface="Segoe UI" pitchFamily="34" charset="-122"/>
                <a:cs typeface="Segoe UI" pitchFamily="34" charset="-120"/>
              </a:rPr>
              <a:t>كأداة توعية مش كمنافس</a:t>
            </a:r>
            <a:endParaRPr lang="en-US" sz="1150" dirty="0"/>
          </a:p>
        </p:txBody>
      </p:sp>
      <p:sp>
        <p:nvSpPr>
          <p:cNvPr id="15" name="Shape 13"/>
          <p:cNvSpPr/>
          <p:nvPr/>
        </p:nvSpPr>
        <p:spPr>
          <a:xfrm>
            <a:off x="566928" y="1536192"/>
            <a:ext cx="3640684" cy="1347216"/>
          </a:xfrm>
          <a:prstGeom prst="roundRect">
            <a:avLst>
              <a:gd name="adj" fmla="val 6109"/>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6" name="Text 14"/>
          <p:cNvSpPr txBox="1"/>
          <p:nvPr/>
        </p:nvSpPr>
        <p:spPr>
          <a:xfrm>
            <a:off x="804672" y="1719072"/>
            <a:ext cx="3165196" cy="292608"/>
          </a:xfrm>
          <a:prstGeom prst="rect">
            <a:avLst/>
          </a:prstGeom>
          <a:noFill/>
          <a:ln/>
        </p:spPr>
        <p:txBody>
          <a:bodyPr wrap="square" lIns="0" tIns="0" rIns="0" bIns="0" rtlCol="0" anchor="t"/>
          <a:lstStyle/>
          <a:p>
            <a:pPr rtl="1" algn="r" indent="0" marL="0">
              <a:lnSpc>
                <a:spcPct val="100000"/>
              </a:lnSpc>
              <a:buNone/>
            </a:pPr>
            <a:r>
              <a:rPr lang="ar-EG" sz="1300" b="1" dirty="0">
                <a:solidFill>
                  <a:srgbClr val="FFFFFF"/>
                </a:solidFill>
                <a:latin typeface="Segoe UI" pitchFamily="34" charset="0"/>
                <a:ea typeface="Segoe UI" pitchFamily="34" charset="-122"/>
                <a:cs typeface="Segoe UI" pitchFamily="34" charset="-120"/>
              </a:rPr>
              <a:t>الصيدليات</a:t>
            </a:r>
            <a:endParaRPr lang="en-US" sz="1300" dirty="0"/>
          </a:p>
        </p:txBody>
      </p:sp>
      <p:sp>
        <p:nvSpPr>
          <p:cNvPr id="17" name="Text 15"/>
          <p:cNvSpPr txBox="1"/>
          <p:nvPr/>
        </p:nvSpPr>
        <p:spPr>
          <a:xfrm>
            <a:off x="804672" y="2066544"/>
            <a:ext cx="3165196" cy="615696"/>
          </a:xfrm>
          <a:prstGeom prst="rect">
            <a:avLst/>
          </a:prstGeom>
          <a:noFill/>
          <a:ln/>
        </p:spPr>
        <p:txBody>
          <a:bodyPr wrap="square" lIns="0" tIns="0" rIns="0" bIns="0" rtlCol="0" anchor="t"/>
          <a:lstStyle/>
          <a:p>
            <a:pPr rtl="1" algn="r" indent="0" marL="0">
              <a:lnSpc>
                <a:spcPct val="118000"/>
              </a:lnSpc>
              <a:buNone/>
            </a:pPr>
            <a:r>
              <a:rPr lang="ar-EG" sz="1150" dirty="0">
                <a:solidFill>
                  <a:srgbClr val="B9CBC6"/>
                </a:solidFill>
                <a:latin typeface="Segoe UI" pitchFamily="34" charset="0"/>
                <a:ea typeface="Segoe UI" pitchFamily="34" charset="-122"/>
                <a:cs typeface="Segoe UI" pitchFamily="34" charset="-120"/>
              </a:rPr>
              <a:t xml:space="preserve">أكتر نقطة صحية بيلمسها المصري يوميًا — </a:t>
            </a:r>
            <a:pPr rtl="1" algn="r" indent="0" marL="0">
              <a:lnSpc>
                <a:spcPct val="118000"/>
              </a:lnSpc>
              <a:buNone/>
            </a:pPr>
            <a:r>
              <a:rPr lang="en-US" sz="1150" b="1" dirty="0">
                <a:solidFill>
                  <a:srgbClr val="5EDCB0"/>
                </a:solidFill>
                <a:latin typeface="Segoe UI" pitchFamily="34" charset="0"/>
                <a:ea typeface="Segoe UI" pitchFamily="34" charset="-122"/>
                <a:cs typeface="Segoe UI" pitchFamily="34" charset="-120"/>
              </a:rPr>
              <a:t>QR</a:t>
            </a:r>
            <a:pPr rtl="1" algn="r" indent="0" marL="0">
              <a:lnSpc>
                <a:spcPct val="118000"/>
              </a:lnSpc>
              <a:buNone/>
            </a:pPr>
            <a:r>
              <a:rPr lang="ar-EG" sz="1150" b="1" dirty="0">
                <a:solidFill>
                  <a:srgbClr val="5EDCB0"/>
                </a:solidFill>
                <a:latin typeface="Segoe UI" pitchFamily="34" charset="0"/>
                <a:ea typeface="Segoe UI" pitchFamily="34" charset="-122"/>
                <a:cs typeface="Segoe UI" pitchFamily="34" charset="-120"/>
              </a:rPr>
              <a:t xml:space="preserve"> على الكاونتر وعلى الروشتة</a:t>
            </a:r>
            <a:endParaRPr lang="en-US" sz="1150" dirty="0"/>
          </a:p>
        </p:txBody>
      </p:sp>
      <p:sp>
        <p:nvSpPr>
          <p:cNvPr id="18" name="Shape 16"/>
          <p:cNvSpPr/>
          <p:nvPr/>
        </p:nvSpPr>
        <p:spPr>
          <a:xfrm>
            <a:off x="4463644" y="3102864"/>
            <a:ext cx="3640684" cy="1347216"/>
          </a:xfrm>
          <a:prstGeom prst="roundRect">
            <a:avLst>
              <a:gd name="adj" fmla="val 6109"/>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9" name="Text 17"/>
          <p:cNvSpPr txBox="1"/>
          <p:nvPr/>
        </p:nvSpPr>
        <p:spPr>
          <a:xfrm>
            <a:off x="4701388" y="3285744"/>
            <a:ext cx="3165196" cy="292608"/>
          </a:xfrm>
          <a:prstGeom prst="rect">
            <a:avLst/>
          </a:prstGeom>
          <a:noFill/>
          <a:ln/>
        </p:spPr>
        <p:txBody>
          <a:bodyPr wrap="square" lIns="0" tIns="0" rIns="0" bIns="0" rtlCol="0" anchor="t"/>
          <a:lstStyle/>
          <a:p>
            <a:pPr rtl="1" algn="r" indent="0" marL="0">
              <a:lnSpc>
                <a:spcPct val="100000"/>
              </a:lnSpc>
              <a:buNone/>
            </a:pPr>
            <a:r>
              <a:rPr lang="ar-EG" sz="1300" b="1" dirty="0">
                <a:solidFill>
                  <a:srgbClr val="FFFFFF"/>
                </a:solidFill>
                <a:latin typeface="Segoe UI" pitchFamily="34" charset="0"/>
                <a:ea typeface="Segoe UI" pitchFamily="34" charset="-122"/>
                <a:cs typeface="Segoe UI" pitchFamily="34" charset="-120"/>
              </a:rPr>
              <a:t>الجامعات</a:t>
            </a:r>
            <a:endParaRPr lang="en-US" sz="1300" dirty="0"/>
          </a:p>
        </p:txBody>
      </p:sp>
      <p:sp>
        <p:nvSpPr>
          <p:cNvPr id="20" name="Text 18"/>
          <p:cNvSpPr txBox="1"/>
          <p:nvPr/>
        </p:nvSpPr>
        <p:spPr>
          <a:xfrm>
            <a:off x="4701388" y="3633216"/>
            <a:ext cx="3165196" cy="615696"/>
          </a:xfrm>
          <a:prstGeom prst="rect">
            <a:avLst/>
          </a:prstGeom>
          <a:noFill/>
          <a:ln/>
        </p:spPr>
        <p:txBody>
          <a:bodyPr wrap="square" lIns="0" tIns="0" rIns="0" bIns="0" rtlCol="0" anchor="t"/>
          <a:lstStyle/>
          <a:p>
            <a:pPr rtl="1" algn="r" indent="0" marL="0">
              <a:lnSpc>
                <a:spcPct val="118000"/>
              </a:lnSpc>
              <a:buNone/>
            </a:pPr>
            <a:r>
              <a:rPr lang="ar-EG" sz="1150" dirty="0">
                <a:solidFill>
                  <a:srgbClr val="B9CBC6"/>
                </a:solidFill>
                <a:latin typeface="Segoe UI" pitchFamily="34" charset="0"/>
                <a:ea typeface="Segoe UI" pitchFamily="34" charset="-122"/>
                <a:cs typeface="Segoe UI" pitchFamily="34" charset="-120"/>
              </a:rPr>
              <a:t xml:space="preserve">كليات الطب والتمريض — </a:t>
            </a:r>
            <a:pPr rtl="1" algn="r" indent="0" marL="0">
              <a:lnSpc>
                <a:spcPct val="118000"/>
              </a:lnSpc>
              <a:buNone/>
            </a:pPr>
            <a:r>
              <a:rPr lang="ar-EG" sz="1150" b="1" dirty="0">
                <a:solidFill>
                  <a:srgbClr val="5EDCB0"/>
                </a:solidFill>
                <a:latin typeface="Segoe UI" pitchFamily="34" charset="0"/>
                <a:ea typeface="Segoe UI" pitchFamily="34" charset="-122"/>
                <a:cs typeface="Segoe UI" pitchFamily="34" charset="-120"/>
              </a:rPr>
              <a:t>مصدر متطوعين ومصدر تحقق إكلينيكي</a:t>
            </a:r>
            <a:pPr rtl="1" algn="r" indent="0" marL="0">
              <a:lnSpc>
                <a:spcPct val="118000"/>
              </a:lnSpc>
              <a:buNone/>
            </a:pPr>
            <a:r>
              <a:rPr lang="ar-EG" sz="1150" dirty="0">
                <a:solidFill>
                  <a:srgbClr val="B9CBC6"/>
                </a:solidFill>
                <a:latin typeface="Segoe UI" pitchFamily="34" charset="0"/>
                <a:ea typeface="Segoe UI" pitchFamily="34" charset="-122"/>
                <a:cs typeface="Segoe UI" pitchFamily="34" charset="-120"/>
              </a:rPr>
              <a:t xml:space="preserve"> في نفس الوقت</a:t>
            </a:r>
            <a:endParaRPr lang="en-US" sz="1150" dirty="0"/>
          </a:p>
        </p:txBody>
      </p:sp>
      <p:sp>
        <p:nvSpPr>
          <p:cNvPr id="21" name="Shape 19"/>
          <p:cNvSpPr/>
          <p:nvPr/>
        </p:nvSpPr>
        <p:spPr>
          <a:xfrm>
            <a:off x="566928" y="3102864"/>
            <a:ext cx="3640684" cy="1347216"/>
          </a:xfrm>
          <a:prstGeom prst="roundRect">
            <a:avLst>
              <a:gd name="adj" fmla="val 6109"/>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2" name="Text 20"/>
          <p:cNvSpPr txBox="1"/>
          <p:nvPr/>
        </p:nvSpPr>
        <p:spPr>
          <a:xfrm>
            <a:off x="804672" y="3285744"/>
            <a:ext cx="3165196" cy="292608"/>
          </a:xfrm>
          <a:prstGeom prst="rect">
            <a:avLst/>
          </a:prstGeom>
          <a:noFill/>
          <a:ln/>
        </p:spPr>
        <p:txBody>
          <a:bodyPr wrap="square" lIns="0" tIns="0" rIns="0" bIns="0" rtlCol="0" anchor="t"/>
          <a:lstStyle/>
          <a:p>
            <a:pPr rtl="1" algn="r" indent="0" marL="0">
              <a:lnSpc>
                <a:spcPct val="100000"/>
              </a:lnSpc>
              <a:buNone/>
            </a:pPr>
            <a:r>
              <a:rPr lang="ar-EG" sz="1300" b="1" dirty="0">
                <a:solidFill>
                  <a:srgbClr val="FFFFFF"/>
                </a:solidFill>
                <a:latin typeface="Segoe UI" pitchFamily="34" charset="0"/>
                <a:ea typeface="Segoe UI" pitchFamily="34" charset="-122"/>
                <a:cs typeface="Segoe UI" pitchFamily="34" charset="-120"/>
              </a:rPr>
              <a:t>مواسم</a:t>
            </a:r>
            <a:endParaRPr lang="en-US" sz="1300" dirty="0"/>
          </a:p>
        </p:txBody>
      </p:sp>
      <p:sp>
        <p:nvSpPr>
          <p:cNvPr id="23" name="Text 21"/>
          <p:cNvSpPr txBox="1"/>
          <p:nvPr/>
        </p:nvSpPr>
        <p:spPr>
          <a:xfrm>
            <a:off x="804672" y="3633216"/>
            <a:ext cx="3165196" cy="615696"/>
          </a:xfrm>
          <a:prstGeom prst="rect">
            <a:avLst/>
          </a:prstGeom>
          <a:noFill/>
          <a:ln/>
        </p:spPr>
        <p:txBody>
          <a:bodyPr wrap="square" lIns="0" tIns="0" rIns="0" bIns="0" rtlCol="0" anchor="t"/>
          <a:lstStyle/>
          <a:p>
            <a:pPr rtl="1" algn="r" indent="0" marL="0">
              <a:lnSpc>
                <a:spcPct val="118000"/>
              </a:lnSpc>
              <a:buNone/>
            </a:pPr>
            <a:r>
              <a:rPr lang="ar-EG" sz="1150" dirty="0">
                <a:solidFill>
                  <a:srgbClr val="B9CBC6"/>
                </a:solidFill>
                <a:latin typeface="Segoe UI" pitchFamily="34" charset="0"/>
                <a:ea typeface="Segoe UI" pitchFamily="34" charset="-122"/>
                <a:cs typeface="Segoe UI" pitchFamily="34" charset="-120"/>
              </a:rPr>
              <a:t xml:space="preserve">حملة رمضان (الصيام وضغط ومرضى السكر) + </a:t>
            </a:r>
            <a:pPr rtl="1" algn="r" indent="0" marL="0">
              <a:lnSpc>
                <a:spcPct val="118000"/>
              </a:lnSpc>
              <a:buNone/>
            </a:pPr>
            <a:r>
              <a:rPr lang="ar-EG" sz="1150" b="1" dirty="0">
                <a:solidFill>
                  <a:srgbClr val="5EDCB0"/>
                </a:solidFill>
                <a:latin typeface="Segoe UI" pitchFamily="34" charset="0"/>
                <a:ea typeface="Segoe UI" pitchFamily="34" charset="-122"/>
                <a:cs typeface="Segoe UI" pitchFamily="34" charset="-120"/>
              </a:rPr>
              <a:t>اليوم العالمي للسكتة الدماغية (٢٩ أكتوبر)</a:t>
            </a:r>
            <a:endParaRPr lang="en-US" sz="1150" dirty="0"/>
          </a:p>
        </p:txBody>
      </p:sp>
      <p:sp>
        <p:nvSpPr>
          <p:cNvPr id="24" name="Shape 22"/>
          <p:cNvSpPr/>
          <p:nvPr/>
        </p:nvSpPr>
        <p:spPr>
          <a:xfrm>
            <a:off x="4463644" y="4669536"/>
            <a:ext cx="3640684" cy="1347216"/>
          </a:xfrm>
          <a:prstGeom prst="roundRect">
            <a:avLst>
              <a:gd name="adj" fmla="val 6109"/>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5" name="Text 23"/>
          <p:cNvSpPr txBox="1"/>
          <p:nvPr/>
        </p:nvSpPr>
        <p:spPr>
          <a:xfrm>
            <a:off x="4701388" y="4852416"/>
            <a:ext cx="3165196" cy="292608"/>
          </a:xfrm>
          <a:prstGeom prst="rect">
            <a:avLst/>
          </a:prstGeom>
          <a:noFill/>
          <a:ln/>
        </p:spPr>
        <p:txBody>
          <a:bodyPr wrap="square" lIns="0" tIns="0" rIns="0" bIns="0" rtlCol="0" anchor="t"/>
          <a:lstStyle/>
          <a:p>
            <a:pPr rtl="1" algn="r" indent="0" marL="0">
              <a:lnSpc>
                <a:spcPct val="100000"/>
              </a:lnSpc>
              <a:buNone/>
            </a:pPr>
            <a:r>
              <a:rPr lang="ar-EG" sz="1300" b="1" dirty="0">
                <a:solidFill>
                  <a:srgbClr val="FFFFFF"/>
                </a:solidFill>
                <a:latin typeface="Segoe UI" pitchFamily="34" charset="0"/>
                <a:ea typeface="Segoe UI" pitchFamily="34" charset="-122"/>
                <a:cs typeface="Segoe UI" pitchFamily="34" charset="-120"/>
              </a:rPr>
              <a:t>محتوى صحي قصير</a:t>
            </a:r>
            <a:endParaRPr lang="en-US" sz="1300" dirty="0"/>
          </a:p>
        </p:txBody>
      </p:sp>
      <p:sp>
        <p:nvSpPr>
          <p:cNvPr id="26" name="Text 24"/>
          <p:cNvSpPr txBox="1"/>
          <p:nvPr/>
        </p:nvSpPr>
        <p:spPr>
          <a:xfrm>
            <a:off x="4701388" y="5199888"/>
            <a:ext cx="3165196" cy="615696"/>
          </a:xfrm>
          <a:prstGeom prst="rect">
            <a:avLst/>
          </a:prstGeom>
          <a:noFill/>
          <a:ln/>
        </p:spPr>
        <p:txBody>
          <a:bodyPr wrap="square" lIns="0" tIns="0" rIns="0" bIns="0" rtlCol="0" anchor="t"/>
          <a:lstStyle/>
          <a:p>
            <a:pPr rtl="1" algn="r" indent="0" marL="0">
              <a:lnSpc>
                <a:spcPct val="118000"/>
              </a:lnSpc>
              <a:buNone/>
            </a:pPr>
            <a:r>
              <a:rPr lang="ar-EG" sz="1150" dirty="0">
                <a:solidFill>
                  <a:srgbClr val="B9CBC6"/>
                </a:solidFill>
                <a:latin typeface="Segoe UI" pitchFamily="34" charset="0"/>
                <a:ea typeface="Segoe UI" pitchFamily="34" charset="-122"/>
                <a:cs typeface="Segoe UI" pitchFamily="34" charset="-120"/>
              </a:rPr>
              <a:t xml:space="preserve">على </a:t>
            </a:r>
            <a:pPr rtl="1" algn="r" indent="0" marL="0">
              <a:lnSpc>
                <a:spcPct val="118000"/>
              </a:lnSpc>
              <a:buNone/>
            </a:pPr>
            <a:r>
              <a:rPr lang="en-US" sz="1150" dirty="0">
                <a:solidFill>
                  <a:srgbClr val="B9CBC6"/>
                </a:solidFill>
                <a:latin typeface="Segoe UI" pitchFamily="34" charset="0"/>
                <a:ea typeface="Segoe UI" pitchFamily="34" charset="-122"/>
                <a:cs typeface="Segoe UI" pitchFamily="34" charset="-120"/>
              </a:rPr>
              <a:t>TikTok / Facebook</a:t>
            </a:r>
            <a:pPr rtl="1" algn="r" indent="0" marL="0">
              <a:lnSpc>
                <a:spcPct val="118000"/>
              </a:lnSpc>
              <a:buNone/>
            </a:pPr>
            <a:r>
              <a:rPr lang="ar-EG" sz="1150" dirty="0">
                <a:solidFill>
                  <a:srgbClr val="B9CBC6"/>
                </a:solidFill>
                <a:latin typeface="Segoe UI" pitchFamily="34" charset="0"/>
                <a:ea typeface="Segoe UI" pitchFamily="34" charset="-122"/>
                <a:cs typeface="Segoe UI" pitchFamily="34" charset="-120"/>
              </a:rPr>
              <a:t xml:space="preserve"> بالمصري: «٣ علامات لازم تعرفها» — </a:t>
            </a:r>
            <a:pPr rtl="1" algn="r" indent="0" marL="0">
              <a:lnSpc>
                <a:spcPct val="118000"/>
              </a:lnSpc>
              <a:buNone/>
            </a:pPr>
            <a:r>
              <a:rPr lang="ar-EG" sz="1150" b="1" dirty="0">
                <a:solidFill>
                  <a:srgbClr val="5EDCB0"/>
                </a:solidFill>
                <a:latin typeface="Segoe UI" pitchFamily="34" charset="0"/>
                <a:ea typeface="Segoe UI" pitchFamily="34" charset="-122"/>
                <a:cs typeface="Segoe UI" pitchFamily="34" charset="-120"/>
              </a:rPr>
              <a:t>الوصول العضوي</a:t>
            </a:r>
            <a:endParaRPr lang="en-US" sz="1150" dirty="0"/>
          </a:p>
        </p:txBody>
      </p:sp>
      <p:sp>
        <p:nvSpPr>
          <p:cNvPr id="27" name="Shape 25"/>
          <p:cNvSpPr/>
          <p:nvPr/>
        </p:nvSpPr>
        <p:spPr>
          <a:xfrm>
            <a:off x="566928" y="4669536"/>
            <a:ext cx="3640684" cy="1347216"/>
          </a:xfrm>
          <a:prstGeom prst="roundRect">
            <a:avLst>
              <a:gd name="adj" fmla="val 6109"/>
            </a:avLst>
          </a:prstGeom>
          <a:solidFill>
            <a:srgbClr val="18323A">
              <a:alpha val="78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8" name="Text 26"/>
          <p:cNvSpPr txBox="1"/>
          <p:nvPr/>
        </p:nvSpPr>
        <p:spPr>
          <a:xfrm>
            <a:off x="804672" y="4852416"/>
            <a:ext cx="3165196" cy="292608"/>
          </a:xfrm>
          <a:prstGeom prst="rect">
            <a:avLst/>
          </a:prstGeom>
          <a:noFill/>
          <a:ln/>
        </p:spPr>
        <p:txBody>
          <a:bodyPr wrap="square" lIns="0" tIns="0" rIns="0" bIns="0" rtlCol="0" anchor="t"/>
          <a:lstStyle/>
          <a:p>
            <a:pPr rtl="1" algn="r" indent="0" marL="0">
              <a:lnSpc>
                <a:spcPct val="100000"/>
              </a:lnSpc>
              <a:buNone/>
            </a:pPr>
            <a:r>
              <a:rPr lang="ar-EG" sz="1300" b="1" dirty="0">
                <a:solidFill>
                  <a:srgbClr val="5EDCB0"/>
                </a:solidFill>
                <a:latin typeface="Segoe UI" pitchFamily="34" charset="0"/>
                <a:ea typeface="Segoe UI" pitchFamily="34" charset="-122"/>
                <a:cs typeface="Segoe UI" pitchFamily="34" charset="-120"/>
              </a:rPr>
              <a:t>الخلاصة</a:t>
            </a:r>
            <a:endParaRPr lang="en-US" sz="1300" dirty="0"/>
          </a:p>
        </p:txBody>
      </p:sp>
      <p:sp>
        <p:nvSpPr>
          <p:cNvPr id="29" name="Text 27"/>
          <p:cNvSpPr txBox="1"/>
          <p:nvPr/>
        </p:nvSpPr>
        <p:spPr>
          <a:xfrm>
            <a:off x="804672" y="5199888"/>
            <a:ext cx="3165196" cy="615696"/>
          </a:xfrm>
          <a:prstGeom prst="rect">
            <a:avLst/>
          </a:prstGeom>
          <a:noFill/>
          <a:ln/>
        </p:spPr>
        <p:txBody>
          <a:bodyPr wrap="square" lIns="0" tIns="0" rIns="0" bIns="0" rtlCol="0" anchor="t"/>
          <a:lstStyle/>
          <a:p>
            <a:pPr rtl="1" algn="r" indent="0" marL="0">
              <a:lnSpc>
                <a:spcPct val="118000"/>
              </a:lnSpc>
              <a:buNone/>
            </a:pPr>
            <a:r>
              <a:rPr lang="ar-EG" sz="1150" dirty="0">
                <a:solidFill>
                  <a:srgbClr val="B9CBC6"/>
                </a:solidFill>
                <a:latin typeface="Segoe UI" pitchFamily="34" charset="0"/>
                <a:ea typeface="Segoe UI" pitchFamily="34" charset="-122"/>
                <a:cs typeface="Segoe UI" pitchFamily="34" charset="-120"/>
              </a:rPr>
              <a:t xml:space="preserve">القناة الصح مش إعلان — هي </a:t>
            </a:r>
            <a:pPr rtl="1" algn="r" indent="0" marL="0">
              <a:lnSpc>
                <a:spcPct val="118000"/>
              </a:lnSpc>
              <a:buNone/>
            </a:pPr>
            <a:r>
              <a:rPr lang="ar-EG" sz="1150" b="1" dirty="0">
                <a:solidFill>
                  <a:srgbClr val="5EDCB0"/>
                </a:solidFill>
                <a:latin typeface="Segoe UI" pitchFamily="34" charset="0"/>
                <a:ea typeface="Segoe UI" pitchFamily="34" charset="-122"/>
                <a:cs typeface="Segoe UI" pitchFamily="34" charset="-120"/>
              </a:rPr>
              <a:t>المكان اللي الناس بتسأل فيه عن صحتها أصلًا</a:t>
            </a:r>
            <a:endParaRPr lang="en-US" sz="1150" dirty="0"/>
          </a:p>
        </p:txBody>
      </p:sp>
      <p:sp>
        <p:nvSpPr>
          <p:cNvPr id="30" name="Text 28"/>
          <p:cNvSpPr txBox="1"/>
          <p:nvPr/>
        </p:nvSpPr>
        <p:spPr>
          <a:xfrm>
            <a:off x="2304288" y="6309360"/>
            <a:ext cx="9320479" cy="347472"/>
          </a:xfrm>
          <a:prstGeom prst="rect">
            <a:avLst/>
          </a:prstGeom>
          <a:noFill/>
          <a:ln/>
        </p:spPr>
        <p:txBody>
          <a:bodyPr wrap="square" lIns="0" tIns="0" rIns="0" bIns="0" rtlCol="0" anchor="ctr"/>
          <a:lstStyle/>
          <a:p>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المصادر: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DataReportal</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Digital 2026</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Egypt</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(أكتوبر ٢٠٢٥)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PLOS ONE</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٢٠٢١</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الثقة</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بناء الثقة — قبل أي جنيه</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١٥ / ١٨</a:t>
            </a:r>
            <a:endParaRPr lang="en-US" sz="950" dirty="0"/>
          </a:p>
        </p:txBody>
      </p:sp>
      <p:sp>
        <p:nvSpPr>
          <p:cNvPr id="5" name="Shape 3"/>
          <p:cNvSpPr/>
          <p:nvPr/>
        </p:nvSpPr>
        <p:spPr>
          <a:xfrm>
            <a:off x="566928" y="1536192"/>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6" name="Text 4"/>
          <p:cNvSpPr/>
          <p:nvPr/>
        </p:nvSpPr>
        <p:spPr>
          <a:xfrm>
            <a:off x="10966399" y="1640586"/>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400" b="1" dirty="0">
                <a:solidFill>
                  <a:srgbClr val="06181A"/>
                </a:solidFill>
                <a:latin typeface="Segoe UI" pitchFamily="34" charset="0"/>
                <a:ea typeface="Segoe UI" pitchFamily="34" charset="-122"/>
                <a:cs typeface="Segoe UI" pitchFamily="34" charset="-120"/>
              </a:rPr>
              <a:t>✓</a:t>
            </a:r>
            <a:endParaRPr lang="en-US" sz="1400" dirty="0"/>
          </a:p>
        </p:txBody>
      </p:sp>
      <p:sp>
        <p:nvSpPr>
          <p:cNvPr id="7" name="Text 5"/>
          <p:cNvSpPr txBox="1"/>
          <p:nvPr/>
        </p:nvSpPr>
        <p:spPr>
          <a:xfrm>
            <a:off x="8378647" y="1536192"/>
            <a:ext cx="24414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FFFFFF"/>
                </a:solidFill>
                <a:latin typeface="Segoe UI" pitchFamily="34" charset="0"/>
                <a:ea typeface="Segoe UI" pitchFamily="34" charset="-122"/>
                <a:cs typeface="Segoe UI" pitchFamily="34" charset="-120"/>
              </a:rPr>
              <a:t>مجلس استشاري طبي</a:t>
            </a:r>
            <a:endParaRPr lang="en-US" sz="1350" dirty="0"/>
          </a:p>
        </p:txBody>
      </p:sp>
      <p:sp>
        <p:nvSpPr>
          <p:cNvPr id="8" name="Text 6"/>
          <p:cNvSpPr txBox="1"/>
          <p:nvPr/>
        </p:nvSpPr>
        <p:spPr>
          <a:xfrm>
            <a:off x="841248" y="1536192"/>
            <a:ext cx="75373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استشاري مخ وأعصاب + استشاري قلب + طبيب طوارئ — </a:t>
            </a:r>
            <a:pPr rtl="1" algn="r" indent="0" marL="0">
              <a:lnSpc>
                <a:spcPct val="110000"/>
              </a:lnSpc>
              <a:buNone/>
            </a:pPr>
            <a:r>
              <a:rPr lang="ar-EG" sz="1300" b="1" dirty="0">
                <a:solidFill>
                  <a:srgbClr val="5EDCB0"/>
                </a:solidFill>
                <a:latin typeface="Segoe UI" pitchFamily="34" charset="0"/>
                <a:ea typeface="Segoe UI" pitchFamily="34" charset="-122"/>
                <a:cs typeface="Segoe UI" pitchFamily="34" charset="-120"/>
              </a:rPr>
              <a:t>مراجعة المحتوى دوريًا</a:t>
            </a:r>
            <a:endParaRPr lang="en-US" sz="1300" dirty="0"/>
          </a:p>
        </p:txBody>
      </p:sp>
      <p:sp>
        <p:nvSpPr>
          <p:cNvPr id="9" name="Shape 7"/>
          <p:cNvSpPr/>
          <p:nvPr/>
        </p:nvSpPr>
        <p:spPr>
          <a:xfrm>
            <a:off x="566928" y="2302764"/>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0" name="Text 8"/>
          <p:cNvSpPr/>
          <p:nvPr/>
        </p:nvSpPr>
        <p:spPr>
          <a:xfrm>
            <a:off x="10966399" y="2407158"/>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400" b="1" dirty="0">
                <a:solidFill>
                  <a:srgbClr val="06181A"/>
                </a:solidFill>
                <a:latin typeface="Segoe UI" pitchFamily="34" charset="0"/>
                <a:ea typeface="Segoe UI" pitchFamily="34" charset="-122"/>
                <a:cs typeface="Segoe UI" pitchFamily="34" charset="-120"/>
              </a:rPr>
              <a:t>✓</a:t>
            </a:r>
            <a:endParaRPr lang="en-US" sz="1400" dirty="0"/>
          </a:p>
        </p:txBody>
      </p:sp>
      <p:sp>
        <p:nvSpPr>
          <p:cNvPr id="11" name="Text 9"/>
          <p:cNvSpPr txBox="1"/>
          <p:nvPr/>
        </p:nvSpPr>
        <p:spPr>
          <a:xfrm>
            <a:off x="8378647" y="2302764"/>
            <a:ext cx="24414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FFFFFF"/>
                </a:solidFill>
                <a:latin typeface="Segoe UI" pitchFamily="34" charset="0"/>
                <a:ea typeface="Segoe UI" pitchFamily="34" charset="-122"/>
                <a:cs typeface="Segoe UI" pitchFamily="34" charset="-120"/>
              </a:rPr>
              <a:t>شفافية المصادر</a:t>
            </a:r>
            <a:endParaRPr lang="en-US" sz="1350" dirty="0"/>
          </a:p>
        </p:txBody>
      </p:sp>
      <p:sp>
        <p:nvSpPr>
          <p:cNvPr id="12" name="Text 10"/>
          <p:cNvSpPr txBox="1"/>
          <p:nvPr/>
        </p:nvSpPr>
        <p:spPr>
          <a:xfrm>
            <a:off x="841248" y="2302764"/>
            <a:ext cx="75373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كل رد بلينكه — المستخدم يقدر يتأكد بنفسه، ودي </a:t>
            </a:r>
            <a:pPr rtl="1" algn="r" indent="0" marL="0">
              <a:lnSpc>
                <a:spcPct val="110000"/>
              </a:lnSpc>
              <a:buNone/>
            </a:pPr>
            <a:r>
              <a:rPr lang="ar-EG" sz="1300" b="1" dirty="0">
                <a:solidFill>
                  <a:srgbClr val="5EDCB0"/>
                </a:solidFill>
                <a:latin typeface="Segoe UI" pitchFamily="34" charset="0"/>
                <a:ea typeface="Segoe UI" pitchFamily="34" charset="-122"/>
                <a:cs typeface="Segoe UI" pitchFamily="34" charset="-120"/>
              </a:rPr>
              <a:t>ميزة مش عبء</a:t>
            </a:r>
            <a:endParaRPr lang="en-US" sz="1300" dirty="0"/>
          </a:p>
        </p:txBody>
      </p:sp>
      <p:sp>
        <p:nvSpPr>
          <p:cNvPr id="13" name="Shape 11"/>
          <p:cNvSpPr/>
          <p:nvPr/>
        </p:nvSpPr>
        <p:spPr>
          <a:xfrm>
            <a:off x="566928" y="3069336"/>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4" name="Text 12"/>
          <p:cNvSpPr/>
          <p:nvPr/>
        </p:nvSpPr>
        <p:spPr>
          <a:xfrm>
            <a:off x="10966399" y="3173730"/>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400" b="1" dirty="0">
                <a:solidFill>
                  <a:srgbClr val="06181A"/>
                </a:solidFill>
                <a:latin typeface="Segoe UI" pitchFamily="34" charset="0"/>
                <a:ea typeface="Segoe UI" pitchFamily="34" charset="-122"/>
                <a:cs typeface="Segoe UI" pitchFamily="34" charset="-120"/>
              </a:rPr>
              <a:t>✓</a:t>
            </a:r>
            <a:endParaRPr lang="en-US" sz="1400" dirty="0"/>
          </a:p>
        </p:txBody>
      </p:sp>
      <p:sp>
        <p:nvSpPr>
          <p:cNvPr id="15" name="Text 13"/>
          <p:cNvSpPr txBox="1"/>
          <p:nvPr/>
        </p:nvSpPr>
        <p:spPr>
          <a:xfrm>
            <a:off x="8378647" y="3069336"/>
            <a:ext cx="24414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FFFFFF"/>
                </a:solidFill>
                <a:latin typeface="Segoe UI" pitchFamily="34" charset="0"/>
                <a:ea typeface="Segoe UI" pitchFamily="34" charset="-122"/>
                <a:cs typeface="Segoe UI" pitchFamily="34" charset="-120"/>
              </a:rPr>
              <a:t>حدود معلنة</a:t>
            </a:r>
            <a:endParaRPr lang="en-US" sz="1350" dirty="0"/>
          </a:p>
        </p:txBody>
      </p:sp>
      <p:sp>
        <p:nvSpPr>
          <p:cNvPr id="16" name="Text 14"/>
          <p:cNvSpPr txBox="1"/>
          <p:nvPr/>
        </p:nvSpPr>
        <p:spPr>
          <a:xfrm>
            <a:off x="841248" y="3069336"/>
            <a:ext cx="75373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«مش بديل عن دكتور» مكتوبة </a:t>
            </a:r>
            <a:pPr rtl="1" algn="r" indent="0" marL="0">
              <a:lnSpc>
                <a:spcPct val="110000"/>
              </a:lnSpc>
              <a:buNone/>
            </a:pPr>
            <a:r>
              <a:rPr lang="ar-EG" sz="1300" b="1" dirty="0">
                <a:solidFill>
                  <a:srgbClr val="5EDCB0"/>
                </a:solidFill>
                <a:latin typeface="Segoe UI" pitchFamily="34" charset="0"/>
                <a:ea typeface="Segoe UI" pitchFamily="34" charset="-122"/>
                <a:cs typeface="Segoe UI" pitchFamily="34" charset="-120"/>
              </a:rPr>
              <a:t>في الواجهة</a:t>
            </a:r>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مش في شروط الاستخدام</a:t>
            </a:r>
            <a:endParaRPr lang="en-US" sz="1300" dirty="0"/>
          </a:p>
        </p:txBody>
      </p:sp>
      <p:sp>
        <p:nvSpPr>
          <p:cNvPr id="17" name="Shape 15"/>
          <p:cNvSpPr/>
          <p:nvPr/>
        </p:nvSpPr>
        <p:spPr>
          <a:xfrm>
            <a:off x="566928" y="3835908"/>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8" name="Text 16"/>
          <p:cNvSpPr/>
          <p:nvPr/>
        </p:nvSpPr>
        <p:spPr>
          <a:xfrm>
            <a:off x="10966399" y="3940302"/>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400" b="1" dirty="0">
                <a:solidFill>
                  <a:srgbClr val="06181A"/>
                </a:solidFill>
                <a:latin typeface="Segoe UI" pitchFamily="34" charset="0"/>
                <a:ea typeface="Segoe UI" pitchFamily="34" charset="-122"/>
                <a:cs typeface="Segoe UI" pitchFamily="34" charset="-120"/>
              </a:rPr>
              <a:t>✓</a:t>
            </a:r>
            <a:endParaRPr lang="en-US" sz="1400" dirty="0"/>
          </a:p>
        </p:txBody>
      </p:sp>
      <p:sp>
        <p:nvSpPr>
          <p:cNvPr id="19" name="Text 17"/>
          <p:cNvSpPr txBox="1"/>
          <p:nvPr/>
        </p:nvSpPr>
        <p:spPr>
          <a:xfrm>
            <a:off x="8378647" y="3835908"/>
            <a:ext cx="24414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FFFFFF"/>
                </a:solidFill>
                <a:latin typeface="Segoe UI" pitchFamily="34" charset="0"/>
                <a:ea typeface="Segoe UI" pitchFamily="34" charset="-122"/>
                <a:cs typeface="Segoe UI" pitchFamily="34" charset="-120"/>
              </a:rPr>
              <a:t>رفض بدل تخمين</a:t>
            </a:r>
            <a:endParaRPr lang="en-US" sz="1350" dirty="0"/>
          </a:p>
        </p:txBody>
      </p:sp>
      <p:sp>
        <p:nvSpPr>
          <p:cNvPr id="20" name="Text 18"/>
          <p:cNvSpPr txBox="1"/>
          <p:nvPr/>
        </p:nvSpPr>
        <p:spPr>
          <a:xfrm>
            <a:off x="841248" y="3835908"/>
            <a:ext cx="75373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السؤال بره النطاق بيترفض — وده </a:t>
            </a:r>
            <a:pPr rtl="1" algn="r" indent="0" marL="0">
              <a:lnSpc>
                <a:spcPct val="110000"/>
              </a:lnSpc>
              <a:buNone/>
            </a:pPr>
            <a:r>
              <a:rPr lang="ar-EG" sz="1300" b="1" dirty="0">
                <a:solidFill>
                  <a:srgbClr val="5EDCB0"/>
                </a:solidFill>
                <a:latin typeface="Segoe UI" pitchFamily="34" charset="0"/>
                <a:ea typeface="Segoe UI" pitchFamily="34" charset="-122"/>
                <a:cs typeface="Segoe UI" pitchFamily="34" charset="-120"/>
              </a:rPr>
              <a:t>بيتقاس ويتعرض</a:t>
            </a:r>
            <a:endParaRPr lang="en-US" sz="1300" dirty="0"/>
          </a:p>
        </p:txBody>
      </p:sp>
      <p:sp>
        <p:nvSpPr>
          <p:cNvPr id="21" name="Shape 19"/>
          <p:cNvSpPr/>
          <p:nvPr/>
        </p:nvSpPr>
        <p:spPr>
          <a:xfrm>
            <a:off x="566928" y="4602480"/>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2" name="Text 20"/>
          <p:cNvSpPr/>
          <p:nvPr/>
        </p:nvSpPr>
        <p:spPr>
          <a:xfrm>
            <a:off x="10966399" y="4706874"/>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400" b="1" dirty="0">
                <a:solidFill>
                  <a:srgbClr val="06181A"/>
                </a:solidFill>
                <a:latin typeface="Segoe UI" pitchFamily="34" charset="0"/>
                <a:ea typeface="Segoe UI" pitchFamily="34" charset="-122"/>
                <a:cs typeface="Segoe UI" pitchFamily="34" charset="-120"/>
              </a:rPr>
              <a:t>✓</a:t>
            </a:r>
            <a:endParaRPr lang="en-US" sz="1400" dirty="0"/>
          </a:p>
        </p:txBody>
      </p:sp>
      <p:sp>
        <p:nvSpPr>
          <p:cNvPr id="23" name="Text 21"/>
          <p:cNvSpPr txBox="1"/>
          <p:nvPr/>
        </p:nvSpPr>
        <p:spPr>
          <a:xfrm>
            <a:off x="8378647" y="4602480"/>
            <a:ext cx="24414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FFFFFF"/>
                </a:solidFill>
                <a:latin typeface="Segoe UI" pitchFamily="34" charset="0"/>
                <a:ea typeface="Segoe UI" pitchFamily="34" charset="-122"/>
                <a:cs typeface="Segoe UI" pitchFamily="34" charset="-120"/>
              </a:rPr>
              <a:t>خصوصية</a:t>
            </a:r>
            <a:endParaRPr lang="en-US" sz="1350" dirty="0"/>
          </a:p>
        </p:txBody>
      </p:sp>
      <p:sp>
        <p:nvSpPr>
          <p:cNvPr id="24" name="Text 22"/>
          <p:cNvSpPr txBox="1"/>
          <p:nvPr/>
        </p:nvSpPr>
        <p:spPr>
          <a:xfrm>
            <a:off x="841248" y="4602480"/>
            <a:ext cx="75373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 xml:space="preserve">البيانات الصحية أخطر من الفلوس — </a:t>
            </a:r>
            <a:pPr rtl="1" algn="r" indent="0" marL="0">
              <a:lnSpc>
                <a:spcPct val="110000"/>
              </a:lnSpc>
              <a:buNone/>
            </a:pPr>
            <a:r>
              <a:rPr lang="ar-EG" sz="1300" b="1" dirty="0">
                <a:solidFill>
                  <a:srgbClr val="5EDCB0"/>
                </a:solidFill>
                <a:latin typeface="Segoe UI" pitchFamily="34" charset="0"/>
                <a:ea typeface="Segoe UI" pitchFamily="34" charset="-122"/>
                <a:cs typeface="Segoe UI" pitchFamily="34" charset="-120"/>
              </a:rPr>
              <a:t>تشفير، تقليل الجمع، وحق المسح</a:t>
            </a:r>
            <a:endParaRPr lang="en-US" sz="1300" dirty="0"/>
          </a:p>
        </p:txBody>
      </p:sp>
      <p:sp>
        <p:nvSpPr>
          <p:cNvPr id="25" name="Shape 23"/>
          <p:cNvSpPr/>
          <p:nvPr/>
        </p:nvSpPr>
        <p:spPr>
          <a:xfrm>
            <a:off x="566928" y="5369052"/>
            <a:ext cx="11057839" cy="647700"/>
          </a:xfrm>
          <a:prstGeom prst="roundRect">
            <a:avLst>
              <a:gd name="adj" fmla="val 12706"/>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6" name="Text 24"/>
          <p:cNvSpPr/>
          <p:nvPr/>
        </p:nvSpPr>
        <p:spPr>
          <a:xfrm>
            <a:off x="10966399" y="5473446"/>
            <a:ext cx="438912" cy="438912"/>
          </a:xfrm>
          <a:prstGeom prst="roundRect">
            <a:avLst>
              <a:gd name="adj" fmla="val 50000"/>
            </a:avLst>
          </a:prstGeom>
          <a:solidFill>
            <a:srgbClr val="19A878"/>
          </a:solidFill>
          <a:ln w="9525">
            <a:solidFill>
              <a:srgbClr val="19A878"/>
            </a:solidFill>
          </a:ln>
        </p:spPr>
        <p:txBody>
          <a:bodyPr wrap="square" lIns="0" tIns="0" rIns="0" bIns="0" rtlCol="0" anchor="ctr"/>
          <a:lstStyle/>
          <a:p>
            <a:pPr algn="ctr" indent="0" marL="0">
              <a:buNone/>
            </a:pPr>
            <a:r>
              <a:rPr lang="ar-EG" sz="1400" b="1" dirty="0">
                <a:solidFill>
                  <a:srgbClr val="06181A"/>
                </a:solidFill>
                <a:latin typeface="Segoe UI" pitchFamily="34" charset="0"/>
                <a:ea typeface="Segoe UI" pitchFamily="34" charset="-122"/>
                <a:cs typeface="Segoe UI" pitchFamily="34" charset="-120"/>
              </a:rPr>
              <a:t>✓</a:t>
            </a:r>
            <a:endParaRPr lang="en-US" sz="1400" dirty="0"/>
          </a:p>
        </p:txBody>
      </p:sp>
      <p:sp>
        <p:nvSpPr>
          <p:cNvPr id="27" name="Text 25"/>
          <p:cNvSpPr txBox="1"/>
          <p:nvPr/>
        </p:nvSpPr>
        <p:spPr>
          <a:xfrm>
            <a:off x="8378647" y="5369052"/>
            <a:ext cx="2441448" cy="647700"/>
          </a:xfrm>
          <a:prstGeom prst="rect">
            <a:avLst/>
          </a:prstGeom>
          <a:noFill/>
          <a:ln/>
        </p:spPr>
        <p:txBody>
          <a:bodyPr wrap="square" lIns="0" tIns="0" rIns="0" bIns="0" rtlCol="0" anchor="ctr"/>
          <a:lstStyle/>
          <a:p>
            <a:pPr rtl="1" algn="r" indent="0" marL="0">
              <a:lnSpc>
                <a:spcPct val="105000"/>
              </a:lnSpc>
              <a:buNone/>
            </a:pPr>
            <a:r>
              <a:rPr lang="ar-EG" sz="1350" b="1" dirty="0">
                <a:solidFill>
                  <a:srgbClr val="FFFFFF"/>
                </a:solidFill>
                <a:latin typeface="Segoe UI" pitchFamily="34" charset="0"/>
                <a:ea typeface="Segoe UI" pitchFamily="34" charset="-122"/>
                <a:cs typeface="Segoe UI" pitchFamily="34" charset="-120"/>
              </a:rPr>
              <a:t>تحقق إكلينيكي منشور</a:t>
            </a:r>
            <a:endParaRPr lang="en-US" sz="1350" dirty="0"/>
          </a:p>
        </p:txBody>
      </p:sp>
      <p:sp>
        <p:nvSpPr>
          <p:cNvPr id="28" name="Text 26"/>
          <p:cNvSpPr txBox="1"/>
          <p:nvPr/>
        </p:nvSpPr>
        <p:spPr>
          <a:xfrm>
            <a:off x="841248" y="5369052"/>
            <a:ext cx="7537399" cy="647700"/>
          </a:xfrm>
          <a:prstGeom prst="rect">
            <a:avLst/>
          </a:prstGeom>
          <a:noFill/>
          <a:ln/>
        </p:spPr>
        <p:txBody>
          <a:bodyPr wrap="square" lIns="0" tIns="0" rIns="0" bIns="0" rtlCol="0" anchor="ctr"/>
          <a:lstStyle/>
          <a:p>
            <a:pPr rtl="1" algn="r" indent="0" marL="0">
              <a:lnSpc>
                <a:spcPct val="110000"/>
              </a:lnSpc>
              <a:buNone/>
            </a:pPr>
            <a:r>
              <a:rPr lang="ar-EG" sz="1300" dirty="0">
                <a:solidFill>
                  <a:srgbClr val="B9CBC6"/>
                </a:solidFill>
                <a:latin typeface="Segoe UI" pitchFamily="34" charset="0"/>
                <a:ea typeface="Segoe UI" pitchFamily="34" charset="-122"/>
                <a:cs typeface="Segoe UI" pitchFamily="34" charset="-120"/>
              </a:rPr>
              <a:t>قياس دقة الفرز على حالات حقيقية و</a:t>
            </a:r>
            <a:pPr rtl="1" algn="r" indent="0" marL="0">
              <a:lnSpc>
                <a:spcPct val="110000"/>
              </a:lnSpc>
              <a:buNone/>
            </a:pPr>
            <a:r>
              <a:rPr lang="ar-EG" sz="1300" b="1" dirty="0">
                <a:solidFill>
                  <a:srgbClr val="5EDCB0"/>
                </a:solidFill>
                <a:latin typeface="Segoe UI" pitchFamily="34" charset="0"/>
                <a:ea typeface="Segoe UI" pitchFamily="34" charset="-122"/>
                <a:cs typeface="Segoe UI" pitchFamily="34" charset="-120"/>
              </a:rPr>
              <a:t>نشر النتيجة حتى لو مش مثالية</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الأعمال</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نموذج الربح — والأخلاقيات أولًا</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١٦ / ١٨</a:t>
            </a:r>
            <a:endParaRPr lang="en-US" sz="950" dirty="0"/>
          </a:p>
        </p:txBody>
      </p:sp>
      <p:sp>
        <p:nvSpPr>
          <p:cNvPr id="5" name="Shape 3"/>
          <p:cNvSpPr/>
          <p:nvPr/>
        </p:nvSpPr>
        <p:spPr>
          <a:xfrm>
            <a:off x="566928" y="1536192"/>
            <a:ext cx="11057839" cy="786384"/>
          </a:xfrm>
          <a:prstGeom prst="roundRect">
            <a:avLst>
              <a:gd name="adj" fmla="val 10465"/>
            </a:avLst>
          </a:prstGeom>
          <a:solidFill>
            <a:srgbClr val="D94B4B">
              <a:alpha val="20000"/>
            </a:srgbClr>
          </a:solidFill>
          <a:ln w="12700">
            <a:solidFill>
              <a:srgbClr val="D94B4B"/>
            </a:solidFill>
            <a:prstDash val="solid"/>
          </a:ln>
          <a:effectLst>
            <a:outerShdw sx="100000" sy="100000" kx="0" ky="0" algn="bl" rotWithShape="0" blurRad="152400" dist="25400" dir="5400000">
              <a:srgbClr val="000000">
                <a:alpha val="30000"/>
              </a:srgbClr>
            </a:outerShdw>
          </a:effectLst>
        </p:spPr>
      </p:sp>
      <p:sp>
        <p:nvSpPr>
          <p:cNvPr id="6" name="Shape 4"/>
          <p:cNvSpPr/>
          <p:nvPr/>
        </p:nvSpPr>
        <p:spPr>
          <a:xfrm>
            <a:off x="11149279" y="1837944"/>
            <a:ext cx="182880" cy="182880"/>
          </a:xfrm>
          <a:prstGeom prst="ellipse">
            <a:avLst/>
          </a:prstGeom>
          <a:solidFill>
            <a:srgbClr val="D94B4B"/>
          </a:solidFill>
          <a:ln w="12700">
            <a:solidFill>
              <a:srgbClr val="D94B4B"/>
            </a:solidFill>
            <a:prstDash val="solid"/>
          </a:ln>
        </p:spPr>
      </p:sp>
      <p:sp>
        <p:nvSpPr>
          <p:cNvPr id="7" name="Text 5"/>
          <p:cNvSpPr txBox="1"/>
          <p:nvPr/>
        </p:nvSpPr>
        <p:spPr>
          <a:xfrm>
            <a:off x="877824" y="1536192"/>
            <a:ext cx="9960559" cy="786384"/>
          </a:xfrm>
          <a:prstGeom prst="rect">
            <a:avLst/>
          </a:prstGeom>
          <a:noFill/>
          <a:ln/>
        </p:spPr>
        <p:txBody>
          <a:bodyPr wrap="square" lIns="0" tIns="0" rIns="0" bIns="0" rtlCol="0" anchor="ctr"/>
          <a:lstStyle/>
          <a:p>
            <a:pPr rtl="1" algn="r" indent="0" marL="0">
              <a:lnSpc>
                <a:spcPct val="105000"/>
              </a:lnSpc>
              <a:buNone/>
            </a:pPr>
            <a:r>
              <a:rPr lang="ar-EG" sz="1500" b="1" dirty="0">
                <a:solidFill>
                  <a:srgbClr val="FFFFFF"/>
                </a:solidFill>
                <a:latin typeface="Segoe UI" pitchFamily="34" charset="0"/>
                <a:ea typeface="Segoe UI" pitchFamily="34" charset="-122"/>
                <a:cs typeface="Segoe UI" pitchFamily="34" charset="-120"/>
              </a:rPr>
              <a:t>قاعدة ثابتة: مميزات الطوارئ مجانية للأبد</a:t>
            </a:r>
            <a:pPr rtl="1" algn="r" indent="0" marL="0">
              <a:lnSpc>
                <a:spcPct val="105000"/>
              </a:lnSpc>
              <a:buNone/>
            </a:pPr>
            <a:r>
              <a:rPr lang="ar-EG" sz="1500" dirty="0">
                <a:solidFill>
                  <a:srgbClr val="FFFFFF"/>
                </a:solidFill>
                <a:latin typeface="Segoe UI" pitchFamily="34" charset="0"/>
                <a:ea typeface="Segoe UI" pitchFamily="34" charset="-122"/>
                <a:cs typeface="Segoe UI" pitchFamily="34" charset="-120"/>
              </a:rPr>
              <a:t xml:space="preserve"> — الفرز، التصعيد، الإبلاغ. مفيش </a:t>
            </a:r>
            <a:pPr rtl="1" algn="r" indent="0" marL="0">
              <a:lnSpc>
                <a:spcPct val="105000"/>
              </a:lnSpc>
              <a:buNone/>
            </a:pPr>
            <a:r>
              <a:rPr lang="en-US" sz="1500" dirty="0">
                <a:solidFill>
                  <a:srgbClr val="FFFFFF"/>
                </a:solidFill>
                <a:latin typeface="Segoe UI" pitchFamily="34" charset="0"/>
                <a:ea typeface="Segoe UI" pitchFamily="34" charset="-122"/>
                <a:cs typeface="Segoe UI" pitchFamily="34" charset="-120"/>
              </a:rPr>
              <a:t>paywall</a:t>
            </a:r>
            <a:pPr rtl="1" algn="r" indent="0" marL="0">
              <a:lnSpc>
                <a:spcPct val="105000"/>
              </a:lnSpc>
              <a:buNone/>
            </a:pPr>
            <a:r>
              <a:rPr lang="ar-EG" sz="1500" dirty="0">
                <a:solidFill>
                  <a:srgbClr val="FFFFFF"/>
                </a:solidFill>
                <a:latin typeface="Segoe UI" pitchFamily="34" charset="0"/>
                <a:ea typeface="Segoe UI" pitchFamily="34" charset="-122"/>
                <a:cs typeface="Segoe UI" pitchFamily="34" charset="-120"/>
              </a:rPr>
              <a:t xml:space="preserve"> على حياة</a:t>
            </a:r>
            <a:endParaRPr lang="en-US" sz="1500" dirty="0"/>
          </a:p>
        </p:txBody>
      </p:sp>
      <p:sp>
        <p:nvSpPr>
          <p:cNvPr id="8" name="Shape 6"/>
          <p:cNvSpPr/>
          <p:nvPr/>
        </p:nvSpPr>
        <p:spPr>
          <a:xfrm>
            <a:off x="8121701" y="2542032"/>
            <a:ext cx="3503066" cy="1618488"/>
          </a:xfrm>
          <a:prstGeom prst="roundRect">
            <a:avLst>
              <a:gd name="adj" fmla="val 5085"/>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9" name="Text 7"/>
          <p:cNvSpPr/>
          <p:nvPr/>
        </p:nvSpPr>
        <p:spPr>
          <a:xfrm>
            <a:off x="10198303" y="2743200"/>
            <a:ext cx="1152144" cy="402336"/>
          </a:xfrm>
          <a:prstGeom prst="roundRect">
            <a:avLst>
              <a:gd name="adj" fmla="val 15909"/>
            </a:avLst>
          </a:prstGeom>
          <a:solidFill>
            <a:srgbClr val="18323A"/>
          </a:solidFill>
          <a:ln w="9525">
            <a:solidFill>
              <a:srgbClr val="2C464F"/>
            </a:solidFill>
          </a:ln>
        </p:spPr>
        <p:txBody>
          <a:bodyPr wrap="square" lIns="0" tIns="0" rIns="0" bIns="0" rtlCol="0" anchor="ctr"/>
          <a:lstStyle/>
          <a:p>
            <a:pPr rtl="1" algn="ctr" indent="0" marL="0">
              <a:buNone/>
            </a:pPr>
            <a:r>
              <a:rPr lang="en-US" sz="1150" b="1" dirty="0">
                <a:solidFill>
                  <a:srgbClr val="5EDCB0"/>
                </a:solidFill>
                <a:latin typeface="Segoe UI" pitchFamily="34" charset="0"/>
                <a:ea typeface="Segoe UI" pitchFamily="34" charset="-122"/>
                <a:cs typeface="Segoe UI" pitchFamily="34" charset="-120"/>
              </a:rPr>
              <a:t>Freemium</a:t>
            </a:r>
            <a:endParaRPr lang="en-US" sz="1150" dirty="0"/>
          </a:p>
        </p:txBody>
      </p:sp>
      <p:sp>
        <p:nvSpPr>
          <p:cNvPr id="10" name="Text 8"/>
          <p:cNvSpPr txBox="1"/>
          <p:nvPr/>
        </p:nvSpPr>
        <p:spPr>
          <a:xfrm>
            <a:off x="8377733" y="3273552"/>
            <a:ext cx="2991002" cy="685800"/>
          </a:xfrm>
          <a:prstGeom prst="rect">
            <a:avLst/>
          </a:prstGeom>
          <a:noFill/>
          <a:ln/>
        </p:spPr>
        <p:txBody>
          <a:bodyPr wrap="square" lIns="0" tIns="0" rIns="0" bIns="0" rtlCol="0" anchor="ctr"/>
          <a:lstStyle/>
          <a:p>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مجاني للفرز — والمدفوع = </a:t>
            </a:r>
            <a:pPr rtl="1" algn="r" indent="0" marL="0">
              <a:lnSpc>
                <a:spcPct val="120000"/>
              </a:lnSpc>
              <a:buNone/>
            </a:pPr>
            <a:r>
              <a:rPr lang="ar-EG" sz="1250" b="1" dirty="0">
                <a:solidFill>
                  <a:srgbClr val="FFFFFF"/>
                </a:solidFill>
                <a:latin typeface="Segoe UI" pitchFamily="34" charset="0"/>
                <a:ea typeface="Segoe UI" pitchFamily="34" charset="-122"/>
                <a:cs typeface="Segoe UI" pitchFamily="34" charset="-120"/>
              </a:rPr>
              <a:t>سجل صحي موسّع، تقارير، ومتابعة للحالات المزمنة</a:t>
            </a:r>
            <a:endParaRPr lang="en-US" sz="1250" dirty="0"/>
          </a:p>
        </p:txBody>
      </p:sp>
      <p:sp>
        <p:nvSpPr>
          <p:cNvPr id="11" name="Shape 9"/>
          <p:cNvSpPr/>
          <p:nvPr/>
        </p:nvSpPr>
        <p:spPr>
          <a:xfrm>
            <a:off x="4344314" y="2542032"/>
            <a:ext cx="3503066" cy="1618488"/>
          </a:xfrm>
          <a:prstGeom prst="roundRect">
            <a:avLst>
              <a:gd name="adj" fmla="val 5085"/>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2" name="Text 10"/>
          <p:cNvSpPr/>
          <p:nvPr/>
        </p:nvSpPr>
        <p:spPr>
          <a:xfrm>
            <a:off x="6000293" y="2743200"/>
            <a:ext cx="1572768" cy="402336"/>
          </a:xfrm>
          <a:prstGeom prst="roundRect">
            <a:avLst>
              <a:gd name="adj" fmla="val 15909"/>
            </a:avLst>
          </a:prstGeom>
          <a:solidFill>
            <a:srgbClr val="18323A"/>
          </a:solidFill>
          <a:ln w="9525">
            <a:solidFill>
              <a:srgbClr val="2C464F"/>
            </a:solidFill>
          </a:ln>
        </p:spPr>
        <p:txBody>
          <a:bodyPr wrap="square" lIns="0" tIns="0" rIns="0" bIns="0" rtlCol="0" anchor="ctr"/>
          <a:lstStyle/>
          <a:p>
            <a:pPr rtl="1" algn="ctr" indent="0" marL="0">
              <a:buNone/>
            </a:pPr>
            <a:r>
              <a:rPr lang="en-US" sz="1150" b="1" dirty="0">
                <a:solidFill>
                  <a:srgbClr val="5EDCB0"/>
                </a:solidFill>
                <a:latin typeface="Segoe UI" pitchFamily="34" charset="0"/>
                <a:ea typeface="Segoe UI" pitchFamily="34" charset="-122"/>
                <a:cs typeface="Segoe UI" pitchFamily="34" charset="-120"/>
              </a:rPr>
              <a:t>B2B</a:t>
            </a:r>
            <a:pPr rtl="1" algn="ctr" indent="0" marL="0">
              <a:buNone/>
            </a:pPr>
            <a:r>
              <a:rPr lang="ar-EG" sz="1150" b="1" dirty="0">
                <a:solidFill>
                  <a:srgbClr val="5EDCB0"/>
                </a:solidFill>
                <a:latin typeface="Segoe UI" pitchFamily="34" charset="0"/>
                <a:ea typeface="Segoe UI" pitchFamily="34" charset="-122"/>
                <a:cs typeface="Segoe UI" pitchFamily="34" charset="-120"/>
              </a:rPr>
              <a:t xml:space="preserve"> مستشفيات</a:t>
            </a:r>
            <a:endParaRPr lang="en-US" sz="1150" dirty="0"/>
          </a:p>
        </p:txBody>
      </p:sp>
      <p:sp>
        <p:nvSpPr>
          <p:cNvPr id="13" name="Text 11"/>
          <p:cNvSpPr txBox="1"/>
          <p:nvPr/>
        </p:nvSpPr>
        <p:spPr>
          <a:xfrm>
            <a:off x="4600346" y="3273552"/>
            <a:ext cx="2991002" cy="685800"/>
          </a:xfrm>
          <a:prstGeom prst="rect">
            <a:avLst/>
          </a:prstGeom>
          <a:noFill/>
          <a:ln/>
        </p:spPr>
        <p:txBody>
          <a:bodyPr wrap="square" lIns="0" tIns="0" rIns="0" bIns="0" rtlCol="0" anchor="ctr"/>
          <a:lstStyle/>
          <a:p>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نسخة </a:t>
            </a:r>
            <a:pPr rtl="1" algn="r" indent="0" marL="0">
              <a:lnSpc>
                <a:spcPct val="120000"/>
              </a:lnSpc>
              <a:buNone/>
            </a:pPr>
            <a:r>
              <a:rPr lang="en-US" sz="1250" b="1" dirty="0">
                <a:solidFill>
                  <a:srgbClr val="FFFFFF"/>
                </a:solidFill>
                <a:latin typeface="Segoe UI" pitchFamily="34" charset="0"/>
                <a:ea typeface="Segoe UI" pitchFamily="34" charset="-122"/>
                <a:cs typeface="Segoe UI" pitchFamily="34" charset="-120"/>
              </a:rPr>
              <a:t>white-label</a:t>
            </a:r>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 لفرز المكالمات الواردة وتقليل زحمة الطوارئ</a:t>
            </a:r>
            <a:endParaRPr lang="en-US" sz="1250" dirty="0"/>
          </a:p>
        </p:txBody>
      </p:sp>
      <p:sp>
        <p:nvSpPr>
          <p:cNvPr id="14" name="Shape 12"/>
          <p:cNvSpPr/>
          <p:nvPr/>
        </p:nvSpPr>
        <p:spPr>
          <a:xfrm>
            <a:off x="566928" y="2542032"/>
            <a:ext cx="3503066" cy="1618488"/>
          </a:xfrm>
          <a:prstGeom prst="roundRect">
            <a:avLst>
              <a:gd name="adj" fmla="val 5085"/>
            </a:avLst>
          </a:prstGeom>
          <a:solidFill>
            <a:srgbClr val="18323A">
              <a:alpha val="80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15" name="Text 13"/>
          <p:cNvSpPr/>
          <p:nvPr/>
        </p:nvSpPr>
        <p:spPr>
          <a:xfrm>
            <a:off x="2538374" y="2743200"/>
            <a:ext cx="1257300" cy="402336"/>
          </a:xfrm>
          <a:prstGeom prst="roundRect">
            <a:avLst>
              <a:gd name="adj" fmla="val 15909"/>
            </a:avLst>
          </a:prstGeom>
          <a:solidFill>
            <a:srgbClr val="19A878"/>
          </a:solidFill>
          <a:ln w="9525">
            <a:solidFill>
              <a:srgbClr val="19A878"/>
            </a:solidFill>
          </a:ln>
        </p:spPr>
        <p:txBody>
          <a:bodyPr wrap="square" lIns="0" tIns="0" rIns="0" bIns="0" rtlCol="0" anchor="ctr"/>
          <a:lstStyle/>
          <a:p>
            <a:pPr rtl="1" algn="ctr" indent="0" marL="0">
              <a:buNone/>
            </a:pPr>
            <a:r>
              <a:rPr lang="en-US" sz="1150" b="1" dirty="0">
                <a:solidFill>
                  <a:srgbClr val="06181A"/>
                </a:solidFill>
                <a:latin typeface="Segoe UI" pitchFamily="34" charset="0"/>
                <a:ea typeface="Segoe UI" pitchFamily="34" charset="-122"/>
                <a:cs typeface="Segoe UI" pitchFamily="34" charset="-120"/>
              </a:rPr>
              <a:t>B2B</a:t>
            </a:r>
            <a:pPr rtl="1" algn="ctr" indent="0" marL="0">
              <a:buNone/>
            </a:pPr>
            <a:r>
              <a:rPr lang="ar-EG" sz="1150" b="1" dirty="0">
                <a:solidFill>
                  <a:srgbClr val="06181A"/>
                </a:solidFill>
                <a:latin typeface="Segoe UI" pitchFamily="34" charset="0"/>
                <a:ea typeface="Segoe UI" pitchFamily="34" charset="-122"/>
                <a:cs typeface="Segoe UI" pitchFamily="34" charset="-120"/>
              </a:rPr>
              <a:t xml:space="preserve"> تأمين</a:t>
            </a:r>
            <a:endParaRPr lang="en-US" sz="1150" dirty="0"/>
          </a:p>
        </p:txBody>
      </p:sp>
      <p:sp>
        <p:nvSpPr>
          <p:cNvPr id="16" name="Text 14"/>
          <p:cNvSpPr txBox="1"/>
          <p:nvPr/>
        </p:nvSpPr>
        <p:spPr>
          <a:xfrm>
            <a:off x="822960" y="3273552"/>
            <a:ext cx="2991002" cy="685800"/>
          </a:xfrm>
          <a:prstGeom prst="rect">
            <a:avLst/>
          </a:prstGeom>
          <a:noFill/>
          <a:ln/>
        </p:spPr>
        <p:txBody>
          <a:bodyPr wrap="square" lIns="0" tIns="0" rIns="0" bIns="0" rtlCol="0" anchor="ctr"/>
          <a:lstStyle/>
          <a:p>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التأمين الصحي الشامل وصل </a:t>
            </a:r>
            <a:pPr rtl="1" algn="r" indent="0" marL="0">
              <a:lnSpc>
                <a:spcPct val="120000"/>
              </a:lnSpc>
              <a:buNone/>
            </a:pPr>
            <a:r>
              <a:rPr lang="ar-EG" sz="1250" b="1" dirty="0">
                <a:solidFill>
                  <a:srgbClr val="FFFFFF"/>
                </a:solidFill>
                <a:latin typeface="Segoe UI" pitchFamily="34" charset="0"/>
                <a:ea typeface="Segoe UI" pitchFamily="34" charset="-122"/>
                <a:cs typeface="Segoe UI" pitchFamily="34" charset="-120"/>
              </a:rPr>
              <a:t>١١ محافظة</a:t>
            </a:r>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 و</a:t>
            </a:r>
            <a:pPr rtl="1" algn="r" indent="0" marL="0">
              <a:lnSpc>
                <a:spcPct val="120000"/>
              </a:lnSpc>
              <a:buNone/>
            </a:pPr>
            <a:r>
              <a:rPr lang="ar-EG" sz="1250" b="1" dirty="0">
                <a:solidFill>
                  <a:srgbClr val="FFFFFF"/>
                </a:solidFill>
                <a:latin typeface="Segoe UI" pitchFamily="34" charset="0"/>
                <a:ea typeface="Segoe UI" pitchFamily="34" charset="-122"/>
                <a:cs typeface="Segoe UI" pitchFamily="34" charset="-120"/>
              </a:rPr>
              <a:t>٥٫٢ مليون</a:t>
            </a:r>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 مستفيد — سوق دافع حقيقي</a:t>
            </a:r>
            <a:endParaRPr lang="en-US" sz="1250" dirty="0"/>
          </a:p>
        </p:txBody>
      </p:sp>
      <p:sp>
        <p:nvSpPr>
          <p:cNvPr id="17" name="Shape 15"/>
          <p:cNvSpPr/>
          <p:nvPr/>
        </p:nvSpPr>
        <p:spPr>
          <a:xfrm>
            <a:off x="8121701" y="4398264"/>
            <a:ext cx="3503066" cy="1618488"/>
          </a:xfrm>
          <a:prstGeom prst="roundRect">
            <a:avLst>
              <a:gd name="adj" fmla="val 5085"/>
            </a:avLst>
          </a:prstGeom>
          <a:solidFill>
            <a:srgbClr val="172B34">
              <a:alpha val="82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8" name="Text 16"/>
          <p:cNvSpPr/>
          <p:nvPr/>
        </p:nvSpPr>
        <p:spPr>
          <a:xfrm>
            <a:off x="9567367" y="4599432"/>
            <a:ext cx="1783080" cy="402336"/>
          </a:xfrm>
          <a:prstGeom prst="roundRect">
            <a:avLst>
              <a:gd name="adj" fmla="val 15909"/>
            </a:avLst>
          </a:prstGeom>
          <a:solidFill>
            <a:srgbClr val="18323A"/>
          </a:solidFill>
          <a:ln w="9525">
            <a:solidFill>
              <a:srgbClr val="2C464F"/>
            </a:solidFill>
          </a:ln>
        </p:spPr>
        <p:txBody>
          <a:bodyPr wrap="square" lIns="0" tIns="0" rIns="0" bIns="0" rtlCol="0" anchor="ctr"/>
          <a:lstStyle/>
          <a:p>
            <a:pPr rtl="1" algn="ctr" indent="0" marL="0">
              <a:buNone/>
            </a:pPr>
            <a:r>
              <a:rPr lang="ar-EG" sz="1150" b="1" dirty="0">
                <a:solidFill>
                  <a:srgbClr val="5EDCB0"/>
                </a:solidFill>
                <a:latin typeface="Segoe UI" pitchFamily="34" charset="0"/>
                <a:ea typeface="Segoe UI" pitchFamily="34" charset="-122"/>
                <a:cs typeface="Segoe UI" pitchFamily="34" charset="-120"/>
              </a:rPr>
              <a:t>رفاهية الشركات</a:t>
            </a:r>
            <a:endParaRPr lang="en-US" sz="1150" dirty="0"/>
          </a:p>
        </p:txBody>
      </p:sp>
      <p:sp>
        <p:nvSpPr>
          <p:cNvPr id="19" name="Text 17"/>
          <p:cNvSpPr txBox="1"/>
          <p:nvPr/>
        </p:nvSpPr>
        <p:spPr>
          <a:xfrm>
            <a:off x="8377733" y="5129784"/>
            <a:ext cx="2991002" cy="685800"/>
          </a:xfrm>
          <a:prstGeom prst="rect">
            <a:avLst/>
          </a:prstGeom>
          <a:noFill/>
          <a:ln/>
        </p:spPr>
        <p:txBody>
          <a:bodyPr wrap="square" lIns="0" tIns="0" rIns="0" bIns="0" rtlCol="0" anchor="ctr"/>
          <a:lstStyle/>
          <a:p>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المصانع والشركات الكبيرة — فرز أولي للعمالة كجزء من </a:t>
            </a:r>
            <a:pPr rtl="1" algn="r" indent="0" marL="0">
              <a:lnSpc>
                <a:spcPct val="120000"/>
              </a:lnSpc>
              <a:buNone/>
            </a:pPr>
            <a:r>
              <a:rPr lang="ar-EG" sz="1250" b="1" dirty="0">
                <a:solidFill>
                  <a:srgbClr val="FFFFFF"/>
                </a:solidFill>
                <a:latin typeface="Segoe UI" pitchFamily="34" charset="0"/>
                <a:ea typeface="Segoe UI" pitchFamily="34" charset="-122"/>
                <a:cs typeface="Segoe UI" pitchFamily="34" charset="-120"/>
              </a:rPr>
              <a:t>السلامة المهنية</a:t>
            </a:r>
            <a:endParaRPr lang="en-US" sz="1250" dirty="0"/>
          </a:p>
        </p:txBody>
      </p:sp>
      <p:sp>
        <p:nvSpPr>
          <p:cNvPr id="20" name="Shape 18"/>
          <p:cNvSpPr/>
          <p:nvPr/>
        </p:nvSpPr>
        <p:spPr>
          <a:xfrm>
            <a:off x="4344314" y="4398264"/>
            <a:ext cx="3503066" cy="1618488"/>
          </a:xfrm>
          <a:prstGeom prst="roundRect">
            <a:avLst>
              <a:gd name="adj" fmla="val 5085"/>
            </a:avLst>
          </a:prstGeom>
          <a:solidFill>
            <a:srgbClr val="18323A">
              <a:alpha val="80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1" name="Text 19"/>
          <p:cNvSpPr/>
          <p:nvPr/>
        </p:nvSpPr>
        <p:spPr>
          <a:xfrm>
            <a:off x="6000293" y="4599432"/>
            <a:ext cx="1572768" cy="402336"/>
          </a:xfrm>
          <a:prstGeom prst="roundRect">
            <a:avLst>
              <a:gd name="adj" fmla="val 15909"/>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اشتراك عائلي</a:t>
            </a:r>
            <a:endParaRPr lang="en-US" sz="1150" dirty="0"/>
          </a:p>
        </p:txBody>
      </p:sp>
      <p:sp>
        <p:nvSpPr>
          <p:cNvPr id="22" name="Text 20"/>
          <p:cNvSpPr txBox="1"/>
          <p:nvPr/>
        </p:nvSpPr>
        <p:spPr>
          <a:xfrm>
            <a:off x="4600346" y="5129784"/>
            <a:ext cx="2991002" cy="685800"/>
          </a:xfrm>
          <a:prstGeom prst="rect">
            <a:avLst/>
          </a:prstGeom>
          <a:noFill/>
          <a:ln/>
        </p:spPr>
        <p:txBody>
          <a:bodyPr wrap="square" lIns="0" tIns="0" rIns="0" bIns="0" rtlCol="0" anchor="ctr"/>
          <a:lstStyle/>
          <a:p>
            <a:pPr rtl="1" algn="r" indent="0" marL="0">
              <a:lnSpc>
                <a:spcPct val="120000"/>
              </a:lnSpc>
              <a:buNone/>
            </a:pPr>
            <a:r>
              <a:rPr lang="ar-EG" sz="1250" b="1" dirty="0">
                <a:solidFill>
                  <a:srgbClr val="FFFFFF"/>
                </a:solidFill>
                <a:latin typeface="Segoe UI" pitchFamily="34" charset="0"/>
                <a:ea typeface="Segoe UI" pitchFamily="34" charset="-122"/>
                <a:cs typeface="Segoe UI" pitchFamily="34" charset="-120"/>
              </a:rPr>
              <a:t>٩٫٣ مليون</a:t>
            </a:r>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 مصري ٦٥+ (٨٫٨٪ من السكان) — الابن في الخليج يتابع أمه في القاهرة</a:t>
            </a:r>
            <a:endParaRPr lang="en-US" sz="1250" dirty="0"/>
          </a:p>
        </p:txBody>
      </p:sp>
      <p:sp>
        <p:nvSpPr>
          <p:cNvPr id="23" name="Shape 21"/>
          <p:cNvSpPr/>
          <p:nvPr/>
        </p:nvSpPr>
        <p:spPr>
          <a:xfrm>
            <a:off x="566928" y="4398264"/>
            <a:ext cx="3503066" cy="1618488"/>
          </a:xfrm>
          <a:prstGeom prst="roundRect">
            <a:avLst>
              <a:gd name="adj" fmla="val 5085"/>
            </a:avLst>
          </a:prstGeom>
          <a:solidFill>
            <a:srgbClr val="18323A">
              <a:alpha val="80000"/>
            </a:srgbClr>
          </a:solidFill>
          <a:ln w="9525">
            <a:solidFill>
              <a:srgbClr val="1E6B52"/>
            </a:solidFill>
            <a:prstDash val="solid"/>
          </a:ln>
          <a:effectLst>
            <a:outerShdw sx="100000" sy="100000" kx="0" ky="0" algn="bl" rotWithShape="0" blurRad="152400" dist="25400" dir="5400000">
              <a:srgbClr val="000000">
                <a:alpha val="30000"/>
              </a:srgbClr>
            </a:outerShdw>
          </a:effectLst>
        </p:spPr>
      </p:sp>
      <p:sp>
        <p:nvSpPr>
          <p:cNvPr id="24" name="Text 22"/>
          <p:cNvSpPr/>
          <p:nvPr/>
        </p:nvSpPr>
        <p:spPr>
          <a:xfrm>
            <a:off x="2328062" y="4599432"/>
            <a:ext cx="1467612" cy="402336"/>
          </a:xfrm>
          <a:prstGeom prst="roundRect">
            <a:avLst>
              <a:gd name="adj" fmla="val 15909"/>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منح ومنظمات</a:t>
            </a:r>
            <a:endParaRPr lang="en-US" sz="1150" dirty="0"/>
          </a:p>
        </p:txBody>
      </p:sp>
      <p:sp>
        <p:nvSpPr>
          <p:cNvPr id="25" name="Text 23"/>
          <p:cNvSpPr txBox="1"/>
          <p:nvPr/>
        </p:nvSpPr>
        <p:spPr>
          <a:xfrm>
            <a:off x="822960" y="5129784"/>
            <a:ext cx="2991002" cy="685800"/>
          </a:xfrm>
          <a:prstGeom prst="rect">
            <a:avLst/>
          </a:prstGeom>
          <a:noFill/>
          <a:ln/>
        </p:spPr>
        <p:txBody>
          <a:bodyPr wrap="square" lIns="0" tIns="0" rIns="0" bIns="0" rtlCol="0" anchor="ctr"/>
          <a:lstStyle/>
          <a:p>
            <a:pPr rtl="1" algn="r" indent="0" marL="0">
              <a:lnSpc>
                <a:spcPct val="120000"/>
              </a:lnSpc>
              <a:buNone/>
            </a:pPr>
            <a:r>
              <a:rPr lang="en-US" sz="1250" dirty="0">
                <a:solidFill>
                  <a:srgbClr val="B9CBC6"/>
                </a:solidFill>
                <a:latin typeface="Segoe UI" pitchFamily="34" charset="0"/>
                <a:ea typeface="Segoe UI" pitchFamily="34" charset="-122"/>
                <a:cs typeface="Segoe UI" pitchFamily="34" charset="-120"/>
              </a:rPr>
              <a:t>WHO / UNICEF / NGOs</a:t>
            </a:r>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 — الصحة الرقمية في الريف حيث </a:t>
            </a:r>
            <a:pPr rtl="1" algn="r" indent="0" marL="0">
              <a:lnSpc>
                <a:spcPct val="120000"/>
              </a:lnSpc>
              <a:buNone/>
            </a:pPr>
            <a:r>
              <a:rPr lang="ar-EG" sz="1250" b="1" dirty="0">
                <a:solidFill>
                  <a:srgbClr val="FFFFFF"/>
                </a:solidFill>
                <a:latin typeface="Segoe UI" pitchFamily="34" charset="0"/>
                <a:ea typeface="Segoe UI" pitchFamily="34" charset="-122"/>
                <a:cs typeface="Segoe UI" pitchFamily="34" charset="-120"/>
              </a:rPr>
              <a:t>١٢٪ بس</a:t>
            </a:r>
            <a:pPr rtl="1" algn="r" indent="0" marL="0">
              <a:lnSpc>
                <a:spcPct val="120000"/>
              </a:lnSpc>
              <a:buNone/>
            </a:pPr>
            <a:r>
              <a:rPr lang="ar-EG" sz="1250" dirty="0">
                <a:solidFill>
                  <a:srgbClr val="B9CBC6"/>
                </a:solidFill>
                <a:latin typeface="Segoe UI" pitchFamily="34" charset="0"/>
                <a:ea typeface="Segoe UI" pitchFamily="34" charset="-122"/>
                <a:cs typeface="Segoe UI" pitchFamily="34" charset="-120"/>
              </a:rPr>
              <a:t xml:space="preserve"> بيوصلوا في النافذة</a:t>
            </a:r>
            <a:endParaRPr lang="en-US" sz="1250" dirty="0"/>
          </a:p>
        </p:txBody>
      </p:sp>
      <p:sp>
        <p:nvSpPr>
          <p:cNvPr id="26" name="Text 24"/>
          <p:cNvSpPr txBox="1"/>
          <p:nvPr/>
        </p:nvSpPr>
        <p:spPr>
          <a:xfrm>
            <a:off x="2304288" y="6309360"/>
            <a:ext cx="9320479" cy="347472"/>
          </a:xfrm>
          <a:prstGeom prst="rect">
            <a:avLst/>
          </a:prstGeom>
          <a:noFill/>
          <a:ln/>
        </p:spPr>
        <p:txBody>
          <a:bodyPr wrap="square" lIns="0" tIns="0" rIns="0" bIns="0" rtlCol="0" anchor="ctr"/>
          <a:lstStyle/>
          <a:p>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المصادر: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Daily News Egypt</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٢٠٢٥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EnterpriseAM Egypt</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٢٠٢٦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CAPMAS</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عبر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Egypt Today</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٢٠٢٤ · </a:t>
            </a:r>
            <a:pPr rtl="1" algn="r" indent="0" marL="0">
              <a:lnSpc>
                <a:spcPct val="110000"/>
              </a:lnSpc>
              <a:buNone/>
            </a:pPr>
            <a:r>
              <a:rPr lang="en-US" sz="850" dirty="0">
                <a:solidFill>
                  <a:srgbClr val="8AA29D"/>
                </a:solidFill>
                <a:latin typeface="Segoe UI" pitchFamily="34" charset="0"/>
                <a:ea typeface="Segoe UI" pitchFamily="34" charset="-122"/>
                <a:cs typeface="Segoe UI" pitchFamily="34" charset="-120"/>
              </a:rPr>
              <a:t>Frontiers in Neurology</a:t>
            </a:r>
            <a:pPr rtl="1" algn="r" indent="0" marL="0">
              <a:lnSpc>
                <a:spcPct val="110000"/>
              </a:lnSpc>
              <a:buNone/>
            </a:pPr>
            <a:r>
              <a:rPr lang="ar-EG" sz="850" dirty="0">
                <a:solidFill>
                  <a:srgbClr val="8AA29D"/>
                </a:solidFill>
                <a:latin typeface="Segoe UI" pitchFamily="34" charset="0"/>
                <a:ea typeface="Segoe UI" pitchFamily="34" charset="-122"/>
                <a:cs typeface="Segoe UI" pitchFamily="34" charset="-120"/>
              </a:rPr>
              <a:t xml:space="preserve"> ٢٠٢٣</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65760"/>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التنفيذ</a:t>
            </a:r>
            <a:endParaRPr lang="en-US" sz="12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rtl="1" algn="r" indent="0" marL="0">
              <a:lnSpc>
                <a:spcPct val="108000"/>
              </a:lnSpc>
              <a:buNone/>
            </a:pPr>
            <a:r>
              <a:rPr lang="ar-EG" sz="2600" b="1" dirty="0">
                <a:solidFill>
                  <a:srgbClr val="FFFFFF"/>
                </a:solidFill>
                <a:latin typeface="Segoe UI" pitchFamily="34" charset="0"/>
                <a:ea typeface="Segoe UI" pitchFamily="34" charset="-122"/>
                <a:cs typeface="Segoe UI" pitchFamily="34" charset="-120"/>
              </a:rPr>
              <a:t>خريطة التنفيذ — أول ٦ شهور والسنة الأولى</a:t>
            </a:r>
            <a:endParaRPr lang="en-US" sz="2600" dirty="0"/>
          </a:p>
        </p:txBody>
      </p:sp>
      <p:sp>
        <p:nvSpPr>
          <p:cNvPr id="4" name="Text 2"/>
          <p:cNvSpPr txBox="1"/>
          <p:nvPr/>
        </p:nvSpPr>
        <p:spPr>
          <a:xfrm>
            <a:off x="566928" y="6345936"/>
            <a:ext cx="1463040" cy="274320"/>
          </a:xfrm>
          <a:prstGeom prst="rect">
            <a:avLst/>
          </a:prstGeom>
          <a:noFill/>
          <a:ln/>
        </p:spPr>
        <p:txBody>
          <a:bodyPr wrap="square" lIns="0" tIns="0" rIns="0" bIns="0" rtlCol="0" anchor="t"/>
          <a:lstStyle/>
          <a:p>
            <a:pPr algn="l" indent="0" marL="0">
              <a:buNone/>
            </a:pPr>
            <a:r>
              <a:rPr lang="ar-EG" sz="950" dirty="0">
                <a:solidFill>
                  <a:srgbClr val="8AA29D"/>
                </a:solidFill>
                <a:latin typeface="Segoe UI" pitchFamily="34" charset="0"/>
                <a:ea typeface="Segoe UI" pitchFamily="34" charset="-122"/>
                <a:cs typeface="Segoe UI" pitchFamily="34" charset="-120"/>
              </a:rPr>
              <a:t>١٧ / ١٨</a:t>
            </a:r>
            <a:endParaRPr lang="en-US" sz="950" dirty="0"/>
          </a:p>
        </p:txBody>
      </p:sp>
      <p:sp>
        <p:nvSpPr>
          <p:cNvPr id="5" name="Shape 3"/>
          <p:cNvSpPr/>
          <p:nvPr/>
        </p:nvSpPr>
        <p:spPr>
          <a:xfrm>
            <a:off x="9052331" y="1645920"/>
            <a:ext cx="2572436" cy="1901952"/>
          </a:xfrm>
          <a:prstGeom prst="roundRect">
            <a:avLst>
              <a:gd name="adj" fmla="val 4327"/>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6" name="Text 4"/>
          <p:cNvSpPr/>
          <p:nvPr/>
        </p:nvSpPr>
        <p:spPr>
          <a:xfrm>
            <a:off x="10326319" y="1847088"/>
            <a:ext cx="1097280" cy="402336"/>
          </a:xfrm>
          <a:prstGeom prst="roundRect">
            <a:avLst>
              <a:gd name="adj" fmla="val 15909"/>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شهر ١–٢</a:t>
            </a:r>
            <a:endParaRPr lang="en-US" sz="1150" dirty="0"/>
          </a:p>
        </p:txBody>
      </p:sp>
      <p:sp>
        <p:nvSpPr>
          <p:cNvPr id="7" name="Text 5"/>
          <p:cNvSpPr txBox="1"/>
          <p:nvPr/>
        </p:nvSpPr>
        <p:spPr>
          <a:xfrm>
            <a:off x="9290075" y="2377440"/>
            <a:ext cx="2096948" cy="969264"/>
          </a:xfrm>
          <a:prstGeom prst="rect">
            <a:avLst/>
          </a:prstGeom>
          <a:noFill/>
          <a:ln/>
        </p:spPr>
        <p:txBody>
          <a:bodyPr wrap="square" lIns="0" tIns="0" rIns="0" bIns="0" rtlCol="0" anchor="ctr"/>
          <a:lstStyle/>
          <a:p>
            <a:pPr rtl="1" algn="r" indent="0" marL="0">
              <a:lnSpc>
                <a:spcPct val="120000"/>
              </a:lnSpc>
              <a:buNone/>
            </a:pPr>
            <a:r>
              <a:rPr lang="ar-EG" sz="1150" dirty="0">
                <a:solidFill>
                  <a:srgbClr val="B9CBC6"/>
                </a:solidFill>
                <a:latin typeface="Segoe UI" pitchFamily="34" charset="0"/>
                <a:ea typeface="Segoe UI" pitchFamily="34" charset="-122"/>
                <a:cs typeface="Segoe UI" pitchFamily="34" charset="-120"/>
              </a:rPr>
              <a:t xml:space="preserve">تكامل </a:t>
            </a:r>
            <a:pPr rtl="1" algn="r" indent="0" marL="0">
              <a:lnSpc>
                <a:spcPct val="120000"/>
              </a:lnSpc>
              <a:buNone/>
            </a:pPr>
            <a:r>
              <a:rPr lang="en-US" sz="1150" b="1" dirty="0">
                <a:solidFill>
                  <a:srgbClr val="5EDCB0"/>
                </a:solidFill>
                <a:latin typeface="Segoe UI" pitchFamily="34" charset="0"/>
                <a:ea typeface="Segoe UI" pitchFamily="34" charset="-122"/>
                <a:cs typeface="Segoe UI" pitchFamily="34" charset="-120"/>
              </a:rPr>
              <a:t>SMS /</a:t>
            </a:r>
            <a:pPr rtl="1" algn="r" indent="0" marL="0">
              <a:lnSpc>
                <a:spcPct val="120000"/>
              </a:lnSpc>
              <a:buNone/>
            </a:pPr>
            <a:r>
              <a:rPr lang="ar-EG" sz="1150" b="1" dirty="0">
                <a:solidFill>
                  <a:srgbClr val="5EDCB0"/>
                </a:solidFill>
                <a:latin typeface="Segoe UI" pitchFamily="34" charset="0"/>
                <a:ea typeface="Segoe UI" pitchFamily="34" charset="-122"/>
                <a:cs typeface="Segoe UI" pitchFamily="34" charset="-120"/>
              </a:rPr>
              <a:t xml:space="preserve"> مكالمة حقيقية</a:t>
            </a:r>
            <a:pPr rtl="1" algn="r" indent="0" marL="0">
              <a:lnSpc>
                <a:spcPct val="120000"/>
              </a:lnSpc>
              <a:buNone/>
            </a:pPr>
            <a:r>
              <a:rPr lang="ar-EG" sz="1150" dirty="0">
                <a:solidFill>
                  <a:srgbClr val="B9CBC6"/>
                </a:solidFill>
                <a:latin typeface="Segoe UI" pitchFamily="34" charset="0"/>
                <a:ea typeface="Segoe UI" pitchFamily="34" charset="-122"/>
                <a:cs typeface="Segoe UI" pitchFamily="34" charset="-120"/>
              </a:rPr>
              <a:t xml:space="preserve"> مع مزوّد مرخّص + موافقة صريحة ← التصعيد يبقى فعلي</a:t>
            </a:r>
            <a:endParaRPr lang="en-US" sz="1150" dirty="0"/>
          </a:p>
        </p:txBody>
      </p:sp>
      <p:sp>
        <p:nvSpPr>
          <p:cNvPr id="8" name="Text 6"/>
          <p:cNvSpPr/>
          <p:nvPr/>
        </p:nvSpPr>
        <p:spPr>
          <a:xfrm>
            <a:off x="8796299" y="1645920"/>
            <a:ext cx="256032" cy="1901952"/>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9" name="Shape 7"/>
          <p:cNvSpPr/>
          <p:nvPr/>
        </p:nvSpPr>
        <p:spPr>
          <a:xfrm>
            <a:off x="6223864" y="1645920"/>
            <a:ext cx="2572436" cy="1901952"/>
          </a:xfrm>
          <a:prstGeom prst="roundRect">
            <a:avLst>
              <a:gd name="adj" fmla="val 4327"/>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0" name="Text 8"/>
          <p:cNvSpPr/>
          <p:nvPr/>
        </p:nvSpPr>
        <p:spPr>
          <a:xfrm>
            <a:off x="7497851" y="1847088"/>
            <a:ext cx="1097280" cy="402336"/>
          </a:xfrm>
          <a:prstGeom prst="roundRect">
            <a:avLst>
              <a:gd name="adj" fmla="val 15909"/>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شهر ٢–٣</a:t>
            </a:r>
            <a:endParaRPr lang="en-US" sz="1150" dirty="0"/>
          </a:p>
        </p:txBody>
      </p:sp>
      <p:sp>
        <p:nvSpPr>
          <p:cNvPr id="11" name="Text 9"/>
          <p:cNvSpPr txBox="1"/>
          <p:nvPr/>
        </p:nvSpPr>
        <p:spPr>
          <a:xfrm>
            <a:off x="6461608" y="2377440"/>
            <a:ext cx="2096948" cy="969264"/>
          </a:xfrm>
          <a:prstGeom prst="rect">
            <a:avLst/>
          </a:prstGeom>
          <a:noFill/>
          <a:ln/>
        </p:spPr>
        <p:txBody>
          <a:bodyPr wrap="square" lIns="0" tIns="0" rIns="0" bIns="0" rtlCol="0" anchor="ctr"/>
          <a:lstStyle/>
          <a:p>
            <a:pPr rtl="1" algn="r" indent="0" marL="0">
              <a:lnSpc>
                <a:spcPct val="120000"/>
              </a:lnSpc>
              <a:buNone/>
            </a:pPr>
            <a:r>
              <a:rPr lang="ar-EG" sz="1150" b="1" dirty="0">
                <a:solidFill>
                  <a:srgbClr val="5EDCB0"/>
                </a:solidFill>
                <a:latin typeface="Segoe UI" pitchFamily="34" charset="0"/>
                <a:ea typeface="Segoe UI" pitchFamily="34" charset="-122"/>
                <a:cs typeface="Segoe UI" pitchFamily="34" charset="-120"/>
              </a:rPr>
              <a:t>مجلس استشاري طبي</a:t>
            </a:r>
            <a:pPr rtl="1" algn="r" indent="0" marL="0">
              <a:lnSpc>
                <a:spcPct val="120000"/>
              </a:lnSpc>
              <a:buNone/>
            </a:pPr>
            <a:r>
              <a:rPr lang="ar-EG" sz="1150" dirty="0">
                <a:solidFill>
                  <a:srgbClr val="B9CBC6"/>
                </a:solidFill>
                <a:latin typeface="Segoe UI" pitchFamily="34" charset="0"/>
                <a:ea typeface="Segoe UI" pitchFamily="34" charset="-122"/>
                <a:cs typeface="Segoe UI" pitchFamily="34" charset="-120"/>
              </a:rPr>
              <a:t xml:space="preserve"> + مراجعة إكلينيكية للـ </a:t>
            </a:r>
            <a:pPr rtl="1" algn="r" indent="0" marL="0">
              <a:lnSpc>
                <a:spcPct val="120000"/>
              </a:lnSpc>
              <a:buNone/>
            </a:pPr>
            <a:r>
              <a:rPr lang="en-US" sz="1150" dirty="0">
                <a:solidFill>
                  <a:srgbClr val="B9CBC6"/>
                </a:solidFill>
                <a:latin typeface="Segoe UI" pitchFamily="34" charset="0"/>
                <a:ea typeface="Segoe UI" pitchFamily="34" charset="-122"/>
                <a:cs typeface="Segoe UI" pitchFamily="34" charset="-120"/>
              </a:rPr>
              <a:t>corpus +</a:t>
            </a:r>
            <a:pPr rtl="1" algn="r" indent="0" marL="0">
              <a:lnSpc>
                <a:spcPct val="120000"/>
              </a:lnSpc>
              <a:buNone/>
            </a:pPr>
            <a:r>
              <a:rPr lang="ar-EG" sz="1150" dirty="0">
                <a:solidFill>
                  <a:srgbClr val="B9CBC6"/>
                </a:solidFill>
                <a:latin typeface="Segoe UI" pitchFamily="34" charset="0"/>
                <a:ea typeface="Segoe UI" pitchFamily="34" charset="-122"/>
                <a:cs typeface="Segoe UI" pitchFamily="34" charset="-120"/>
              </a:rPr>
              <a:t xml:space="preserve"> إصلاح الريسبونسيف للموبايل</a:t>
            </a:r>
            <a:endParaRPr lang="en-US" sz="1150" dirty="0"/>
          </a:p>
        </p:txBody>
      </p:sp>
      <p:sp>
        <p:nvSpPr>
          <p:cNvPr id="12" name="Text 10"/>
          <p:cNvSpPr/>
          <p:nvPr/>
        </p:nvSpPr>
        <p:spPr>
          <a:xfrm>
            <a:off x="5967832" y="1645920"/>
            <a:ext cx="256032" cy="1901952"/>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3" name="Shape 11"/>
          <p:cNvSpPr/>
          <p:nvPr/>
        </p:nvSpPr>
        <p:spPr>
          <a:xfrm>
            <a:off x="3395396" y="1645920"/>
            <a:ext cx="2572436" cy="1901952"/>
          </a:xfrm>
          <a:prstGeom prst="roundRect">
            <a:avLst>
              <a:gd name="adj" fmla="val 4327"/>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4" name="Text 12"/>
          <p:cNvSpPr/>
          <p:nvPr/>
        </p:nvSpPr>
        <p:spPr>
          <a:xfrm>
            <a:off x="4669384" y="1847088"/>
            <a:ext cx="1097280" cy="402336"/>
          </a:xfrm>
          <a:prstGeom prst="roundRect">
            <a:avLst>
              <a:gd name="adj" fmla="val 15909"/>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شهر ٣–٤</a:t>
            </a:r>
            <a:endParaRPr lang="en-US" sz="1150" dirty="0"/>
          </a:p>
        </p:txBody>
      </p:sp>
      <p:sp>
        <p:nvSpPr>
          <p:cNvPr id="15" name="Text 13"/>
          <p:cNvSpPr txBox="1"/>
          <p:nvPr/>
        </p:nvSpPr>
        <p:spPr>
          <a:xfrm>
            <a:off x="3633140" y="2377440"/>
            <a:ext cx="2096948" cy="969264"/>
          </a:xfrm>
          <a:prstGeom prst="rect">
            <a:avLst/>
          </a:prstGeom>
          <a:noFill/>
          <a:ln/>
        </p:spPr>
        <p:txBody>
          <a:bodyPr wrap="square" lIns="0" tIns="0" rIns="0" bIns="0" rtlCol="0" anchor="ctr"/>
          <a:lstStyle/>
          <a:p>
            <a:pPr rtl="1" algn="r" indent="0" marL="0">
              <a:lnSpc>
                <a:spcPct val="120000"/>
              </a:lnSpc>
              <a:buNone/>
            </a:pPr>
            <a:r>
              <a:rPr lang="ar-EG" sz="1150" dirty="0">
                <a:solidFill>
                  <a:srgbClr val="B9CBC6"/>
                </a:solidFill>
                <a:latin typeface="Segoe UI" pitchFamily="34" charset="0"/>
                <a:ea typeface="Segoe UI" pitchFamily="34" charset="-122"/>
                <a:cs typeface="Segoe UI" pitchFamily="34" charset="-120"/>
              </a:rPr>
              <a:t xml:space="preserve">تجربة ميدانية مع </a:t>
            </a:r>
            <a:pPr rtl="1" algn="r" indent="0" marL="0">
              <a:lnSpc>
                <a:spcPct val="120000"/>
              </a:lnSpc>
              <a:buNone/>
            </a:pPr>
            <a:r>
              <a:rPr lang="ar-EG" sz="1150" b="1" dirty="0">
                <a:solidFill>
                  <a:srgbClr val="5EDCB0"/>
                </a:solidFill>
                <a:latin typeface="Segoe UI" pitchFamily="34" charset="0"/>
                <a:ea typeface="Segoe UI" pitchFamily="34" charset="-122"/>
                <a:cs typeface="Segoe UI" pitchFamily="34" charset="-120"/>
              </a:rPr>
              <a:t>مستشفى جامعي واحد</a:t>
            </a:r>
            <a:pPr rtl="1" algn="r" indent="0" marL="0">
              <a:lnSpc>
                <a:spcPct val="120000"/>
              </a:lnSpc>
              <a:buNone/>
            </a:pPr>
            <a:r>
              <a:rPr lang="ar-EG" sz="1150" dirty="0">
                <a:solidFill>
                  <a:srgbClr val="B9CBC6"/>
                </a:solidFill>
                <a:latin typeface="Segoe UI" pitchFamily="34" charset="0"/>
                <a:ea typeface="Segoe UI" pitchFamily="34" charset="-122"/>
                <a:cs typeface="Segoe UI" pitchFamily="34" charset="-120"/>
              </a:rPr>
              <a:t xml:space="preserve"> — قياس دقة الفرز على حالات حقيقية</a:t>
            </a:r>
            <a:endParaRPr lang="en-US" sz="1150" dirty="0"/>
          </a:p>
        </p:txBody>
      </p:sp>
      <p:sp>
        <p:nvSpPr>
          <p:cNvPr id="16" name="Text 14"/>
          <p:cNvSpPr/>
          <p:nvPr/>
        </p:nvSpPr>
        <p:spPr>
          <a:xfrm>
            <a:off x="3139364" y="1645920"/>
            <a:ext cx="256032" cy="1901952"/>
          </a:xfrm>
          <a:prstGeom prst="rect">
            <a:avLst/>
          </a:prstGeom>
          <a:noFill/>
          <a:ln/>
        </p:spPr>
        <p:txBody>
          <a:bodyPr wrap="square" lIns="0" tIns="0" rIns="0" bIns="0" rtlCol="0" anchor="ctr"/>
          <a:lstStyle/>
          <a:p>
            <a:pPr algn="ctr" indent="0" marL="0">
              <a:buNone/>
            </a:pPr>
            <a:r>
              <a:rPr lang="ar-EG" sz="1700" b="1" dirty="0">
                <a:solidFill>
                  <a:srgbClr val="19A878"/>
                </a:solidFill>
                <a:latin typeface="Segoe UI" pitchFamily="34" charset="0"/>
                <a:ea typeface="Segoe UI" pitchFamily="34" charset="-122"/>
                <a:cs typeface="Segoe UI" pitchFamily="34" charset="-120"/>
              </a:rPr>
              <a:t>←</a:t>
            </a:r>
            <a:endParaRPr lang="en-US" sz="1700" dirty="0"/>
          </a:p>
        </p:txBody>
      </p:sp>
      <p:sp>
        <p:nvSpPr>
          <p:cNvPr id="17" name="Shape 15"/>
          <p:cNvSpPr/>
          <p:nvPr/>
        </p:nvSpPr>
        <p:spPr>
          <a:xfrm>
            <a:off x="566928" y="1645920"/>
            <a:ext cx="2572436" cy="1901952"/>
          </a:xfrm>
          <a:prstGeom prst="roundRect">
            <a:avLst>
              <a:gd name="adj" fmla="val 4327"/>
            </a:avLst>
          </a:prstGeom>
          <a:solidFill>
            <a:srgbClr val="172B34">
              <a:alpha val="84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18" name="Text 16"/>
          <p:cNvSpPr/>
          <p:nvPr/>
        </p:nvSpPr>
        <p:spPr>
          <a:xfrm>
            <a:off x="1840916" y="1847088"/>
            <a:ext cx="1097280" cy="402336"/>
          </a:xfrm>
          <a:prstGeom prst="roundRect">
            <a:avLst>
              <a:gd name="adj" fmla="val 15909"/>
            </a:avLst>
          </a:prstGeom>
          <a:solidFill>
            <a:srgbClr val="19A878"/>
          </a:solidFill>
          <a:ln w="9525">
            <a:solidFill>
              <a:srgbClr val="19A878"/>
            </a:solidFill>
          </a:ln>
        </p:spPr>
        <p:txBody>
          <a:bodyPr wrap="square" lIns="0" tIns="0" rIns="0" bIns="0" rtlCol="0" anchor="ctr"/>
          <a:lstStyle/>
          <a:p>
            <a:pPr rtl="1" algn="ctr" indent="0" marL="0">
              <a:buNone/>
            </a:pPr>
            <a:r>
              <a:rPr lang="ar-EG" sz="1150" b="1" dirty="0">
                <a:solidFill>
                  <a:srgbClr val="06181A"/>
                </a:solidFill>
                <a:latin typeface="Segoe UI" pitchFamily="34" charset="0"/>
                <a:ea typeface="Segoe UI" pitchFamily="34" charset="-122"/>
                <a:cs typeface="Segoe UI" pitchFamily="34" charset="-120"/>
              </a:rPr>
              <a:t>شهر ٤–٦</a:t>
            </a:r>
            <a:endParaRPr lang="en-US" sz="1150" dirty="0"/>
          </a:p>
        </p:txBody>
      </p:sp>
      <p:sp>
        <p:nvSpPr>
          <p:cNvPr id="19" name="Text 17"/>
          <p:cNvSpPr txBox="1"/>
          <p:nvPr/>
        </p:nvSpPr>
        <p:spPr>
          <a:xfrm>
            <a:off x="804672" y="2377440"/>
            <a:ext cx="2096948" cy="969264"/>
          </a:xfrm>
          <a:prstGeom prst="rect">
            <a:avLst/>
          </a:prstGeom>
          <a:noFill/>
          <a:ln/>
        </p:spPr>
        <p:txBody>
          <a:bodyPr wrap="square" lIns="0" tIns="0" rIns="0" bIns="0" rtlCol="0" anchor="ctr"/>
          <a:lstStyle/>
          <a:p>
            <a:pPr rtl="1" algn="r" indent="0" marL="0">
              <a:lnSpc>
                <a:spcPct val="120000"/>
              </a:lnSpc>
              <a:buNone/>
            </a:pPr>
            <a:r>
              <a:rPr lang="ar-EG" sz="1150" b="1" dirty="0">
                <a:solidFill>
                  <a:srgbClr val="5EDCB0"/>
                </a:solidFill>
                <a:latin typeface="Segoe UI" pitchFamily="34" charset="0"/>
                <a:ea typeface="Segoe UI" pitchFamily="34" charset="-122"/>
                <a:cs typeface="Segoe UI" pitchFamily="34" charset="-120"/>
              </a:rPr>
              <a:t>إطلاق عام</a:t>
            </a:r>
            <a:pPr rtl="1" algn="r" indent="0" marL="0">
              <a:lnSpc>
                <a:spcPct val="120000"/>
              </a:lnSpc>
              <a:buNone/>
            </a:pPr>
            <a:r>
              <a:rPr lang="ar-EG" sz="1150" dirty="0">
                <a:solidFill>
                  <a:srgbClr val="B9CBC6"/>
                </a:solidFill>
                <a:latin typeface="Segoe UI" pitchFamily="34" charset="0"/>
                <a:ea typeface="Segoe UI" pitchFamily="34" charset="-122"/>
                <a:cs typeface="Segoe UI" pitchFamily="34" charset="-120"/>
              </a:rPr>
              <a:t xml:space="preserve"> + حملة صيدليات وجامعات + محتوى </a:t>
            </a:r>
            <a:pPr rtl="1" algn="r" indent="0" marL="0">
              <a:lnSpc>
                <a:spcPct val="120000"/>
              </a:lnSpc>
              <a:buNone/>
            </a:pPr>
            <a:r>
              <a:rPr lang="en-US" sz="1150" dirty="0">
                <a:solidFill>
                  <a:srgbClr val="B9CBC6"/>
                </a:solidFill>
                <a:latin typeface="Segoe UI" pitchFamily="34" charset="0"/>
                <a:ea typeface="Segoe UI" pitchFamily="34" charset="-122"/>
                <a:cs typeface="Segoe UI" pitchFamily="34" charset="-120"/>
              </a:rPr>
              <a:t>TikTok / Facebook</a:t>
            </a:r>
            <a:pPr rtl="1" algn="r" indent="0" marL="0">
              <a:lnSpc>
                <a:spcPct val="120000"/>
              </a:lnSpc>
              <a:buNone/>
            </a:pPr>
            <a:r>
              <a:rPr lang="ar-EG" sz="1150" dirty="0">
                <a:solidFill>
                  <a:srgbClr val="B9CBC6"/>
                </a:solidFill>
                <a:latin typeface="Segoe UI" pitchFamily="34" charset="0"/>
                <a:ea typeface="Segoe UI" pitchFamily="34" charset="-122"/>
                <a:cs typeface="Segoe UI" pitchFamily="34" charset="-120"/>
              </a:rPr>
              <a:t xml:space="preserve"> بالمصري</a:t>
            </a:r>
            <a:endParaRPr lang="en-US" sz="1150" dirty="0"/>
          </a:p>
        </p:txBody>
      </p:sp>
      <p:sp>
        <p:nvSpPr>
          <p:cNvPr id="20" name="Shape 18"/>
          <p:cNvSpPr/>
          <p:nvPr/>
        </p:nvSpPr>
        <p:spPr>
          <a:xfrm>
            <a:off x="8109509" y="3840480"/>
            <a:ext cx="3515258" cy="1901952"/>
          </a:xfrm>
          <a:prstGeom prst="roundRect">
            <a:avLst>
              <a:gd name="adj" fmla="val 4327"/>
            </a:avLst>
          </a:prstGeom>
          <a:solidFill>
            <a:srgbClr val="172B34">
              <a:alpha val="84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21" name="Text 19"/>
          <p:cNvSpPr/>
          <p:nvPr/>
        </p:nvSpPr>
        <p:spPr>
          <a:xfrm>
            <a:off x="10234879" y="4041648"/>
            <a:ext cx="1188720" cy="402336"/>
          </a:xfrm>
          <a:prstGeom prst="roundRect">
            <a:avLst>
              <a:gd name="adj" fmla="val 15909"/>
            </a:avLst>
          </a:prstGeom>
          <a:solidFill>
            <a:srgbClr val="F59E0B"/>
          </a:solidFill>
          <a:ln w="9525">
            <a:solidFill>
              <a:srgbClr val="F59E0B"/>
            </a:solidFill>
          </a:ln>
        </p:spPr>
        <p:txBody>
          <a:bodyPr wrap="square" lIns="0" tIns="0" rIns="0" bIns="0" rtlCol="0" anchor="ctr"/>
          <a:lstStyle/>
          <a:p>
            <a:pPr rtl="1" algn="ctr" indent="0" marL="0">
              <a:buNone/>
            </a:pPr>
            <a:r>
              <a:rPr lang="ar-EG" sz="1150" b="1" dirty="0">
                <a:solidFill>
                  <a:srgbClr val="2A1A02"/>
                </a:solidFill>
                <a:latin typeface="Segoe UI" pitchFamily="34" charset="0"/>
                <a:ea typeface="Segoe UI" pitchFamily="34" charset="-122"/>
                <a:cs typeface="Segoe UI" pitchFamily="34" charset="-120"/>
              </a:rPr>
              <a:t>شهر ٦–٩</a:t>
            </a:r>
            <a:endParaRPr lang="en-US" sz="1150" dirty="0"/>
          </a:p>
        </p:txBody>
      </p:sp>
      <p:sp>
        <p:nvSpPr>
          <p:cNvPr id="22" name="Text 20"/>
          <p:cNvSpPr txBox="1"/>
          <p:nvPr/>
        </p:nvSpPr>
        <p:spPr>
          <a:xfrm>
            <a:off x="8365541" y="4572000"/>
            <a:ext cx="3003194" cy="969264"/>
          </a:xfrm>
          <a:prstGeom prst="rect">
            <a:avLst/>
          </a:prstGeom>
          <a:noFill/>
          <a:ln/>
        </p:spPr>
        <p:txBody>
          <a:bodyPr wrap="square" lIns="0" tIns="0" rIns="0" bIns="0" rtlCol="0" anchor="ctr"/>
          <a:lstStyle/>
          <a:p>
            <a:pPr rtl="1" algn="r" indent="0" marL="0">
              <a:lnSpc>
                <a:spcPct val="120000"/>
              </a:lnSpc>
              <a:buNone/>
            </a:pPr>
            <a:r>
              <a:rPr lang="ar-EG" sz="1200" dirty="0">
                <a:solidFill>
                  <a:srgbClr val="B9CBC6"/>
                </a:solidFill>
                <a:latin typeface="Segoe UI" pitchFamily="34" charset="0"/>
                <a:ea typeface="Segoe UI" pitchFamily="34" charset="-122"/>
                <a:cs typeface="Segoe UI" pitchFamily="34" charset="-120"/>
              </a:rPr>
              <a:t xml:space="preserve">أول عقد </a:t>
            </a:r>
            <a:pPr rtl="1" algn="r" indent="0" marL="0">
              <a:lnSpc>
                <a:spcPct val="120000"/>
              </a:lnSpc>
              <a:buNone/>
            </a:pPr>
            <a:r>
              <a:rPr lang="en-US" sz="1200" b="1" dirty="0">
                <a:solidFill>
                  <a:srgbClr val="FBC85E"/>
                </a:solidFill>
                <a:latin typeface="Segoe UI" pitchFamily="34" charset="0"/>
                <a:ea typeface="Segoe UI" pitchFamily="34" charset="-122"/>
                <a:cs typeface="Segoe UI" pitchFamily="34" charset="-120"/>
              </a:rPr>
              <a:t>B2B</a:t>
            </a:r>
            <a:pPr rtl="1" algn="r" indent="0" marL="0">
              <a:lnSpc>
                <a:spcPct val="120000"/>
              </a:lnSpc>
              <a:buNone/>
            </a:pPr>
            <a:r>
              <a:rPr lang="ar-EG" sz="1200" dirty="0">
                <a:solidFill>
                  <a:srgbClr val="B9CBC6"/>
                </a:solidFill>
                <a:latin typeface="Segoe UI" pitchFamily="34" charset="0"/>
                <a:ea typeface="Segoe UI" pitchFamily="34" charset="-122"/>
                <a:cs typeface="Segoe UI" pitchFamily="34" charset="-120"/>
              </a:rPr>
              <a:t xml:space="preserve"> (مستشفى </a:t>
            </a:r>
            <a:pPr rtl="1" algn="r" indent="0" marL="0">
              <a:lnSpc>
                <a:spcPct val="120000"/>
              </a:lnSpc>
              <a:buNone/>
            </a:pPr>
            <a:r>
              <a:rPr lang="en-US" sz="1200" dirty="0">
                <a:solidFill>
                  <a:srgbClr val="B9CBC6"/>
                </a:solidFill>
                <a:latin typeface="Segoe UI" pitchFamily="34" charset="0"/>
                <a:ea typeface="Segoe UI" pitchFamily="34" charset="-122"/>
                <a:cs typeface="Segoe UI" pitchFamily="34" charset="-120"/>
              </a:rPr>
              <a:t>white-label</a:t>
            </a:r>
            <a:pPr rtl="1" algn="r" indent="0" marL="0">
              <a:lnSpc>
                <a:spcPct val="120000"/>
              </a:lnSpc>
              <a:buNone/>
            </a:pPr>
            <a:r>
              <a:rPr lang="ar-EG" sz="1200" dirty="0">
                <a:solidFill>
                  <a:srgbClr val="B9CBC6"/>
                </a:solidFill>
                <a:latin typeface="Segoe UI" pitchFamily="34" charset="0"/>
                <a:ea typeface="Segoe UI" pitchFamily="34" charset="-122"/>
                <a:cs typeface="Segoe UI" pitchFamily="34" charset="-120"/>
              </a:rPr>
              <a:t>) + بدء محادثات التأمين الصحي الشامل</a:t>
            </a:r>
            <a:endParaRPr lang="en-US" sz="1200" dirty="0"/>
          </a:p>
        </p:txBody>
      </p:sp>
      <p:sp>
        <p:nvSpPr>
          <p:cNvPr id="23" name="Text 21"/>
          <p:cNvSpPr/>
          <p:nvPr/>
        </p:nvSpPr>
        <p:spPr>
          <a:xfrm>
            <a:off x="7853477" y="3840480"/>
            <a:ext cx="256032" cy="1901952"/>
          </a:xfrm>
          <a:prstGeom prst="rect">
            <a:avLst/>
          </a:prstGeom>
          <a:noFill/>
          <a:ln/>
        </p:spPr>
        <p:txBody>
          <a:bodyPr wrap="square" lIns="0" tIns="0" rIns="0" bIns="0" rtlCol="0" anchor="ctr"/>
          <a:lstStyle/>
          <a:p>
            <a:pPr algn="ctr" indent="0" marL="0">
              <a:buNone/>
            </a:pPr>
            <a:r>
              <a:rPr lang="ar-EG" sz="1700" b="1" dirty="0">
                <a:solidFill>
                  <a:srgbClr val="8AA29D"/>
                </a:solidFill>
                <a:latin typeface="Segoe UI" pitchFamily="34" charset="0"/>
                <a:ea typeface="Segoe UI" pitchFamily="34" charset="-122"/>
                <a:cs typeface="Segoe UI" pitchFamily="34" charset="-120"/>
              </a:rPr>
              <a:t>←</a:t>
            </a:r>
            <a:endParaRPr lang="en-US" sz="1700" dirty="0"/>
          </a:p>
        </p:txBody>
      </p:sp>
      <p:sp>
        <p:nvSpPr>
          <p:cNvPr id="24" name="Shape 22"/>
          <p:cNvSpPr/>
          <p:nvPr/>
        </p:nvSpPr>
        <p:spPr>
          <a:xfrm>
            <a:off x="4338218" y="3840480"/>
            <a:ext cx="3515258" cy="1901952"/>
          </a:xfrm>
          <a:prstGeom prst="roundRect">
            <a:avLst>
              <a:gd name="adj" fmla="val 4327"/>
            </a:avLst>
          </a:prstGeom>
          <a:solidFill>
            <a:srgbClr val="172B34">
              <a:alpha val="84000"/>
            </a:srgbClr>
          </a:solidFill>
          <a:ln w="9525">
            <a:solidFill>
              <a:srgbClr val="4A3A22"/>
            </a:solidFill>
            <a:prstDash val="solid"/>
          </a:ln>
          <a:effectLst>
            <a:outerShdw sx="100000" sy="100000" kx="0" ky="0" algn="bl" rotWithShape="0" blurRad="152400" dist="25400" dir="5400000">
              <a:srgbClr val="000000">
                <a:alpha val="30000"/>
              </a:srgbClr>
            </a:outerShdw>
          </a:effectLst>
        </p:spPr>
      </p:sp>
      <p:sp>
        <p:nvSpPr>
          <p:cNvPr id="25" name="Text 23"/>
          <p:cNvSpPr/>
          <p:nvPr/>
        </p:nvSpPr>
        <p:spPr>
          <a:xfrm>
            <a:off x="6463589" y="4041648"/>
            <a:ext cx="1188720" cy="402336"/>
          </a:xfrm>
          <a:prstGeom prst="roundRect">
            <a:avLst>
              <a:gd name="adj" fmla="val 15909"/>
            </a:avLst>
          </a:prstGeom>
          <a:solidFill>
            <a:srgbClr val="F59E0B"/>
          </a:solidFill>
          <a:ln w="9525">
            <a:solidFill>
              <a:srgbClr val="F59E0B"/>
            </a:solidFill>
          </a:ln>
        </p:spPr>
        <p:txBody>
          <a:bodyPr wrap="square" lIns="0" tIns="0" rIns="0" bIns="0" rtlCol="0" anchor="ctr"/>
          <a:lstStyle/>
          <a:p>
            <a:pPr rtl="1" algn="ctr" indent="0" marL="0">
              <a:buNone/>
            </a:pPr>
            <a:r>
              <a:rPr lang="ar-EG" sz="1150" b="1" dirty="0">
                <a:solidFill>
                  <a:srgbClr val="2A1A02"/>
                </a:solidFill>
                <a:latin typeface="Segoe UI" pitchFamily="34" charset="0"/>
                <a:ea typeface="Segoe UI" pitchFamily="34" charset="-122"/>
                <a:cs typeface="Segoe UI" pitchFamily="34" charset="-120"/>
              </a:rPr>
              <a:t>شهر ٩–١٢</a:t>
            </a:r>
            <a:endParaRPr lang="en-US" sz="1150" dirty="0"/>
          </a:p>
        </p:txBody>
      </p:sp>
      <p:sp>
        <p:nvSpPr>
          <p:cNvPr id="26" name="Text 24"/>
          <p:cNvSpPr txBox="1"/>
          <p:nvPr/>
        </p:nvSpPr>
        <p:spPr>
          <a:xfrm>
            <a:off x="4594250" y="4572000"/>
            <a:ext cx="3003194" cy="969264"/>
          </a:xfrm>
          <a:prstGeom prst="rect">
            <a:avLst/>
          </a:prstGeom>
          <a:noFill/>
          <a:ln/>
        </p:spPr>
        <p:txBody>
          <a:bodyPr wrap="square" lIns="0" tIns="0" rIns="0" bIns="0" rtlCol="0" anchor="ctr"/>
          <a:lstStyle/>
          <a:p>
            <a:pPr rtl="1" algn="r" indent="0" marL="0">
              <a:lnSpc>
                <a:spcPct val="120000"/>
              </a:lnSpc>
              <a:buNone/>
            </a:pPr>
            <a:r>
              <a:rPr lang="ar-EG" sz="1200" dirty="0">
                <a:solidFill>
                  <a:srgbClr val="B9CBC6"/>
                </a:solidFill>
                <a:latin typeface="Segoe UI" pitchFamily="34" charset="0"/>
                <a:ea typeface="Segoe UI" pitchFamily="34" charset="-122"/>
                <a:cs typeface="Segoe UI" pitchFamily="34" charset="-120"/>
              </a:rPr>
              <a:t xml:space="preserve">الاشتراك العائلي لكبار السن + التقدم بمنحة صحة رقمية + </a:t>
            </a:r>
            <a:pPr rtl="1" algn="r" indent="0" marL="0">
              <a:lnSpc>
                <a:spcPct val="120000"/>
              </a:lnSpc>
              <a:buNone/>
            </a:pPr>
            <a:r>
              <a:rPr lang="ar-EG" sz="1200" b="1" dirty="0">
                <a:solidFill>
                  <a:srgbClr val="FBC85E"/>
                </a:solidFill>
                <a:latin typeface="Segoe UI" pitchFamily="34" charset="0"/>
                <a:ea typeface="Segoe UI" pitchFamily="34" charset="-122"/>
                <a:cs typeface="Segoe UI" pitchFamily="34" charset="-120"/>
              </a:rPr>
              <a:t>نشر نتائج التحقق</a:t>
            </a:r>
            <a:endParaRPr lang="en-US" sz="1200" dirty="0"/>
          </a:p>
        </p:txBody>
      </p:sp>
      <p:sp>
        <p:nvSpPr>
          <p:cNvPr id="27" name="Text 25"/>
          <p:cNvSpPr/>
          <p:nvPr/>
        </p:nvSpPr>
        <p:spPr>
          <a:xfrm>
            <a:off x="4082186" y="3840480"/>
            <a:ext cx="256032" cy="1901952"/>
          </a:xfrm>
          <a:prstGeom prst="rect">
            <a:avLst/>
          </a:prstGeom>
          <a:noFill/>
          <a:ln/>
        </p:spPr>
        <p:txBody>
          <a:bodyPr wrap="square" lIns="0" tIns="0" rIns="0" bIns="0" rtlCol="0" anchor="ctr"/>
          <a:lstStyle/>
          <a:p>
            <a:pPr algn="ctr" indent="0" marL="0">
              <a:buNone/>
            </a:pPr>
            <a:r>
              <a:rPr lang="ar-EG" sz="1700" b="1" dirty="0">
                <a:solidFill>
                  <a:srgbClr val="8AA29D"/>
                </a:solidFill>
                <a:latin typeface="Segoe UI" pitchFamily="34" charset="0"/>
                <a:ea typeface="Segoe UI" pitchFamily="34" charset="-122"/>
                <a:cs typeface="Segoe UI" pitchFamily="34" charset="-120"/>
              </a:rPr>
              <a:t>←</a:t>
            </a:r>
            <a:endParaRPr lang="en-US" sz="1700" dirty="0"/>
          </a:p>
        </p:txBody>
      </p:sp>
      <p:sp>
        <p:nvSpPr>
          <p:cNvPr id="28" name="Shape 26"/>
          <p:cNvSpPr/>
          <p:nvPr/>
        </p:nvSpPr>
        <p:spPr>
          <a:xfrm>
            <a:off x="566928" y="3840480"/>
            <a:ext cx="3515258" cy="1901952"/>
          </a:xfrm>
          <a:prstGeom prst="roundRect">
            <a:avLst>
              <a:gd name="adj" fmla="val 4327"/>
            </a:avLst>
          </a:prstGeom>
          <a:solidFill>
            <a:srgbClr val="18323A">
              <a:alpha val="70000"/>
            </a:srgbClr>
          </a:solidFill>
          <a:ln w="9525">
            <a:solidFill>
              <a:srgbClr val="2C464F"/>
            </a:solidFill>
            <a:prstDash val="solid"/>
          </a:ln>
          <a:effectLst>
            <a:outerShdw sx="100000" sy="100000" kx="0" ky="0" algn="bl" rotWithShape="0" blurRad="152400" dist="25400" dir="5400000">
              <a:srgbClr val="000000">
                <a:alpha val="30000"/>
              </a:srgbClr>
            </a:outerShdw>
          </a:effectLst>
        </p:spPr>
      </p:sp>
      <p:sp>
        <p:nvSpPr>
          <p:cNvPr id="29" name="Text 27"/>
          <p:cNvSpPr/>
          <p:nvPr/>
        </p:nvSpPr>
        <p:spPr>
          <a:xfrm>
            <a:off x="2692298" y="4041648"/>
            <a:ext cx="1188720" cy="402336"/>
          </a:xfrm>
          <a:prstGeom prst="roundRect">
            <a:avLst>
              <a:gd name="adj" fmla="val 15909"/>
            </a:avLst>
          </a:prstGeom>
          <a:solidFill>
            <a:srgbClr val="8AA29D"/>
          </a:solidFill>
          <a:ln w="9525">
            <a:solidFill>
              <a:srgbClr val="8AA29D"/>
            </a:solidFill>
          </a:ln>
        </p:spPr>
        <p:txBody>
          <a:bodyPr wrap="square" lIns="0" tIns="0" rIns="0" bIns="0" rtlCol="0" anchor="ctr"/>
          <a:lstStyle/>
          <a:p>
            <a:pPr rtl="1" algn="ctr" indent="0" marL="0">
              <a:buNone/>
            </a:pPr>
            <a:r>
              <a:rPr lang="ar-EG" sz="1150" b="1" dirty="0">
                <a:solidFill>
                  <a:srgbClr val="0D1A1F"/>
                </a:solidFill>
                <a:latin typeface="Segoe UI" pitchFamily="34" charset="0"/>
                <a:ea typeface="Segoe UI" pitchFamily="34" charset="-122"/>
                <a:cs typeface="Segoe UI" pitchFamily="34" charset="-120"/>
              </a:rPr>
              <a:t>بعد السنة</a:t>
            </a:r>
            <a:endParaRPr lang="en-US" sz="1150" dirty="0"/>
          </a:p>
        </p:txBody>
      </p:sp>
      <p:sp>
        <p:nvSpPr>
          <p:cNvPr id="30" name="Text 28"/>
          <p:cNvSpPr txBox="1"/>
          <p:nvPr/>
        </p:nvSpPr>
        <p:spPr>
          <a:xfrm>
            <a:off x="822960" y="4572000"/>
            <a:ext cx="3003194" cy="969264"/>
          </a:xfrm>
          <a:prstGeom prst="rect">
            <a:avLst/>
          </a:prstGeom>
          <a:noFill/>
          <a:ln/>
        </p:spPr>
        <p:txBody>
          <a:bodyPr wrap="square" lIns="0" tIns="0" rIns="0" bIns="0" rtlCol="0" anchor="ctr"/>
          <a:lstStyle/>
          <a:p>
            <a:pPr rtl="1" algn="r" indent="0" marL="0">
              <a:lnSpc>
                <a:spcPct val="120000"/>
              </a:lnSpc>
              <a:buNone/>
            </a:pPr>
            <a:r>
              <a:rPr lang="ar-EG" sz="1200" dirty="0">
                <a:solidFill>
                  <a:srgbClr val="B9CBC6"/>
                </a:solidFill>
                <a:latin typeface="Segoe UI" pitchFamily="34" charset="0"/>
                <a:ea typeface="Segoe UI" pitchFamily="34" charset="-122"/>
                <a:cs typeface="Segoe UI" pitchFamily="34" charset="-120"/>
              </a:rPr>
              <a:t xml:space="preserve">توسّع لهجات (خليجي / شامي) وتوسّع الحالات </a:t>
            </a:r>
            <a:pPr rtl="1" algn="r" indent="0" marL="0">
              <a:lnSpc>
                <a:spcPct val="120000"/>
              </a:lnSpc>
              <a:buNone/>
            </a:pPr>
            <a:r>
              <a:rPr lang="ar-EG" sz="1200" b="1" dirty="0">
                <a:solidFill>
                  <a:srgbClr val="E8F1EE"/>
                </a:solidFill>
                <a:latin typeface="Segoe UI" pitchFamily="34" charset="0"/>
                <a:ea typeface="Segoe UI" pitchFamily="34" charset="-122"/>
                <a:cs typeface="Segoe UI" pitchFamily="34" charset="-120"/>
              </a:rPr>
              <a:t>بعد ما الفرز الحالي يثبت دقته</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475488"/>
            <a:ext cx="11057839" cy="274320"/>
          </a:xfrm>
          <a:prstGeom prst="rect">
            <a:avLst/>
          </a:prstGeom>
          <a:noFill/>
          <a:ln/>
        </p:spPr>
        <p:txBody>
          <a:bodyPr wrap="square" lIns="0" tIns="0" rIns="0" bIns="0" rtlCol="0" anchor="ctr"/>
          <a:lstStyle/>
          <a:p>
            <a:pPr rtl="1" algn="r" indent="0" marL="0">
              <a:buNone/>
            </a:pPr>
            <a:r>
              <a:rPr lang="ar-EG" sz="1200" b="1" dirty="0">
                <a:solidFill>
                  <a:srgbClr val="5EDCB0"/>
                </a:solidFill>
                <a:latin typeface="Segoe UI" pitchFamily="34" charset="0"/>
                <a:ea typeface="Segoe UI" pitchFamily="34" charset="-122"/>
                <a:cs typeface="Segoe UI" pitchFamily="34" charset="-120"/>
              </a:rPr>
              <a:t>القفلة</a:t>
            </a:r>
            <a:endParaRPr lang="en-US" sz="1200" dirty="0"/>
          </a:p>
        </p:txBody>
      </p:sp>
      <p:sp>
        <p:nvSpPr>
          <p:cNvPr id="3" name="Text 1"/>
          <p:cNvSpPr txBox="1"/>
          <p:nvPr/>
        </p:nvSpPr>
        <p:spPr>
          <a:xfrm>
            <a:off x="566928" y="786384"/>
            <a:ext cx="11057839" cy="731520"/>
          </a:xfrm>
          <a:prstGeom prst="rect">
            <a:avLst/>
          </a:prstGeom>
          <a:noFill/>
          <a:ln/>
        </p:spPr>
        <p:txBody>
          <a:bodyPr wrap="square" lIns="0" tIns="0" rIns="0" bIns="0" rtlCol="0" anchor="t"/>
          <a:lstStyle/>
          <a:p>
            <a:pPr rtl="1" algn="r" indent="0" marL="0">
              <a:lnSpc>
                <a:spcPct val="105000"/>
              </a:lnSpc>
              <a:buNone/>
            </a:pPr>
            <a:r>
              <a:rPr lang="ar-EG" sz="3400" b="1" dirty="0">
                <a:solidFill>
                  <a:srgbClr val="FFFFFF"/>
                </a:solidFill>
                <a:latin typeface="Segoe UI" pitchFamily="34" charset="0"/>
                <a:ea typeface="Segoe UI" pitchFamily="34" charset="-122"/>
                <a:cs typeface="Segoe UI" pitchFamily="34" charset="-120"/>
              </a:rPr>
              <a:t>الوقت هو العلاج</a:t>
            </a:r>
            <a:endParaRPr lang="en-US" sz="3400" dirty="0"/>
          </a:p>
        </p:txBody>
      </p:sp>
      <p:pic>
        <p:nvPicPr>
          <p:cNvPr id="4" name="Image 0" descr="C:\Users\ezzat\AppData\Local\Temp\claude\D------------\3a00165a-1212-46b1-8248-3409274fadf9\scratchpad\assets\logo.png">    </p:cNvPr>
          <p:cNvPicPr>
            <a:picLocks noChangeAspect="1"/>
          </p:cNvPicPr>
          <p:nvPr/>
        </p:nvPicPr>
        <p:blipFill>
          <a:blip r:embed="rId1"/>
          <a:stretch>
            <a:fillRect/>
          </a:stretch>
        </p:blipFill>
        <p:spPr>
          <a:xfrm>
            <a:off x="868680" y="2788920"/>
            <a:ext cx="1920240" cy="1920240"/>
          </a:xfrm>
          <a:prstGeom prst="rect">
            <a:avLst/>
          </a:prstGeom>
        </p:spPr>
      </p:pic>
      <p:sp>
        <p:nvSpPr>
          <p:cNvPr id="5" name="Text 2"/>
          <p:cNvSpPr txBox="1"/>
          <p:nvPr/>
        </p:nvSpPr>
        <p:spPr>
          <a:xfrm>
            <a:off x="731520" y="4846320"/>
            <a:ext cx="2194560" cy="420624"/>
          </a:xfrm>
          <a:prstGeom prst="rect">
            <a:avLst/>
          </a:prstGeom>
          <a:noFill/>
          <a:ln/>
        </p:spPr>
        <p:txBody>
          <a:bodyPr wrap="square" lIns="0" tIns="0" rIns="0" bIns="0" rtlCol="0" anchor="t"/>
          <a:lstStyle/>
          <a:p>
            <a:pPr algn="ctr" indent="0" marL="0">
              <a:buNone/>
            </a:pPr>
            <a:r>
              <a:rPr lang="en-US" sz="2600" b="1" dirty="0">
                <a:solidFill>
                  <a:srgbClr val="FFFFFF"/>
                </a:solidFill>
                <a:latin typeface="Segoe UI" pitchFamily="34" charset="0"/>
                <a:ea typeface="Segoe UI" pitchFamily="34" charset="-122"/>
                <a:cs typeface="Segoe UI" pitchFamily="34" charset="-120"/>
              </a:rPr>
              <a:t>Najda</a:t>
            </a:r>
            <a:pPr algn="ctr" indent="0" marL="0">
              <a:buNone/>
            </a:pPr>
            <a:r>
              <a:rPr lang="en-US" sz="2600" b="1" dirty="0">
                <a:solidFill>
                  <a:srgbClr val="5EDCB0"/>
                </a:solidFill>
                <a:latin typeface="Segoe UI" pitchFamily="34" charset="0"/>
                <a:ea typeface="Segoe UI" pitchFamily="34" charset="-122"/>
                <a:cs typeface="Segoe UI" pitchFamily="34" charset="-120"/>
              </a:rPr>
              <a:t>AI</a:t>
            </a:r>
            <a:endParaRPr lang="en-US" sz="1400" dirty="0"/>
          </a:p>
        </p:txBody>
      </p:sp>
      <p:sp>
        <p:nvSpPr>
          <p:cNvPr id="6" name="Text 3"/>
          <p:cNvSpPr txBox="1"/>
          <p:nvPr/>
        </p:nvSpPr>
        <p:spPr>
          <a:xfrm>
            <a:off x="731520" y="5285232"/>
            <a:ext cx="2194560" cy="347472"/>
          </a:xfrm>
          <a:prstGeom prst="rect">
            <a:avLst/>
          </a:prstGeom>
          <a:noFill/>
          <a:ln/>
        </p:spPr>
        <p:txBody>
          <a:bodyPr wrap="square" lIns="0" tIns="0" rIns="0" bIns="0" rtlCol="0" anchor="t"/>
          <a:lstStyle/>
          <a:p>
            <a:pPr rtl="1" algn="ctr" indent="0" marL="0">
              <a:lnSpc>
                <a:spcPct val="100000"/>
              </a:lnSpc>
              <a:buNone/>
            </a:pPr>
            <a:r>
              <a:rPr lang="ar-EG" sz="1600" b="1" dirty="0">
                <a:solidFill>
                  <a:srgbClr val="19A878"/>
                </a:solidFill>
                <a:latin typeface="Segoe UI" pitchFamily="34" charset="0"/>
                <a:ea typeface="Segoe UI" pitchFamily="34" charset="-122"/>
                <a:cs typeface="Segoe UI" pitchFamily="34" charset="-120"/>
              </a:rPr>
              <a:t>نجدة</a:t>
            </a:r>
            <a:endParaRPr lang="en-US" sz="1600" dirty="0"/>
          </a:p>
        </p:txBody>
      </p:sp>
      <p:sp>
        <p:nvSpPr>
          <p:cNvPr id="7" name="Shape 4"/>
          <p:cNvSpPr/>
          <p:nvPr/>
        </p:nvSpPr>
        <p:spPr>
          <a:xfrm>
            <a:off x="11496751" y="2176272"/>
            <a:ext cx="132588" cy="132588"/>
          </a:xfrm>
          <a:prstGeom prst="ellipse">
            <a:avLst/>
          </a:prstGeom>
          <a:solidFill>
            <a:srgbClr val="19A878"/>
          </a:solidFill>
          <a:ln w="12700">
            <a:solidFill>
              <a:srgbClr val="19A878"/>
            </a:solidFill>
            <a:prstDash val="solid"/>
          </a:ln>
        </p:spPr>
      </p:sp>
      <p:sp>
        <p:nvSpPr>
          <p:cNvPr id="8" name="Text 5"/>
          <p:cNvSpPr txBox="1"/>
          <p:nvPr/>
        </p:nvSpPr>
        <p:spPr>
          <a:xfrm>
            <a:off x="3246120" y="1874520"/>
            <a:ext cx="8031175" cy="749808"/>
          </a:xfrm>
          <a:prstGeom prst="rect">
            <a:avLst/>
          </a:prstGeom>
          <a:noFill/>
          <a:ln/>
        </p:spPr>
        <p:txBody>
          <a:bodyPr wrap="square" lIns="0" tIns="0" rIns="0" bIns="0" rtlCol="0" anchor="ctr"/>
          <a:lstStyle/>
          <a:p>
            <a:pPr rtl="1" algn="r" indent="0" marL="0">
              <a:lnSpc>
                <a:spcPct val="108000"/>
              </a:lnSpc>
              <a:buNone/>
            </a:pPr>
            <a:r>
              <a:rPr lang="ar-EG" sz="1800" dirty="0">
                <a:solidFill>
                  <a:srgbClr val="E8F1EE"/>
                </a:solidFill>
                <a:latin typeface="Segoe UI" pitchFamily="34" charset="0"/>
                <a:ea typeface="Segoe UI" pitchFamily="34" charset="-122"/>
                <a:cs typeface="Segoe UI" pitchFamily="34" charset="-120"/>
              </a:rPr>
              <a:t xml:space="preserve">الوقت هو العلاج — ونجدة </a:t>
            </a:r>
            <a:pPr rtl="1" algn="r" indent="0" marL="0">
              <a:lnSpc>
                <a:spcPct val="108000"/>
              </a:lnSpc>
              <a:buNone/>
            </a:pPr>
            <a:r>
              <a:rPr lang="ar-EG" sz="1800" b="1" dirty="0">
                <a:solidFill>
                  <a:srgbClr val="5EDCB0"/>
                </a:solidFill>
                <a:latin typeface="Segoe UI" pitchFamily="34" charset="0"/>
                <a:ea typeface="Segoe UI" pitchFamily="34" charset="-122"/>
                <a:cs typeface="Segoe UI" pitchFamily="34" charset="-120"/>
              </a:rPr>
              <a:t>بتقصّر المسافة للقرار الصح</a:t>
            </a:r>
            <a:endParaRPr lang="en-US" sz="1800" dirty="0"/>
          </a:p>
        </p:txBody>
      </p:sp>
      <p:sp>
        <p:nvSpPr>
          <p:cNvPr id="9" name="Shape 6"/>
          <p:cNvSpPr/>
          <p:nvPr/>
        </p:nvSpPr>
        <p:spPr>
          <a:xfrm>
            <a:off x="11496751" y="2980944"/>
            <a:ext cx="132588" cy="132588"/>
          </a:xfrm>
          <a:prstGeom prst="ellipse">
            <a:avLst/>
          </a:prstGeom>
          <a:solidFill>
            <a:srgbClr val="19A878"/>
          </a:solidFill>
          <a:ln w="12700">
            <a:solidFill>
              <a:srgbClr val="19A878"/>
            </a:solidFill>
            <a:prstDash val="solid"/>
          </a:ln>
        </p:spPr>
      </p:sp>
      <p:sp>
        <p:nvSpPr>
          <p:cNvPr id="10" name="Text 7"/>
          <p:cNvSpPr txBox="1"/>
          <p:nvPr/>
        </p:nvSpPr>
        <p:spPr>
          <a:xfrm>
            <a:off x="3246120" y="2679192"/>
            <a:ext cx="8031175" cy="749808"/>
          </a:xfrm>
          <a:prstGeom prst="rect">
            <a:avLst/>
          </a:prstGeom>
          <a:noFill/>
          <a:ln/>
        </p:spPr>
        <p:txBody>
          <a:bodyPr wrap="square" lIns="0" tIns="0" rIns="0" bIns="0" rtlCol="0" anchor="ctr"/>
          <a:lstStyle/>
          <a:p>
            <a:pPr rtl="1" algn="r" indent="0" marL="0">
              <a:lnSpc>
                <a:spcPct val="108000"/>
              </a:lnSpc>
              <a:buNone/>
            </a:pPr>
            <a:r>
              <a:rPr lang="ar-EG" sz="1800" dirty="0">
                <a:solidFill>
                  <a:srgbClr val="E8F1EE"/>
                </a:solidFill>
                <a:latin typeface="Segoe UI" pitchFamily="34" charset="0"/>
                <a:ea typeface="Segoe UI" pitchFamily="34" charset="-122"/>
                <a:cs typeface="Segoe UI" pitchFamily="34" charset="-120"/>
              </a:rPr>
              <a:t>بالمصري، بالصوت، و</a:t>
            </a:r>
            <a:pPr rtl="1" algn="r" indent="0" marL="0">
              <a:lnSpc>
                <a:spcPct val="108000"/>
              </a:lnSpc>
              <a:buNone/>
            </a:pPr>
            <a:r>
              <a:rPr lang="ar-EG" sz="1800" b="1" dirty="0">
                <a:solidFill>
                  <a:srgbClr val="5EDCB0"/>
                </a:solidFill>
                <a:latin typeface="Segoe UI" pitchFamily="34" charset="0"/>
                <a:ea typeface="Segoe UI" pitchFamily="34" charset="-122"/>
                <a:cs typeface="Segoe UI" pitchFamily="34" charset="-120"/>
              </a:rPr>
              <a:t>بمصادر تقدر تتأكد منها بنفسك</a:t>
            </a:r>
            <a:endParaRPr lang="en-US" sz="1800" dirty="0"/>
          </a:p>
        </p:txBody>
      </p:sp>
      <p:sp>
        <p:nvSpPr>
          <p:cNvPr id="11" name="Shape 8"/>
          <p:cNvSpPr/>
          <p:nvPr/>
        </p:nvSpPr>
        <p:spPr>
          <a:xfrm>
            <a:off x="11496751" y="3785616"/>
            <a:ext cx="132588" cy="132588"/>
          </a:xfrm>
          <a:prstGeom prst="ellipse">
            <a:avLst/>
          </a:prstGeom>
          <a:solidFill>
            <a:srgbClr val="19A878"/>
          </a:solidFill>
          <a:ln w="12700">
            <a:solidFill>
              <a:srgbClr val="19A878"/>
            </a:solidFill>
            <a:prstDash val="solid"/>
          </a:ln>
        </p:spPr>
      </p:sp>
      <p:sp>
        <p:nvSpPr>
          <p:cNvPr id="12" name="Text 9"/>
          <p:cNvSpPr txBox="1"/>
          <p:nvPr/>
        </p:nvSpPr>
        <p:spPr>
          <a:xfrm>
            <a:off x="3246120" y="3483864"/>
            <a:ext cx="8031175" cy="749808"/>
          </a:xfrm>
          <a:prstGeom prst="rect">
            <a:avLst/>
          </a:prstGeom>
          <a:noFill/>
          <a:ln/>
        </p:spPr>
        <p:txBody>
          <a:bodyPr wrap="square" lIns="0" tIns="0" rIns="0" bIns="0" rtlCol="0" anchor="ctr"/>
          <a:lstStyle/>
          <a:p>
            <a:pPr rtl="1" algn="r" indent="0" marL="0">
              <a:lnSpc>
                <a:spcPct val="108000"/>
              </a:lnSpc>
              <a:buNone/>
            </a:pPr>
            <a:r>
              <a:rPr lang="ar-EG" sz="1800" dirty="0">
                <a:solidFill>
                  <a:srgbClr val="E8F1EE"/>
                </a:solidFill>
                <a:latin typeface="Segoe UI" pitchFamily="34" charset="0"/>
                <a:ea typeface="Segoe UI" pitchFamily="34" charset="-122"/>
                <a:cs typeface="Segoe UI" pitchFamily="34" charset="-120"/>
              </a:rPr>
              <a:t xml:space="preserve">التصعيد مش شاشة — </a:t>
            </a:r>
            <a:pPr rtl="1" algn="r" indent="0" marL="0">
              <a:lnSpc>
                <a:spcPct val="108000"/>
              </a:lnSpc>
              <a:buNone/>
            </a:pPr>
            <a:r>
              <a:rPr lang="ar-EG" sz="1800" b="1" dirty="0">
                <a:solidFill>
                  <a:srgbClr val="5EDCB0"/>
                </a:solidFill>
                <a:latin typeface="Segoe UI" pitchFamily="34" charset="0"/>
                <a:ea typeface="Segoe UI" pitchFamily="34" charset="-122"/>
                <a:cs typeface="Segoe UI" pitchFamily="34" charset="-120"/>
              </a:rPr>
              <a:t>عداد وسرينة وإبلاغ جهة اتصال</a:t>
            </a:r>
            <a:endParaRPr lang="en-US" sz="1800" dirty="0"/>
          </a:p>
        </p:txBody>
      </p:sp>
      <p:sp>
        <p:nvSpPr>
          <p:cNvPr id="13" name="Shape 10"/>
          <p:cNvSpPr/>
          <p:nvPr/>
        </p:nvSpPr>
        <p:spPr>
          <a:xfrm>
            <a:off x="11496751" y="4590288"/>
            <a:ext cx="132588" cy="132588"/>
          </a:xfrm>
          <a:prstGeom prst="ellipse">
            <a:avLst/>
          </a:prstGeom>
          <a:solidFill>
            <a:srgbClr val="19A878"/>
          </a:solidFill>
          <a:ln w="12700">
            <a:solidFill>
              <a:srgbClr val="19A878"/>
            </a:solidFill>
            <a:prstDash val="solid"/>
          </a:ln>
        </p:spPr>
      </p:sp>
      <p:sp>
        <p:nvSpPr>
          <p:cNvPr id="14" name="Text 11"/>
          <p:cNvSpPr txBox="1"/>
          <p:nvPr/>
        </p:nvSpPr>
        <p:spPr>
          <a:xfrm>
            <a:off x="3246120" y="4288536"/>
            <a:ext cx="8031175" cy="749808"/>
          </a:xfrm>
          <a:prstGeom prst="rect">
            <a:avLst/>
          </a:prstGeom>
          <a:noFill/>
          <a:ln/>
        </p:spPr>
        <p:txBody>
          <a:bodyPr wrap="square" lIns="0" tIns="0" rIns="0" bIns="0" rtlCol="0" anchor="ctr"/>
          <a:lstStyle/>
          <a:p>
            <a:pPr rtl="1" algn="r" indent="0" marL="0">
              <a:lnSpc>
                <a:spcPct val="108000"/>
              </a:lnSpc>
              <a:buNone/>
            </a:pPr>
            <a:r>
              <a:rPr lang="ar-EG" sz="1800" dirty="0">
                <a:solidFill>
                  <a:srgbClr val="E8F1EE"/>
                </a:solidFill>
                <a:latin typeface="Segoe UI" pitchFamily="34" charset="0"/>
                <a:ea typeface="Segoe UI" pitchFamily="34" charset="-122"/>
                <a:cs typeface="Segoe UI" pitchFamily="34" charset="-120"/>
              </a:rPr>
              <a:t xml:space="preserve">مش بديل عن الدكتور — </a:t>
            </a:r>
            <a:pPr rtl="1" algn="r" indent="0" marL="0">
              <a:lnSpc>
                <a:spcPct val="108000"/>
              </a:lnSpc>
              <a:buNone/>
            </a:pPr>
            <a:r>
              <a:rPr lang="ar-EG" sz="1800" b="1" dirty="0">
                <a:solidFill>
                  <a:srgbClr val="5EDCB0"/>
                </a:solidFill>
                <a:latin typeface="Segoe UI" pitchFamily="34" charset="0"/>
                <a:ea typeface="Segoe UI" pitchFamily="34" charset="-122"/>
                <a:cs typeface="Segoe UI" pitchFamily="34" charset="-120"/>
              </a:rPr>
              <a:t>طريق أسرع ليه</a:t>
            </a:r>
            <a:endParaRPr lang="en-US" sz="1800" dirty="0"/>
          </a:p>
        </p:txBody>
      </p:sp>
      <p:sp>
        <p:nvSpPr>
          <p:cNvPr id="15" name="Shape 12"/>
          <p:cNvSpPr/>
          <p:nvPr/>
        </p:nvSpPr>
        <p:spPr>
          <a:xfrm>
            <a:off x="11496751" y="5394960"/>
            <a:ext cx="132588" cy="132588"/>
          </a:xfrm>
          <a:prstGeom prst="ellipse">
            <a:avLst/>
          </a:prstGeom>
          <a:solidFill>
            <a:srgbClr val="19A878"/>
          </a:solidFill>
          <a:ln w="12700">
            <a:solidFill>
              <a:srgbClr val="19A878"/>
            </a:solidFill>
            <a:prstDash val="solid"/>
          </a:ln>
        </p:spPr>
      </p:sp>
      <p:sp>
        <p:nvSpPr>
          <p:cNvPr id="16" name="Text 13"/>
          <p:cNvSpPr txBox="1"/>
          <p:nvPr/>
        </p:nvSpPr>
        <p:spPr>
          <a:xfrm>
            <a:off x="3246120" y="5093208"/>
            <a:ext cx="8031175" cy="749808"/>
          </a:xfrm>
          <a:prstGeom prst="rect">
            <a:avLst/>
          </a:prstGeom>
          <a:noFill/>
          <a:ln/>
        </p:spPr>
        <p:txBody>
          <a:bodyPr wrap="square" lIns="0" tIns="0" rIns="0" bIns="0" rtlCol="0" anchor="ctr"/>
          <a:lstStyle/>
          <a:p>
            <a:pPr rtl="1" algn="r" indent="0" marL="0">
              <a:lnSpc>
                <a:spcPct val="108000"/>
              </a:lnSpc>
              <a:buNone/>
            </a:pPr>
            <a:r>
              <a:rPr lang="ar-EG" sz="1800" dirty="0">
                <a:solidFill>
                  <a:srgbClr val="E8F1EE"/>
                </a:solidFill>
                <a:latin typeface="Segoe UI" pitchFamily="34" charset="0"/>
                <a:ea typeface="Segoe UI" pitchFamily="34" charset="-122"/>
                <a:cs typeface="Segoe UI" pitchFamily="34" charset="-120"/>
              </a:rPr>
              <a:t xml:space="preserve">شغال دلوقتي على </a:t>
            </a:r>
            <a:pPr rtl="1" algn="r" indent="0" marL="0">
              <a:lnSpc>
                <a:spcPct val="108000"/>
              </a:lnSpc>
              <a:buNone/>
            </a:pPr>
            <a:r>
              <a:rPr lang="ar-EG" sz="1800" b="1" dirty="0">
                <a:solidFill>
                  <a:srgbClr val="5EDCB0"/>
                </a:solidFill>
                <a:latin typeface="Segoe UI" pitchFamily="34" charset="0"/>
                <a:ea typeface="Segoe UI" pitchFamily="34" charset="-122"/>
                <a:cs typeface="Segoe UI" pitchFamily="34" charset="-120"/>
              </a:rPr>
              <a:t>لينك ويب</a:t>
            </a:r>
            <a:pPr rtl="1" algn="r" indent="0" marL="0">
              <a:lnSpc>
                <a:spcPct val="108000"/>
              </a:lnSpc>
              <a:buNone/>
            </a:pPr>
            <a:r>
              <a:rPr lang="ar-EG" sz="1800" dirty="0">
                <a:solidFill>
                  <a:srgbClr val="E8F1EE"/>
                </a:solidFill>
                <a:latin typeface="Segoe UI" pitchFamily="34" charset="0"/>
                <a:ea typeface="Segoe UI" pitchFamily="34" charset="-122"/>
                <a:cs typeface="Segoe UI" pitchFamily="34" charset="-120"/>
              </a:rPr>
              <a:t xml:space="preserve"> — جاهز للتجربة</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NajdaAI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NajdaAI — عرض المسابقة</dc:title>
  <dc:subject>PptxGenJS Presentation</dc:subject>
  <dc:creator>NajdaAI</dc:creator>
  <cp:lastModifiedBy>NajdaAI</cp:lastModifiedBy>
  <cp:revision>1</cp:revision>
  <dcterms:created xsi:type="dcterms:W3CDTF">2026-08-20T01:29:38Z</dcterms:created>
  <dcterms:modified xsi:type="dcterms:W3CDTF">2026-08-20T01:29:38Z</dcterms:modified>
</cp:coreProperties>
</file>